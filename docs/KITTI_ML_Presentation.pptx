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rts/chart1.xml" ContentType="application/vnd.openxmlformats-officedocument.drawingml.chart+xml"/>
  <Override PartName="/ppt/notesSlides/notesSlide30.xml" ContentType="application/vnd.openxmlformats-officedocument.presentationml.notesSlide+xml"/>
  <Override PartName="/ppt/charts/chart2.xml" ContentType="application/vnd.openxmlformats-officedocument.drawingml.chart+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91" r:id="rId19"/>
    <p:sldId id="274" r:id="rId20"/>
    <p:sldId id="275" r:id="rId21"/>
    <p:sldId id="276" r:id="rId22"/>
    <p:sldId id="277" r:id="rId23"/>
    <p:sldId id="292" r:id="rId24"/>
    <p:sldId id="278" r:id="rId25"/>
    <p:sldId id="279" r:id="rId26"/>
    <p:sldId id="293" r:id="rId27"/>
    <p:sldId id="294" r:id="rId28"/>
    <p:sldId id="280" r:id="rId29"/>
    <p:sldId id="281" r:id="rId30"/>
    <p:sldId id="282" r:id="rId31"/>
    <p:sldId id="283" r:id="rId32"/>
    <p:sldId id="284" r:id="rId33"/>
    <p:sldId id="285" r:id="rId34"/>
    <p:sldId id="286" r:id="rId35"/>
    <p:sldId id="287" r:id="rId36"/>
    <p:sldId id="288" r:id="rId37"/>
    <p:sldId id="289" r:id="rId38"/>
    <p:sldId id="290" r:id="rId3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10"/>
  </p:normalViewPr>
  <p:slideViewPr>
    <p:cSldViewPr snapToGrid="0" snapToObjects="1">
      <p:cViewPr varScale="1">
        <p:scale>
          <a:sx n="79" d="100"/>
          <a:sy n="79" d="100"/>
        </p:scale>
        <p:origin x="102" y="12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800" b="0" i="0" u="none" strike="noStrike">
                <a:solidFill>
                  <a:srgbClr val="000000"/>
                </a:solidFill>
                <a:latin typeface="Arial"/>
              </a:defRPr>
            </a:pPr>
            <a:r>
              <a:rPr lang="en-ZA" sz="1800" b="0" i="0" u="none" strike="noStrike">
                <a:solidFill>
                  <a:srgbClr val="000000"/>
                </a:solidFill>
                <a:latin typeface="Arial"/>
              </a:rPr>
              <a:t>E1 vs E2 vs E3 Strategy Comparison</a:t>
            </a:r>
          </a:p>
        </c:rich>
      </c:tx>
      <c:overlay val="0"/>
    </c:title>
    <c:autoTitleDeleted val="0"/>
    <c:plotArea>
      <c:layout/>
      <c:barChart>
        <c:barDir val="col"/>
        <c:grouping val="clustered"/>
        <c:varyColors val="0"/>
        <c:ser>
          <c:idx val="0"/>
          <c:order val="0"/>
          <c:tx>
            <c:strRef>
              <c:f>Sheet1!$B$1</c:f>
              <c:strCache>
                <c:ptCount val="1"/>
                <c:pt idx="0">
                  <c:v>Accuracy (%)</c:v>
                </c:pt>
              </c:strCache>
            </c:strRef>
          </c:tx>
          <c:spPr>
            <a:solidFill>
              <a:srgbClr val="1B7A8C"/>
            </a:solidFill>
            <a:effectLst/>
          </c:spPr>
          <c:invertIfNegative val="0"/>
          <c:dLbls>
            <c:numFmt formatCode="#,##0" sourceLinked="0"/>
            <c:spPr>
              <a:noFill/>
              <a:ln>
                <a:noFill/>
              </a:ln>
              <a:effectLst/>
            </c:spPr>
            <c:txPr>
              <a:bodyPr/>
              <a:lstStyle/>
              <a:p>
                <a:pPr>
                  <a:defRPr sz="1200" b="0" i="0" u="none" strike="noStrike">
                    <a:solidFill>
                      <a:srgbClr val="1A202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E1: Frozen</c:v>
                </c:pt>
                <c:pt idx="1">
                  <c:v>E2: Partial</c:v>
                </c:pt>
                <c:pt idx="2">
                  <c:v>E3: Deeper</c:v>
                </c:pt>
              </c:strCache>
            </c:strRef>
          </c:cat>
          <c:val>
            <c:numRef>
              <c:f>Sheet1!$B$2:$B$4</c:f>
              <c:numCache>
                <c:formatCode>General</c:formatCode>
                <c:ptCount val="3"/>
                <c:pt idx="0">
                  <c:v>85.2</c:v>
                </c:pt>
                <c:pt idx="1">
                  <c:v>91.7</c:v>
                </c:pt>
                <c:pt idx="2">
                  <c:v>89.1</c:v>
                </c:pt>
              </c:numCache>
            </c:numRef>
          </c:val>
          <c:extLst>
            <c:ext xmlns:c16="http://schemas.microsoft.com/office/drawing/2014/chart" uri="{C3380CC4-5D6E-409C-BE32-E72D297353CC}">
              <c16:uniqueId val="{00000000-CEC5-4656-9BCC-542149EE2CC5}"/>
            </c:ext>
          </c:extLst>
        </c:ser>
        <c:ser>
          <c:idx val="1"/>
          <c:order val="1"/>
          <c:tx>
            <c:strRef>
              <c:f>Sheet1!$C$1</c:f>
              <c:strCache>
                <c:ptCount val="1"/>
                <c:pt idx="0">
                  <c:v>mAP (%)</c:v>
                </c:pt>
              </c:strCache>
            </c:strRef>
          </c:tx>
          <c:spPr>
            <a:solidFill>
              <a:srgbClr val="0D1B2A"/>
            </a:solidFill>
            <a:effectLst/>
          </c:spPr>
          <c:invertIfNegative val="0"/>
          <c:dLbls>
            <c:numFmt formatCode="#,##0" sourceLinked="0"/>
            <c:spPr>
              <a:noFill/>
              <a:ln>
                <a:noFill/>
              </a:ln>
              <a:effectLst/>
            </c:spPr>
            <c:txPr>
              <a:bodyPr/>
              <a:lstStyle/>
              <a:p>
                <a:pPr>
                  <a:defRPr sz="1200" b="0" i="0" u="none" strike="noStrike">
                    <a:solidFill>
                      <a:srgbClr val="1A202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E1: Frozen</c:v>
                </c:pt>
                <c:pt idx="1">
                  <c:v>E2: Partial</c:v>
                </c:pt>
                <c:pt idx="2">
                  <c:v>E3: Deeper</c:v>
                </c:pt>
              </c:strCache>
            </c:strRef>
          </c:cat>
          <c:val>
            <c:numRef>
              <c:f>Sheet1!$C$2:$C$4</c:f>
              <c:numCache>
                <c:formatCode>General</c:formatCode>
                <c:ptCount val="3"/>
                <c:pt idx="0">
                  <c:v>79.8</c:v>
                </c:pt>
                <c:pt idx="1">
                  <c:v>87.4</c:v>
                </c:pt>
                <c:pt idx="2">
                  <c:v>84.2</c:v>
                </c:pt>
              </c:numCache>
            </c:numRef>
          </c:val>
          <c:extLst>
            <c:ext xmlns:c16="http://schemas.microsoft.com/office/drawing/2014/chart" uri="{C3380CC4-5D6E-409C-BE32-E72D297353CC}">
              <c16:uniqueId val="{00000001-CEC5-4656-9BCC-542149EE2CC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Accuracy (%)</c:v>
                </c:pt>
              </c:strCache>
            </c:strRef>
          </c:tx>
          <c:spPr>
            <a:solidFill>
              <a:srgbClr val="1B7A8C"/>
            </a:solidFill>
            <a:effectLst/>
          </c:spPr>
          <c:invertIfNegative val="0"/>
          <c:dPt>
            <c:idx val="0"/>
            <c:invertIfNegative val="0"/>
            <c:bubble3D val="0"/>
            <c:extLst>
              <c:ext xmlns:c16="http://schemas.microsoft.com/office/drawing/2014/chart" uri="{C3380CC4-5D6E-409C-BE32-E72D297353CC}">
                <c16:uniqueId val="{00000001-52C1-459B-8DD4-2CFBE4311C64}"/>
              </c:ext>
            </c:extLst>
          </c:dPt>
          <c:dPt>
            <c:idx val="1"/>
            <c:invertIfNegative val="0"/>
            <c:bubble3D val="0"/>
            <c:spPr>
              <a:solidFill>
                <a:srgbClr val="4A5568"/>
              </a:solidFill>
              <a:effectLst/>
            </c:spPr>
            <c:extLst>
              <c:ext xmlns:c16="http://schemas.microsoft.com/office/drawing/2014/chart" uri="{C3380CC4-5D6E-409C-BE32-E72D297353CC}">
                <c16:uniqueId val="{00000003-52C1-459B-8DD4-2CFBE4311C64}"/>
              </c:ext>
            </c:extLst>
          </c:dPt>
          <c:dPt>
            <c:idx val="2"/>
            <c:invertIfNegative val="0"/>
            <c:bubble3D val="0"/>
            <c:spPr>
              <a:solidFill>
                <a:srgbClr val="4A5568"/>
              </a:solidFill>
              <a:effectLst/>
            </c:spPr>
            <c:extLst>
              <c:ext xmlns:c16="http://schemas.microsoft.com/office/drawing/2014/chart" uri="{C3380CC4-5D6E-409C-BE32-E72D297353CC}">
                <c16:uniqueId val="{00000005-52C1-459B-8DD4-2CFBE4311C64}"/>
              </c:ext>
            </c:extLst>
          </c:dPt>
          <c:dPt>
            <c:idx val="3"/>
            <c:invertIfNegative val="0"/>
            <c:bubble3D val="0"/>
            <c:spPr>
              <a:solidFill>
                <a:srgbClr val="4A5568"/>
              </a:solidFill>
              <a:effectLst/>
            </c:spPr>
            <c:extLst>
              <c:ext xmlns:c16="http://schemas.microsoft.com/office/drawing/2014/chart" uri="{C3380CC4-5D6E-409C-BE32-E72D297353CC}">
                <c16:uniqueId val="{00000007-52C1-459B-8DD4-2CFBE4311C64}"/>
              </c:ext>
            </c:extLst>
          </c:dPt>
          <c:dPt>
            <c:idx val="4"/>
            <c:invertIfNegative val="0"/>
            <c:bubble3D val="0"/>
            <c:spPr>
              <a:solidFill>
                <a:srgbClr val="4A5568"/>
              </a:solidFill>
              <a:effectLst/>
            </c:spPr>
            <c:extLst>
              <c:ext xmlns:c16="http://schemas.microsoft.com/office/drawing/2014/chart" uri="{C3380CC4-5D6E-409C-BE32-E72D297353CC}">
                <c16:uniqueId val="{00000009-52C1-459B-8DD4-2CFBE4311C64}"/>
              </c:ext>
            </c:extLst>
          </c:dPt>
          <c:dLbls>
            <c:numFmt formatCode="#,##0" sourceLinked="0"/>
            <c:spPr>
              <a:noFill/>
              <a:ln>
                <a:noFill/>
              </a:ln>
              <a:effectLst/>
            </c:spPr>
            <c:txPr>
              <a:bodyPr/>
              <a:lstStyle/>
              <a:p>
                <a:pPr>
                  <a:defRPr sz="1200" b="0" i="0" u="none" strike="noStrike">
                    <a:solidFill>
                      <a:srgbClr val="1A202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Full Model</c:v>
                </c:pt>
                <c:pt idx="1">
                  <c:v>No Bi-LSTM</c:v>
                </c:pt>
                <c:pt idx="2">
                  <c:v>No Temp FPN</c:v>
                </c:pt>
                <c:pt idx="3">
                  <c:v>No Visual Feats</c:v>
                </c:pt>
                <c:pt idx="4">
                  <c:v>No LiDAR Feats</c:v>
                </c:pt>
              </c:strCache>
            </c:strRef>
          </c:cat>
          <c:val>
            <c:numRef>
              <c:f>Sheet1!$B$2:$B$6</c:f>
              <c:numCache>
                <c:formatCode>General</c:formatCode>
                <c:ptCount val="5"/>
                <c:pt idx="0">
                  <c:v>91.7</c:v>
                </c:pt>
                <c:pt idx="1">
                  <c:v>85.3</c:v>
                </c:pt>
                <c:pt idx="2">
                  <c:v>83.1</c:v>
                </c:pt>
                <c:pt idx="3">
                  <c:v>79.400000000000006</c:v>
                </c:pt>
                <c:pt idx="4">
                  <c:v>88.2</c:v>
                </c:pt>
              </c:numCache>
            </c:numRef>
          </c:val>
          <c:extLst>
            <c:ext xmlns:c16="http://schemas.microsoft.com/office/drawing/2014/chart" uri="{C3380CC4-5D6E-409C-BE32-E72D297353CC}">
              <c16:uniqueId val="{0000000A-52C1-459B-8DD4-2CFBE4311C6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3752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template sample of the bounding boxes with an actual sample from the dataset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with a screenshot of the code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1A202C"/>
                </a:solidFill>
              </a:rPr>
              <a:t>• ResNet-50 FPN backbone
• Extracts 256-dimensional feature vector
• Image resized to 224×224 pixels
• Pre-trained on 1.2M ImageNet images</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1A202C"/>
                </a:solidFill>
              </a:rPr>
              <a:t>• 9 geometric </a:t>
            </a:r>
            <a:r>
              <a:rPr lang="en-US" sz="1200" dirty="0" err="1">
                <a:solidFill>
                  <a:srgbClr val="1A202C"/>
                </a:solidFill>
              </a:rPr>
              <a:t>tracklet</a:t>
            </a:r>
            <a:r>
              <a:rPr lang="en-US" sz="1200" dirty="0">
                <a:solidFill>
                  <a:srgbClr val="1A202C"/>
                </a:solidFill>
              </a:rPr>
              <a:t> coordinates
• (</a:t>
            </a:r>
            <a:r>
              <a:rPr lang="en-US" sz="1200" dirty="0" err="1">
                <a:solidFill>
                  <a:srgbClr val="1A202C"/>
                </a:solidFill>
              </a:rPr>
              <a:t>tx</a:t>
            </a:r>
            <a:r>
              <a:rPr lang="en-US" sz="1200" dirty="0">
                <a:solidFill>
                  <a:srgbClr val="1A202C"/>
                </a:solidFill>
              </a:rPr>
              <a:t>, ty, </a:t>
            </a:r>
            <a:r>
              <a:rPr lang="en-US" sz="1200" dirty="0" err="1">
                <a:solidFill>
                  <a:srgbClr val="1A202C"/>
                </a:solidFill>
              </a:rPr>
              <a:t>tz</a:t>
            </a:r>
            <a:r>
              <a:rPr lang="en-US" sz="1200" dirty="0">
                <a:solidFill>
                  <a:srgbClr val="1A202C"/>
                </a:solidFill>
              </a:rPr>
              <a:t>) — 3D position in space
• Width, height, length of object
• Rotation angle and velocity</a:t>
            </a: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D44E2-8E02-F8CC-62C9-9E2E8FB047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C4AD1E-5B18-98E9-86DC-AB583414C4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8B82AD-BEA0-FD2A-B3B3-E14E4BBA7E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7B268C-D01A-CFC2-329E-6DB871D33559}"/>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8953477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with actual </a:t>
            </a:r>
            <a:r>
              <a:rPr lang="en-US" dirty="0" err="1"/>
              <a:t>visualisation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D17A2-DFDD-F070-2618-B82C0A2435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1791B6-7053-BE23-8BB2-70173B5E5B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720D94-3530-1D74-7D75-B57E258BBB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A4B4EF-AFEB-773A-7B81-AF55D0F4B591}"/>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2041306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94B4A-66AF-CCBB-FA86-31644F53DA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526AC6-EC38-CCAA-E339-A9EF6C22FA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535B27-6723-BBB9-B488-342E25A9E3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2AACE6-F6E3-4597-2D7C-D2C5338469D8}"/>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2084278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5D7F7-DDF0-5F3F-7315-65DB0D7E38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07DE2C-E794-195F-4682-961695D4B4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CB86D5-6466-2D93-81A4-E12A92A523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1DA227-E0C7-E102-0463-B1167E45765F}"/>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4410840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ground-truth and model prediction with actual samples.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B2A"/>
          </a:solidFill>
          <a:ln w="12700">
            <a:solidFill>
              <a:srgbClr val="0D1B2A"/>
            </a:solidFill>
            <a:prstDash val="solid"/>
          </a:ln>
        </p:spPr>
        <p:txBody>
          <a:bodyPr/>
          <a:lstStyle/>
          <a:p>
            <a:endParaRPr lang="en-ZA"/>
          </a:p>
        </p:txBody>
      </p:sp>
      <p:sp>
        <p:nvSpPr>
          <p:cNvPr id="3" name="Shape 1"/>
          <p:cNvSpPr/>
          <p:nvPr/>
        </p:nvSpPr>
        <p:spPr>
          <a:xfrm>
            <a:off x="0" y="0"/>
            <a:ext cx="3200400" cy="5143500"/>
          </a:xfrm>
          <a:prstGeom prst="rect">
            <a:avLst/>
          </a:prstGeom>
          <a:solidFill>
            <a:srgbClr val="1B7A8C">
              <a:alpha val="20000"/>
            </a:srgbClr>
          </a:solidFill>
          <a:ln w="12700">
            <a:solidFill>
              <a:srgbClr val="1B7A8C">
                <a:alpha val="20000"/>
              </a:srgbClr>
            </a:solidFill>
            <a:prstDash val="solid"/>
          </a:ln>
        </p:spPr>
        <p:txBody>
          <a:bodyPr/>
          <a:lstStyle/>
          <a:p>
            <a:endParaRPr lang="en-ZA"/>
          </a:p>
        </p:txBody>
      </p:sp>
      <p:sp>
        <p:nvSpPr>
          <p:cNvPr id="4" name="Shape 2"/>
          <p:cNvSpPr/>
          <p:nvPr/>
        </p:nvSpPr>
        <p:spPr>
          <a:xfrm>
            <a:off x="0" y="4114800"/>
            <a:ext cx="9144000" cy="1028700"/>
          </a:xfrm>
          <a:prstGeom prst="rect">
            <a:avLst/>
          </a:prstGeom>
          <a:solidFill>
            <a:srgbClr val="1B7A8C"/>
          </a:solidFill>
          <a:ln w="12700">
            <a:solidFill>
              <a:srgbClr val="1B7A8C"/>
            </a:solidFill>
            <a:prstDash val="solid"/>
          </a:ln>
        </p:spPr>
        <p:txBody>
          <a:bodyPr/>
          <a:lstStyle/>
          <a:p>
            <a:endParaRPr lang="en-ZA"/>
          </a:p>
        </p:txBody>
      </p:sp>
      <p:sp>
        <p:nvSpPr>
          <p:cNvPr id="5" name="Text 3"/>
          <p:cNvSpPr/>
          <p:nvPr/>
        </p:nvSpPr>
        <p:spPr>
          <a:xfrm>
            <a:off x="548640" y="731520"/>
            <a:ext cx="7772400" cy="411480"/>
          </a:xfrm>
          <a:prstGeom prst="rect">
            <a:avLst/>
          </a:prstGeom>
          <a:noFill/>
          <a:ln/>
        </p:spPr>
        <p:txBody>
          <a:bodyPr wrap="square" lIns="0" tIns="0" rIns="0" bIns="0" rtlCol="0" anchor="ctr"/>
          <a:lstStyle/>
          <a:p>
            <a:pPr marL="0" indent="0">
              <a:buNone/>
            </a:pPr>
            <a:r>
              <a:rPr lang="en-US" sz="1600" b="1" dirty="0">
                <a:solidFill>
                  <a:srgbClr val="2EB8CF"/>
                </a:solidFill>
                <a:latin typeface="Calibri" pitchFamily="34" charset="0"/>
                <a:ea typeface="Calibri" pitchFamily="34" charset="-122"/>
                <a:cs typeface="Calibri" pitchFamily="34" charset="-120"/>
              </a:rPr>
              <a:t>Machine Learning Project</a:t>
            </a:r>
            <a:endParaRPr lang="en-US" sz="1600" dirty="0"/>
          </a:p>
        </p:txBody>
      </p:sp>
      <p:sp>
        <p:nvSpPr>
          <p:cNvPr id="6" name="Text 4"/>
          <p:cNvSpPr/>
          <p:nvPr/>
        </p:nvSpPr>
        <p:spPr>
          <a:xfrm>
            <a:off x="548640" y="1188720"/>
            <a:ext cx="7772400" cy="16459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KITTI Autonomous</a:t>
            </a:r>
            <a:endParaRPr lang="en-US" sz="4000" dirty="0"/>
          </a:p>
          <a:p>
            <a:pPr marL="0" indent="0">
              <a:buNone/>
            </a:pPr>
            <a:r>
              <a:rPr lang="en-US" sz="4000" b="1" dirty="0">
                <a:solidFill>
                  <a:srgbClr val="FFFFFF"/>
                </a:solidFill>
                <a:latin typeface="Cambria" pitchFamily="34" charset="0"/>
                <a:ea typeface="Cambria" pitchFamily="34" charset="-122"/>
                <a:cs typeface="Cambria" pitchFamily="34" charset="-120"/>
              </a:rPr>
              <a:t>Driving Detection</a:t>
            </a:r>
            <a:endParaRPr lang="en-US" sz="4000" dirty="0"/>
          </a:p>
        </p:txBody>
      </p:sp>
      <p:sp>
        <p:nvSpPr>
          <p:cNvPr id="7" name="Text 5"/>
          <p:cNvSpPr/>
          <p:nvPr/>
        </p:nvSpPr>
        <p:spPr>
          <a:xfrm>
            <a:off x="548640" y="2834640"/>
            <a:ext cx="7772400" cy="731520"/>
          </a:xfrm>
          <a:prstGeom prst="rect">
            <a:avLst/>
          </a:prstGeom>
          <a:noFill/>
          <a:ln/>
        </p:spPr>
        <p:txBody>
          <a:bodyPr wrap="square" lIns="0" tIns="0" rIns="0" bIns="0" rtlCol="0" anchor="ctr"/>
          <a:lstStyle/>
          <a:p>
            <a:pPr marL="0" indent="0">
              <a:buNone/>
            </a:pPr>
            <a:r>
              <a:rPr lang="en-US" sz="1700" dirty="0">
                <a:solidFill>
                  <a:srgbClr val="CBD5E0"/>
                </a:solidFill>
                <a:latin typeface="Calibri" pitchFamily="34" charset="0"/>
                <a:ea typeface="Calibri" pitchFamily="34" charset="-122"/>
                <a:cs typeface="Calibri" pitchFamily="34" charset="-120"/>
              </a:rPr>
              <a:t>Temporal Object Classification using Transfer Learning</a:t>
            </a:r>
            <a:endParaRPr lang="en-US" sz="1700" dirty="0"/>
          </a:p>
          <a:p>
            <a:pPr marL="0" indent="0">
              <a:buNone/>
            </a:pPr>
            <a:r>
              <a:rPr lang="en-US" sz="1700" dirty="0">
                <a:solidFill>
                  <a:srgbClr val="CBD5E0"/>
                </a:solidFill>
                <a:latin typeface="Calibri" pitchFamily="34" charset="0"/>
                <a:ea typeface="Calibri" pitchFamily="34" charset="-122"/>
                <a:cs typeface="Calibri" pitchFamily="34" charset="-120"/>
              </a:rPr>
              <a:t>and Bidirectional LSTM</a:t>
            </a:r>
            <a:endParaRPr lang="en-US" sz="1700" dirty="0"/>
          </a:p>
        </p:txBody>
      </p:sp>
      <p:sp>
        <p:nvSpPr>
          <p:cNvPr id="8" name="Text 6"/>
          <p:cNvSpPr/>
          <p:nvPr/>
        </p:nvSpPr>
        <p:spPr>
          <a:xfrm>
            <a:off x="548640" y="4206240"/>
            <a:ext cx="8229600" cy="34747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Task 2 – Advanced Machine Learning  |  Academic Presentation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1 — INTRODUCTION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Project Overview</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2 / 35</a:t>
            </a:r>
            <a:endParaRPr lang="en-US" sz="900" dirty="0"/>
          </a:p>
        </p:txBody>
      </p:sp>
      <p:sp>
        <p:nvSpPr>
          <p:cNvPr id="7" name="Shape 5"/>
          <p:cNvSpPr/>
          <p:nvPr/>
        </p:nvSpPr>
        <p:spPr>
          <a:xfrm>
            <a:off x="365760" y="1417320"/>
            <a:ext cx="2651760" cy="146304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8" name="Shape 6"/>
          <p:cNvSpPr/>
          <p:nvPr/>
        </p:nvSpPr>
        <p:spPr>
          <a:xfrm>
            <a:off x="365760" y="1417320"/>
            <a:ext cx="64008" cy="1463040"/>
          </a:xfrm>
          <a:prstGeom prst="rect">
            <a:avLst/>
          </a:prstGeom>
          <a:solidFill>
            <a:srgbClr val="1B7A8C"/>
          </a:solidFill>
          <a:ln w="12700">
            <a:solidFill>
              <a:srgbClr val="1B7A8C"/>
            </a:solidFill>
            <a:prstDash val="solid"/>
          </a:ln>
        </p:spPr>
        <p:txBody>
          <a:bodyPr/>
          <a:lstStyle/>
          <a:p>
            <a:endParaRPr lang="en-ZA"/>
          </a:p>
        </p:txBody>
      </p:sp>
      <p:sp>
        <p:nvSpPr>
          <p:cNvPr id="9" name="Text 7"/>
          <p:cNvSpPr/>
          <p:nvPr/>
        </p:nvSpPr>
        <p:spPr>
          <a:xfrm>
            <a:off x="530352" y="1490472"/>
            <a:ext cx="239572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The Problem</a:t>
            </a:r>
            <a:endParaRPr lang="en-US" sz="1200" dirty="0"/>
          </a:p>
        </p:txBody>
      </p:sp>
      <p:sp>
        <p:nvSpPr>
          <p:cNvPr id="10" name="Text 8"/>
          <p:cNvSpPr/>
          <p:nvPr/>
        </p:nvSpPr>
        <p:spPr>
          <a:xfrm>
            <a:off x="530352" y="1783080"/>
            <a:ext cx="2395728" cy="100584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Autonomous vehicles must detect and classify objects in real-time from complex, dynamic driving scenes.</a:t>
            </a:r>
            <a:endParaRPr lang="en-US" sz="1200" dirty="0"/>
          </a:p>
        </p:txBody>
      </p:sp>
      <p:sp>
        <p:nvSpPr>
          <p:cNvPr id="11" name="Shape 9"/>
          <p:cNvSpPr/>
          <p:nvPr/>
        </p:nvSpPr>
        <p:spPr>
          <a:xfrm>
            <a:off x="3246120" y="1417320"/>
            <a:ext cx="2651760" cy="146304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2" name="Shape 10"/>
          <p:cNvSpPr/>
          <p:nvPr/>
        </p:nvSpPr>
        <p:spPr>
          <a:xfrm>
            <a:off x="3246120" y="1417320"/>
            <a:ext cx="64008" cy="1463040"/>
          </a:xfrm>
          <a:prstGeom prst="rect">
            <a:avLst/>
          </a:prstGeom>
          <a:solidFill>
            <a:srgbClr val="1B7A8C"/>
          </a:solidFill>
          <a:ln w="12700">
            <a:solidFill>
              <a:srgbClr val="1B7A8C"/>
            </a:solidFill>
            <a:prstDash val="solid"/>
          </a:ln>
        </p:spPr>
        <p:txBody>
          <a:bodyPr/>
          <a:lstStyle/>
          <a:p>
            <a:endParaRPr lang="en-ZA"/>
          </a:p>
        </p:txBody>
      </p:sp>
      <p:sp>
        <p:nvSpPr>
          <p:cNvPr id="13" name="Text 11"/>
          <p:cNvSpPr/>
          <p:nvPr/>
        </p:nvSpPr>
        <p:spPr>
          <a:xfrm>
            <a:off x="3410712" y="1490472"/>
            <a:ext cx="239572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The Solution</a:t>
            </a:r>
            <a:endParaRPr lang="en-US" sz="1200" dirty="0"/>
          </a:p>
        </p:txBody>
      </p:sp>
      <p:sp>
        <p:nvSpPr>
          <p:cNvPr id="14" name="Text 12"/>
          <p:cNvSpPr/>
          <p:nvPr/>
        </p:nvSpPr>
        <p:spPr>
          <a:xfrm>
            <a:off x="3410712" y="1783080"/>
            <a:ext cx="2395728" cy="100584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A transfer learning pipeline combining Faster R-CNN visual features with Bidirectional LSTM temporal modelling.</a:t>
            </a:r>
            <a:endParaRPr lang="en-US" sz="1200" dirty="0"/>
          </a:p>
        </p:txBody>
      </p:sp>
      <p:sp>
        <p:nvSpPr>
          <p:cNvPr id="15" name="Shape 13"/>
          <p:cNvSpPr/>
          <p:nvPr/>
        </p:nvSpPr>
        <p:spPr>
          <a:xfrm>
            <a:off x="6126480" y="1417320"/>
            <a:ext cx="2651760" cy="146304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6" name="Shape 14"/>
          <p:cNvSpPr/>
          <p:nvPr/>
        </p:nvSpPr>
        <p:spPr>
          <a:xfrm>
            <a:off x="6126480" y="1417320"/>
            <a:ext cx="64008" cy="1463040"/>
          </a:xfrm>
          <a:prstGeom prst="rect">
            <a:avLst/>
          </a:prstGeom>
          <a:solidFill>
            <a:srgbClr val="1B7A8C"/>
          </a:solidFill>
          <a:ln w="12700">
            <a:solidFill>
              <a:srgbClr val="1B7A8C"/>
            </a:solidFill>
            <a:prstDash val="solid"/>
          </a:ln>
        </p:spPr>
        <p:txBody>
          <a:bodyPr/>
          <a:lstStyle/>
          <a:p>
            <a:endParaRPr lang="en-ZA"/>
          </a:p>
        </p:txBody>
      </p:sp>
      <p:sp>
        <p:nvSpPr>
          <p:cNvPr id="17" name="Text 15"/>
          <p:cNvSpPr/>
          <p:nvPr/>
        </p:nvSpPr>
        <p:spPr>
          <a:xfrm>
            <a:off x="6291072" y="1490472"/>
            <a:ext cx="239572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The Dataset</a:t>
            </a:r>
            <a:endParaRPr lang="en-US" sz="1200" dirty="0"/>
          </a:p>
        </p:txBody>
      </p:sp>
      <p:sp>
        <p:nvSpPr>
          <p:cNvPr id="18" name="Text 16"/>
          <p:cNvSpPr/>
          <p:nvPr/>
        </p:nvSpPr>
        <p:spPr>
          <a:xfrm>
            <a:off x="6291072" y="1783080"/>
            <a:ext cx="2395728" cy="100584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KITTI Vision Benchmark: real-world driving videos with labelled objects across 5 classes.</a:t>
            </a:r>
            <a:endParaRPr lang="en-US" sz="1200" dirty="0"/>
          </a:p>
        </p:txBody>
      </p:sp>
      <p:sp>
        <p:nvSpPr>
          <p:cNvPr id="19" name="Shape 17"/>
          <p:cNvSpPr/>
          <p:nvPr/>
        </p:nvSpPr>
        <p:spPr>
          <a:xfrm>
            <a:off x="365760" y="3063240"/>
            <a:ext cx="8412480" cy="155448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0" name="Shape 18"/>
          <p:cNvSpPr/>
          <p:nvPr/>
        </p:nvSpPr>
        <p:spPr>
          <a:xfrm>
            <a:off x="365760" y="3063240"/>
            <a:ext cx="64008" cy="1554480"/>
          </a:xfrm>
          <a:prstGeom prst="rect">
            <a:avLst/>
          </a:prstGeom>
          <a:solidFill>
            <a:srgbClr val="1B7A8C"/>
          </a:solidFill>
          <a:ln w="12700">
            <a:solidFill>
              <a:srgbClr val="1B7A8C"/>
            </a:solidFill>
            <a:prstDash val="solid"/>
          </a:ln>
        </p:spPr>
        <p:txBody>
          <a:bodyPr/>
          <a:lstStyle/>
          <a:p>
            <a:endParaRPr lang="en-ZA"/>
          </a:p>
        </p:txBody>
      </p:sp>
      <p:sp>
        <p:nvSpPr>
          <p:cNvPr id="21" name="Text 19"/>
          <p:cNvSpPr/>
          <p:nvPr/>
        </p:nvSpPr>
        <p:spPr>
          <a:xfrm>
            <a:off x="530352" y="3136392"/>
            <a:ext cx="815644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Why This Matters</a:t>
            </a:r>
            <a:endParaRPr lang="en-US" sz="1200" dirty="0"/>
          </a:p>
        </p:txBody>
      </p:sp>
      <p:sp>
        <p:nvSpPr>
          <p:cNvPr id="22" name="Text 20"/>
          <p:cNvSpPr/>
          <p:nvPr/>
        </p:nvSpPr>
        <p:spPr>
          <a:xfrm>
            <a:off x="530352" y="3429000"/>
            <a:ext cx="8156448" cy="109728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Autonomous driving is one of the most important real-world applications of machine learning. Reliable object detection underpins vehicle safety, route planning, and collision avoidance — directly impacting human lives.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1 — INTRODUCTION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Aim &amp; Objectives</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3 / 35</a:t>
            </a:r>
            <a:endParaRPr lang="en-US" sz="900" dirty="0"/>
          </a:p>
        </p:txBody>
      </p:sp>
      <p:sp>
        <p:nvSpPr>
          <p:cNvPr id="7" name="Text 5"/>
          <p:cNvSpPr/>
          <p:nvPr/>
        </p:nvSpPr>
        <p:spPr>
          <a:xfrm>
            <a:off x="457200" y="1371600"/>
            <a:ext cx="3931920" cy="320040"/>
          </a:xfrm>
          <a:prstGeom prst="rect">
            <a:avLst/>
          </a:prstGeom>
          <a:noFill/>
          <a:ln/>
        </p:spPr>
        <p:txBody>
          <a:bodyPr wrap="square" lIns="0" tIns="0" rIns="0" bIns="0" rtlCol="0" anchor="ctr"/>
          <a:lstStyle/>
          <a:p>
            <a:pPr marL="0" indent="0">
              <a:buNone/>
            </a:pPr>
            <a:r>
              <a:rPr lang="en-US" sz="1500" b="1" dirty="0">
                <a:solidFill>
                  <a:srgbClr val="1B7A8C"/>
                </a:solidFill>
                <a:latin typeface="Cambria" pitchFamily="34" charset="0"/>
                <a:ea typeface="Cambria" pitchFamily="34" charset="-122"/>
                <a:cs typeface="Cambria" pitchFamily="34" charset="-120"/>
              </a:rPr>
              <a:t>Primary Aim</a:t>
            </a:r>
            <a:endParaRPr lang="en-US" sz="1500" dirty="0"/>
          </a:p>
        </p:txBody>
      </p:sp>
      <p:sp>
        <p:nvSpPr>
          <p:cNvPr id="8" name="Text 6"/>
          <p:cNvSpPr/>
          <p:nvPr/>
        </p:nvSpPr>
        <p:spPr>
          <a:xfrm>
            <a:off x="457200" y="1737360"/>
            <a:ext cx="3931920" cy="914400"/>
          </a:xfrm>
          <a:prstGeom prst="rect">
            <a:avLst/>
          </a:prstGeom>
          <a:noFill/>
          <a:ln/>
        </p:spPr>
        <p:txBody>
          <a:bodyPr wrap="square" lIns="0" tIns="0" rIns="0" bIns="0" rtlCol="0" anchor="ctr"/>
          <a:lstStyle/>
          <a:p>
            <a:pPr marL="0" indent="0">
              <a:buNone/>
            </a:pPr>
            <a:r>
              <a:rPr lang="en-US" sz="1300" dirty="0">
                <a:solidFill>
                  <a:srgbClr val="4A5568"/>
                </a:solidFill>
                <a:latin typeface="Calibri" pitchFamily="34" charset="0"/>
                <a:ea typeface="Calibri" pitchFamily="34" charset="-122"/>
                <a:cs typeface="Calibri" pitchFamily="34" charset="-120"/>
              </a:rPr>
              <a:t>To build a deep learning system that accurately classifies road objects across time in real driving footage.</a:t>
            </a:r>
            <a:endParaRPr lang="en-US" sz="1300" dirty="0"/>
          </a:p>
        </p:txBody>
      </p:sp>
      <p:sp>
        <p:nvSpPr>
          <p:cNvPr id="9" name="Text 7"/>
          <p:cNvSpPr/>
          <p:nvPr/>
        </p:nvSpPr>
        <p:spPr>
          <a:xfrm>
            <a:off x="4572000" y="1371600"/>
            <a:ext cx="4114800" cy="320040"/>
          </a:xfrm>
          <a:prstGeom prst="rect">
            <a:avLst/>
          </a:prstGeom>
          <a:noFill/>
          <a:ln/>
        </p:spPr>
        <p:txBody>
          <a:bodyPr wrap="square" lIns="0" tIns="0" rIns="0" bIns="0" rtlCol="0" anchor="ctr"/>
          <a:lstStyle/>
          <a:p>
            <a:pPr marL="0" indent="0">
              <a:buNone/>
            </a:pPr>
            <a:r>
              <a:rPr lang="en-US" sz="1500" b="1" dirty="0">
                <a:solidFill>
                  <a:srgbClr val="1B7A8C"/>
                </a:solidFill>
                <a:latin typeface="Cambria" pitchFamily="34" charset="0"/>
                <a:ea typeface="Cambria" pitchFamily="34" charset="-122"/>
                <a:cs typeface="Cambria" pitchFamily="34" charset="-120"/>
              </a:rPr>
              <a:t>Key Objectives</a:t>
            </a:r>
            <a:endParaRPr lang="en-US" sz="1500" dirty="0"/>
          </a:p>
        </p:txBody>
      </p:sp>
      <p:sp>
        <p:nvSpPr>
          <p:cNvPr id="10" name="Text 8"/>
          <p:cNvSpPr/>
          <p:nvPr/>
        </p:nvSpPr>
        <p:spPr>
          <a:xfrm>
            <a:off x="4572000" y="1737360"/>
            <a:ext cx="4297680" cy="2743200"/>
          </a:xfrm>
          <a:prstGeom prst="rect">
            <a:avLst/>
          </a:prstGeom>
          <a:noFill/>
          <a:ln/>
        </p:spPr>
        <p:txBody>
          <a:bodyPr wrap="square" rtlCol="0" anchor="ctr"/>
          <a:lstStyle/>
          <a:p>
            <a:pPr marL="0" indent="0">
              <a:spcAft>
                <a:spcPts val="400"/>
              </a:spcAft>
              <a:buNone/>
            </a:pPr>
            <a:r>
              <a:rPr lang="en-US" sz="1200" dirty="0">
                <a:solidFill>
                  <a:srgbClr val="1A202C"/>
                </a:solidFill>
                <a:latin typeface="Calibri" pitchFamily="34" charset="0"/>
                <a:ea typeface="Calibri" pitchFamily="34" charset="-122"/>
                <a:cs typeface="Calibri" pitchFamily="34" charset="-120"/>
              </a:rPr>
              <a:t>1. Analyse and pre-process the KITTI driving dataset</a:t>
            </a:r>
            <a:endParaRPr lang="en-US" sz="1200" dirty="0"/>
          </a:p>
          <a:p>
            <a:pPr marL="0" indent="0">
              <a:spcAft>
                <a:spcPts val="400"/>
              </a:spcAft>
              <a:buNone/>
            </a:pPr>
            <a:r>
              <a:rPr lang="en-US" sz="1200" dirty="0">
                <a:solidFill>
                  <a:srgbClr val="1A202C"/>
                </a:solidFill>
                <a:latin typeface="Calibri" pitchFamily="34" charset="0"/>
                <a:ea typeface="Calibri" pitchFamily="34" charset="-122"/>
                <a:cs typeface="Calibri" pitchFamily="34" charset="-120"/>
              </a:rPr>
              <a:t>2. Design a custom PyTorch data pipeline</a:t>
            </a:r>
            <a:endParaRPr lang="en-US" sz="1200" dirty="0"/>
          </a:p>
          <a:p>
            <a:pPr marL="0" indent="0">
              <a:spcAft>
                <a:spcPts val="400"/>
              </a:spcAft>
              <a:buNone/>
            </a:pPr>
            <a:r>
              <a:rPr lang="en-US" sz="1200" dirty="0">
                <a:solidFill>
                  <a:srgbClr val="1A202C"/>
                </a:solidFill>
                <a:latin typeface="Calibri" pitchFamily="34" charset="0"/>
                <a:ea typeface="Calibri" pitchFamily="34" charset="-122"/>
                <a:cs typeface="Calibri" pitchFamily="34" charset="-120"/>
              </a:rPr>
              <a:t>3. Extract visual features using a pre-trained ResNet-50 backbone</a:t>
            </a:r>
            <a:endParaRPr lang="en-US" sz="1200" dirty="0"/>
          </a:p>
          <a:p>
            <a:pPr marL="0" indent="0">
              <a:spcAft>
                <a:spcPts val="400"/>
              </a:spcAft>
              <a:buNone/>
            </a:pPr>
            <a:r>
              <a:rPr lang="en-US" sz="1200" dirty="0">
                <a:solidFill>
                  <a:srgbClr val="1A202C"/>
                </a:solidFill>
                <a:latin typeface="Calibri" pitchFamily="34" charset="0"/>
                <a:ea typeface="Calibri" pitchFamily="34" charset="-122"/>
                <a:cs typeface="Calibri" pitchFamily="34" charset="-120"/>
              </a:rPr>
              <a:t>4. Implement temporal modelling with a Bidirectional LSTM</a:t>
            </a:r>
            <a:endParaRPr lang="en-US" sz="1200" dirty="0"/>
          </a:p>
          <a:p>
            <a:pPr marL="0" indent="0">
              <a:spcAft>
                <a:spcPts val="400"/>
              </a:spcAft>
              <a:buNone/>
            </a:pPr>
            <a:r>
              <a:rPr lang="en-US" sz="1200" dirty="0">
                <a:solidFill>
                  <a:srgbClr val="1A202C"/>
                </a:solidFill>
                <a:latin typeface="Calibri" pitchFamily="34" charset="0"/>
                <a:ea typeface="Calibri" pitchFamily="34" charset="-122"/>
                <a:cs typeface="Calibri" pitchFamily="34" charset="-120"/>
              </a:rPr>
              <a:t>5. Evaluate performance using IoU and mAP metrics</a:t>
            </a:r>
            <a:endParaRPr lang="en-US" sz="1200" dirty="0"/>
          </a:p>
          <a:p>
            <a:pPr marL="0" indent="0">
              <a:spcAft>
                <a:spcPts val="400"/>
              </a:spcAft>
              <a:buNone/>
            </a:pPr>
            <a:r>
              <a:rPr lang="en-US" sz="1200" dirty="0">
                <a:solidFill>
                  <a:srgbClr val="1A202C"/>
                </a:solidFill>
                <a:latin typeface="Calibri" pitchFamily="34" charset="0"/>
                <a:ea typeface="Calibri" pitchFamily="34" charset="-122"/>
                <a:cs typeface="Calibri" pitchFamily="34" charset="-120"/>
              </a:rPr>
              <a:t>6. Compare fine-tuning strategies systematically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1 — INTRODUCTION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Presentation Roadmap</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4 / 35</a:t>
            </a:r>
            <a:endParaRPr lang="en-US" sz="900" dirty="0"/>
          </a:p>
        </p:txBody>
      </p:sp>
      <p:sp>
        <p:nvSpPr>
          <p:cNvPr id="7" name="Shape 5"/>
          <p:cNvSpPr/>
          <p:nvPr/>
        </p:nvSpPr>
        <p:spPr>
          <a:xfrm>
            <a:off x="365760" y="1417320"/>
            <a:ext cx="1920240" cy="1371600"/>
          </a:xfrm>
          <a:prstGeom prst="rect">
            <a:avLst/>
          </a:prstGeom>
          <a:solidFill>
            <a:srgbClr val="1B7A8C"/>
          </a:solidFill>
          <a:ln w="12700">
            <a:solidFill>
              <a:srgbClr val="1B7A8C"/>
            </a:solidFill>
            <a:prstDash val="solid"/>
          </a:ln>
          <a:effectLst>
            <a:outerShdw blurRad="101600" dist="38100" dir="8100000" algn="bl" rotWithShape="0">
              <a:srgbClr val="000000">
                <a:alpha val="18000"/>
              </a:srgbClr>
            </a:outerShdw>
          </a:effectLst>
        </p:spPr>
        <p:txBody>
          <a:bodyPr/>
          <a:lstStyle/>
          <a:p>
            <a:endParaRPr lang="en-ZA"/>
          </a:p>
        </p:txBody>
      </p:sp>
      <p:sp>
        <p:nvSpPr>
          <p:cNvPr id="8" name="Text 6"/>
          <p:cNvSpPr/>
          <p:nvPr/>
        </p:nvSpPr>
        <p:spPr>
          <a:xfrm>
            <a:off x="365760" y="1508760"/>
            <a:ext cx="1920240" cy="457200"/>
          </a:xfrm>
          <a:prstGeom prst="rect">
            <a:avLst/>
          </a:prstGeom>
          <a:noFill/>
          <a:ln/>
        </p:spPr>
        <p:txBody>
          <a:bodyPr wrap="square" lIns="0" tIns="0" rIns="0" bIns="0" rtlCol="0" anchor="ctr"/>
          <a:lstStyle/>
          <a:p>
            <a:pPr marL="0" indent="0" algn="ctr">
              <a:buNone/>
            </a:pPr>
            <a:r>
              <a:rPr lang="en-US" sz="2800" b="1" dirty="0">
                <a:solidFill>
                  <a:srgbClr val="F6B93B"/>
                </a:solidFill>
                <a:latin typeface="Cambria" pitchFamily="34" charset="0"/>
                <a:ea typeface="Cambria" pitchFamily="34" charset="-122"/>
                <a:cs typeface="Cambria" pitchFamily="34" charset="-120"/>
              </a:rPr>
              <a:t>1</a:t>
            </a:r>
            <a:endParaRPr lang="en-US" sz="2800" dirty="0"/>
          </a:p>
        </p:txBody>
      </p:sp>
      <p:sp>
        <p:nvSpPr>
          <p:cNvPr id="9" name="Text 7"/>
          <p:cNvSpPr/>
          <p:nvPr/>
        </p:nvSpPr>
        <p:spPr>
          <a:xfrm>
            <a:off x="365760" y="1965960"/>
            <a:ext cx="192024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Introduction</a:t>
            </a:r>
            <a:endParaRPr lang="en-US" sz="1200" dirty="0"/>
          </a:p>
        </p:txBody>
      </p:sp>
      <p:sp>
        <p:nvSpPr>
          <p:cNvPr id="10" name="Text 8"/>
          <p:cNvSpPr/>
          <p:nvPr/>
        </p:nvSpPr>
        <p:spPr>
          <a:xfrm>
            <a:off x="365760" y="2377440"/>
            <a:ext cx="1920240" cy="320040"/>
          </a:xfrm>
          <a:prstGeom prst="rect">
            <a:avLst/>
          </a:prstGeom>
          <a:noFill/>
          <a:ln/>
        </p:spPr>
        <p:txBody>
          <a:bodyPr wrap="square" lIns="0" tIns="0" rIns="0" bIns="0" rtlCol="0" anchor="ctr"/>
          <a:lstStyle/>
          <a:p>
            <a:pPr marL="0" indent="0" algn="ctr">
              <a:buNone/>
            </a:pPr>
            <a:r>
              <a:rPr lang="en-US" sz="1000" dirty="0">
                <a:solidFill>
                  <a:srgbClr val="CBD5E0"/>
                </a:solidFill>
                <a:latin typeface="Calibri" pitchFamily="34" charset="0"/>
                <a:ea typeface="Calibri" pitchFamily="34" charset="-122"/>
                <a:cs typeface="Calibri" pitchFamily="34" charset="-120"/>
              </a:rPr>
              <a:t>Overview &amp; Objectives</a:t>
            </a:r>
            <a:endParaRPr lang="en-US" sz="1000" dirty="0"/>
          </a:p>
        </p:txBody>
      </p:sp>
      <p:sp>
        <p:nvSpPr>
          <p:cNvPr id="11" name="Shape 9"/>
          <p:cNvSpPr/>
          <p:nvPr/>
        </p:nvSpPr>
        <p:spPr>
          <a:xfrm>
            <a:off x="2487168" y="1417320"/>
            <a:ext cx="1920240" cy="1371600"/>
          </a:xfrm>
          <a:prstGeom prst="rect">
            <a:avLst/>
          </a:prstGeom>
          <a:solidFill>
            <a:srgbClr val="0D1B2A"/>
          </a:solidFill>
          <a:ln w="12700">
            <a:solidFill>
              <a:srgbClr val="0D1B2A"/>
            </a:solidFill>
            <a:prstDash val="solid"/>
          </a:ln>
          <a:effectLst>
            <a:outerShdw blurRad="101600" dist="38100" dir="8100000" algn="bl" rotWithShape="0">
              <a:srgbClr val="000000">
                <a:alpha val="18000"/>
              </a:srgbClr>
            </a:outerShdw>
          </a:effectLst>
        </p:spPr>
        <p:txBody>
          <a:bodyPr/>
          <a:lstStyle/>
          <a:p>
            <a:endParaRPr lang="en-ZA"/>
          </a:p>
        </p:txBody>
      </p:sp>
      <p:sp>
        <p:nvSpPr>
          <p:cNvPr id="12" name="Text 10"/>
          <p:cNvSpPr/>
          <p:nvPr/>
        </p:nvSpPr>
        <p:spPr>
          <a:xfrm>
            <a:off x="2487168" y="1508760"/>
            <a:ext cx="1920240" cy="457200"/>
          </a:xfrm>
          <a:prstGeom prst="rect">
            <a:avLst/>
          </a:prstGeom>
          <a:noFill/>
          <a:ln/>
        </p:spPr>
        <p:txBody>
          <a:bodyPr wrap="square" lIns="0" tIns="0" rIns="0" bIns="0" rtlCol="0" anchor="ctr"/>
          <a:lstStyle/>
          <a:p>
            <a:pPr marL="0" indent="0" algn="ctr">
              <a:buNone/>
            </a:pPr>
            <a:r>
              <a:rPr lang="en-US" sz="2800" b="1" dirty="0">
                <a:solidFill>
                  <a:srgbClr val="F6B93B"/>
                </a:solidFill>
                <a:latin typeface="Cambria" pitchFamily="34" charset="0"/>
                <a:ea typeface="Cambria" pitchFamily="34" charset="-122"/>
                <a:cs typeface="Cambria" pitchFamily="34" charset="-120"/>
              </a:rPr>
              <a:t>2</a:t>
            </a:r>
            <a:endParaRPr lang="en-US" sz="2800" dirty="0"/>
          </a:p>
        </p:txBody>
      </p:sp>
      <p:sp>
        <p:nvSpPr>
          <p:cNvPr id="13" name="Text 11"/>
          <p:cNvSpPr/>
          <p:nvPr/>
        </p:nvSpPr>
        <p:spPr>
          <a:xfrm>
            <a:off x="2487168" y="1965960"/>
            <a:ext cx="192024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Background</a:t>
            </a:r>
            <a:endParaRPr lang="en-US" sz="1200" dirty="0"/>
          </a:p>
        </p:txBody>
      </p:sp>
      <p:sp>
        <p:nvSpPr>
          <p:cNvPr id="14" name="Text 12"/>
          <p:cNvSpPr/>
          <p:nvPr/>
        </p:nvSpPr>
        <p:spPr>
          <a:xfrm>
            <a:off x="2487168" y="2377440"/>
            <a:ext cx="1920240" cy="320040"/>
          </a:xfrm>
          <a:prstGeom prst="rect">
            <a:avLst/>
          </a:prstGeom>
          <a:noFill/>
          <a:ln/>
        </p:spPr>
        <p:txBody>
          <a:bodyPr wrap="square" lIns="0" tIns="0" rIns="0" bIns="0" rtlCol="0" anchor="ctr"/>
          <a:lstStyle/>
          <a:p>
            <a:pPr marL="0" indent="0" algn="ctr">
              <a:buNone/>
            </a:pPr>
            <a:r>
              <a:rPr lang="en-US" sz="1000" dirty="0">
                <a:solidFill>
                  <a:srgbClr val="CBD5E0"/>
                </a:solidFill>
                <a:latin typeface="Calibri" pitchFamily="34" charset="0"/>
                <a:ea typeface="Calibri" pitchFamily="34" charset="-122"/>
                <a:cs typeface="Calibri" pitchFamily="34" charset="-120"/>
              </a:rPr>
              <a:t>Theory &amp; Concepts</a:t>
            </a:r>
            <a:endParaRPr lang="en-US" sz="1000" dirty="0"/>
          </a:p>
        </p:txBody>
      </p:sp>
      <p:sp>
        <p:nvSpPr>
          <p:cNvPr id="15" name="Shape 13"/>
          <p:cNvSpPr/>
          <p:nvPr/>
        </p:nvSpPr>
        <p:spPr>
          <a:xfrm>
            <a:off x="4608576" y="1417320"/>
            <a:ext cx="1920240" cy="1371600"/>
          </a:xfrm>
          <a:prstGeom prst="rect">
            <a:avLst/>
          </a:prstGeom>
          <a:solidFill>
            <a:srgbClr val="0D1B2A"/>
          </a:solidFill>
          <a:ln w="12700">
            <a:solidFill>
              <a:srgbClr val="0D1B2A"/>
            </a:solidFill>
            <a:prstDash val="solid"/>
          </a:ln>
          <a:effectLst>
            <a:outerShdw blurRad="101600" dist="38100" dir="8100000" algn="bl" rotWithShape="0">
              <a:srgbClr val="000000">
                <a:alpha val="18000"/>
              </a:srgbClr>
            </a:outerShdw>
          </a:effectLst>
        </p:spPr>
        <p:txBody>
          <a:bodyPr/>
          <a:lstStyle/>
          <a:p>
            <a:endParaRPr lang="en-ZA"/>
          </a:p>
        </p:txBody>
      </p:sp>
      <p:sp>
        <p:nvSpPr>
          <p:cNvPr id="16" name="Text 14"/>
          <p:cNvSpPr/>
          <p:nvPr/>
        </p:nvSpPr>
        <p:spPr>
          <a:xfrm>
            <a:off x="4608576" y="1508760"/>
            <a:ext cx="1920240" cy="457200"/>
          </a:xfrm>
          <a:prstGeom prst="rect">
            <a:avLst/>
          </a:prstGeom>
          <a:noFill/>
          <a:ln/>
        </p:spPr>
        <p:txBody>
          <a:bodyPr wrap="square" lIns="0" tIns="0" rIns="0" bIns="0" rtlCol="0" anchor="ctr"/>
          <a:lstStyle/>
          <a:p>
            <a:pPr marL="0" indent="0" algn="ctr">
              <a:buNone/>
            </a:pPr>
            <a:r>
              <a:rPr lang="en-US" sz="2800" b="1" dirty="0">
                <a:solidFill>
                  <a:srgbClr val="F6B93B"/>
                </a:solidFill>
                <a:latin typeface="Cambria" pitchFamily="34" charset="0"/>
                <a:ea typeface="Cambria" pitchFamily="34" charset="-122"/>
                <a:cs typeface="Cambria" pitchFamily="34" charset="-120"/>
              </a:rPr>
              <a:t>3</a:t>
            </a:r>
            <a:endParaRPr lang="en-US" sz="2800" dirty="0"/>
          </a:p>
        </p:txBody>
      </p:sp>
      <p:sp>
        <p:nvSpPr>
          <p:cNvPr id="17" name="Text 15"/>
          <p:cNvSpPr/>
          <p:nvPr/>
        </p:nvSpPr>
        <p:spPr>
          <a:xfrm>
            <a:off x="4608576" y="1965960"/>
            <a:ext cx="192024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Methodology</a:t>
            </a:r>
            <a:endParaRPr lang="en-US" sz="1200" dirty="0"/>
          </a:p>
        </p:txBody>
      </p:sp>
      <p:sp>
        <p:nvSpPr>
          <p:cNvPr id="18" name="Text 16"/>
          <p:cNvSpPr/>
          <p:nvPr/>
        </p:nvSpPr>
        <p:spPr>
          <a:xfrm>
            <a:off x="4608576" y="2377440"/>
            <a:ext cx="1920240" cy="320040"/>
          </a:xfrm>
          <a:prstGeom prst="rect">
            <a:avLst/>
          </a:prstGeom>
          <a:noFill/>
          <a:ln/>
        </p:spPr>
        <p:txBody>
          <a:bodyPr wrap="square" lIns="0" tIns="0" rIns="0" bIns="0" rtlCol="0" anchor="ctr"/>
          <a:lstStyle/>
          <a:p>
            <a:pPr marL="0" indent="0" algn="ctr">
              <a:buNone/>
            </a:pPr>
            <a:r>
              <a:rPr lang="en-US" sz="1000" dirty="0">
                <a:solidFill>
                  <a:srgbClr val="CBD5E0"/>
                </a:solidFill>
                <a:latin typeface="Calibri" pitchFamily="34" charset="0"/>
                <a:ea typeface="Calibri" pitchFamily="34" charset="-122"/>
                <a:cs typeface="Calibri" pitchFamily="34" charset="-120"/>
              </a:rPr>
              <a:t>Dataset &amp; Architecture</a:t>
            </a:r>
            <a:endParaRPr lang="en-US" sz="1000" dirty="0"/>
          </a:p>
        </p:txBody>
      </p:sp>
      <p:sp>
        <p:nvSpPr>
          <p:cNvPr id="19" name="Shape 17"/>
          <p:cNvSpPr/>
          <p:nvPr/>
        </p:nvSpPr>
        <p:spPr>
          <a:xfrm>
            <a:off x="6729984" y="1417320"/>
            <a:ext cx="1920240" cy="1371600"/>
          </a:xfrm>
          <a:prstGeom prst="rect">
            <a:avLst/>
          </a:prstGeom>
          <a:solidFill>
            <a:srgbClr val="0D1B2A"/>
          </a:solidFill>
          <a:ln w="12700">
            <a:solidFill>
              <a:srgbClr val="0D1B2A"/>
            </a:solidFill>
            <a:prstDash val="solid"/>
          </a:ln>
          <a:effectLst>
            <a:outerShdw blurRad="101600" dist="38100" dir="8100000" algn="bl" rotWithShape="0">
              <a:srgbClr val="000000">
                <a:alpha val="18000"/>
              </a:srgbClr>
            </a:outerShdw>
          </a:effectLst>
        </p:spPr>
        <p:txBody>
          <a:bodyPr/>
          <a:lstStyle/>
          <a:p>
            <a:endParaRPr lang="en-ZA"/>
          </a:p>
        </p:txBody>
      </p:sp>
      <p:sp>
        <p:nvSpPr>
          <p:cNvPr id="20" name="Text 18"/>
          <p:cNvSpPr/>
          <p:nvPr/>
        </p:nvSpPr>
        <p:spPr>
          <a:xfrm>
            <a:off x="6729984" y="1508760"/>
            <a:ext cx="1920240" cy="457200"/>
          </a:xfrm>
          <a:prstGeom prst="rect">
            <a:avLst/>
          </a:prstGeom>
          <a:noFill/>
          <a:ln/>
        </p:spPr>
        <p:txBody>
          <a:bodyPr wrap="square" lIns="0" tIns="0" rIns="0" bIns="0" rtlCol="0" anchor="ctr"/>
          <a:lstStyle/>
          <a:p>
            <a:pPr marL="0" indent="0" algn="ctr">
              <a:buNone/>
            </a:pPr>
            <a:r>
              <a:rPr lang="en-US" sz="2800" b="1" dirty="0">
                <a:solidFill>
                  <a:srgbClr val="F6B93B"/>
                </a:solidFill>
                <a:latin typeface="Cambria" pitchFamily="34" charset="0"/>
                <a:ea typeface="Cambria" pitchFamily="34" charset="-122"/>
                <a:cs typeface="Cambria" pitchFamily="34" charset="-120"/>
              </a:rPr>
              <a:t>4</a:t>
            </a:r>
            <a:endParaRPr lang="en-US" sz="2800" dirty="0"/>
          </a:p>
        </p:txBody>
      </p:sp>
      <p:sp>
        <p:nvSpPr>
          <p:cNvPr id="21" name="Text 19"/>
          <p:cNvSpPr/>
          <p:nvPr/>
        </p:nvSpPr>
        <p:spPr>
          <a:xfrm>
            <a:off x="6729984" y="1965960"/>
            <a:ext cx="192024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Python Implementation</a:t>
            </a:r>
            <a:endParaRPr lang="en-US" sz="1200" dirty="0"/>
          </a:p>
        </p:txBody>
      </p:sp>
      <p:sp>
        <p:nvSpPr>
          <p:cNvPr id="22" name="Text 20"/>
          <p:cNvSpPr/>
          <p:nvPr/>
        </p:nvSpPr>
        <p:spPr>
          <a:xfrm>
            <a:off x="6729984" y="2377440"/>
            <a:ext cx="1920240" cy="320040"/>
          </a:xfrm>
          <a:prstGeom prst="rect">
            <a:avLst/>
          </a:prstGeom>
          <a:noFill/>
          <a:ln/>
        </p:spPr>
        <p:txBody>
          <a:bodyPr wrap="square" lIns="0" tIns="0" rIns="0" bIns="0" rtlCol="0" anchor="ctr"/>
          <a:lstStyle/>
          <a:p>
            <a:pPr marL="0" indent="0" algn="ctr">
              <a:buNone/>
            </a:pPr>
            <a:r>
              <a:rPr lang="en-US" sz="1000" dirty="0">
                <a:solidFill>
                  <a:srgbClr val="CBD5E0"/>
                </a:solidFill>
                <a:latin typeface="Calibri" pitchFamily="34" charset="0"/>
                <a:ea typeface="Calibri" pitchFamily="34" charset="-122"/>
                <a:cs typeface="Calibri" pitchFamily="34" charset="-120"/>
              </a:rPr>
              <a:t>Code &amp; Libraries</a:t>
            </a:r>
            <a:endParaRPr lang="en-US" sz="1000" dirty="0"/>
          </a:p>
        </p:txBody>
      </p:sp>
      <p:sp>
        <p:nvSpPr>
          <p:cNvPr id="23" name="Shape 21"/>
          <p:cNvSpPr/>
          <p:nvPr/>
        </p:nvSpPr>
        <p:spPr>
          <a:xfrm>
            <a:off x="365760" y="3063240"/>
            <a:ext cx="1920240" cy="1371600"/>
          </a:xfrm>
          <a:prstGeom prst="rect">
            <a:avLst/>
          </a:prstGeom>
          <a:solidFill>
            <a:srgbClr val="0D1B2A"/>
          </a:solidFill>
          <a:ln w="12700">
            <a:solidFill>
              <a:srgbClr val="0D1B2A"/>
            </a:solidFill>
            <a:prstDash val="solid"/>
          </a:ln>
          <a:effectLst>
            <a:outerShdw blurRad="101600" dist="38100" dir="8100000" algn="bl" rotWithShape="0">
              <a:srgbClr val="000000">
                <a:alpha val="18000"/>
              </a:srgbClr>
            </a:outerShdw>
          </a:effectLst>
        </p:spPr>
        <p:txBody>
          <a:bodyPr/>
          <a:lstStyle/>
          <a:p>
            <a:endParaRPr lang="en-ZA"/>
          </a:p>
        </p:txBody>
      </p:sp>
      <p:sp>
        <p:nvSpPr>
          <p:cNvPr id="24" name="Text 22"/>
          <p:cNvSpPr/>
          <p:nvPr/>
        </p:nvSpPr>
        <p:spPr>
          <a:xfrm>
            <a:off x="365760" y="3154680"/>
            <a:ext cx="1920240" cy="457200"/>
          </a:xfrm>
          <a:prstGeom prst="rect">
            <a:avLst/>
          </a:prstGeom>
          <a:noFill/>
          <a:ln/>
        </p:spPr>
        <p:txBody>
          <a:bodyPr wrap="square" lIns="0" tIns="0" rIns="0" bIns="0" rtlCol="0" anchor="ctr"/>
          <a:lstStyle/>
          <a:p>
            <a:pPr marL="0" indent="0" algn="ctr">
              <a:buNone/>
            </a:pPr>
            <a:r>
              <a:rPr lang="en-US" sz="2800" b="1" dirty="0">
                <a:solidFill>
                  <a:srgbClr val="F6B93B"/>
                </a:solidFill>
                <a:latin typeface="Cambria" pitchFamily="34" charset="0"/>
                <a:ea typeface="Cambria" pitchFamily="34" charset="-122"/>
                <a:cs typeface="Cambria" pitchFamily="34" charset="-120"/>
              </a:rPr>
              <a:t>5</a:t>
            </a:r>
            <a:endParaRPr lang="en-US" sz="2800" dirty="0"/>
          </a:p>
        </p:txBody>
      </p:sp>
      <p:sp>
        <p:nvSpPr>
          <p:cNvPr id="25" name="Text 23"/>
          <p:cNvSpPr/>
          <p:nvPr/>
        </p:nvSpPr>
        <p:spPr>
          <a:xfrm>
            <a:off x="365760" y="3611880"/>
            <a:ext cx="192024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Results</a:t>
            </a:r>
            <a:endParaRPr lang="en-US" sz="1200" dirty="0"/>
          </a:p>
        </p:txBody>
      </p:sp>
      <p:sp>
        <p:nvSpPr>
          <p:cNvPr id="26" name="Text 24"/>
          <p:cNvSpPr/>
          <p:nvPr/>
        </p:nvSpPr>
        <p:spPr>
          <a:xfrm>
            <a:off x="365760" y="4023360"/>
            <a:ext cx="1920240" cy="320040"/>
          </a:xfrm>
          <a:prstGeom prst="rect">
            <a:avLst/>
          </a:prstGeom>
          <a:noFill/>
          <a:ln/>
        </p:spPr>
        <p:txBody>
          <a:bodyPr wrap="square" lIns="0" tIns="0" rIns="0" bIns="0" rtlCol="0" anchor="ctr"/>
          <a:lstStyle/>
          <a:p>
            <a:pPr marL="0" indent="0" algn="ctr">
              <a:buNone/>
            </a:pPr>
            <a:r>
              <a:rPr lang="en-US" sz="1000" dirty="0">
                <a:solidFill>
                  <a:srgbClr val="CBD5E0"/>
                </a:solidFill>
                <a:latin typeface="Calibri" pitchFamily="34" charset="0"/>
                <a:ea typeface="Calibri" pitchFamily="34" charset="-122"/>
                <a:cs typeface="Calibri" pitchFamily="34" charset="-120"/>
              </a:rPr>
              <a:t>Metrics &amp; Analysis</a:t>
            </a:r>
            <a:endParaRPr lang="en-US" sz="1000" dirty="0"/>
          </a:p>
        </p:txBody>
      </p:sp>
      <p:sp>
        <p:nvSpPr>
          <p:cNvPr id="27" name="Shape 25"/>
          <p:cNvSpPr/>
          <p:nvPr/>
        </p:nvSpPr>
        <p:spPr>
          <a:xfrm>
            <a:off x="2487168" y="3063240"/>
            <a:ext cx="1920240" cy="1371600"/>
          </a:xfrm>
          <a:prstGeom prst="rect">
            <a:avLst/>
          </a:prstGeom>
          <a:solidFill>
            <a:srgbClr val="0D1B2A"/>
          </a:solidFill>
          <a:ln w="12700">
            <a:solidFill>
              <a:srgbClr val="0D1B2A"/>
            </a:solidFill>
            <a:prstDash val="solid"/>
          </a:ln>
          <a:effectLst>
            <a:outerShdw blurRad="101600" dist="38100" dir="8100000" algn="bl" rotWithShape="0">
              <a:srgbClr val="000000">
                <a:alpha val="18000"/>
              </a:srgbClr>
            </a:outerShdw>
          </a:effectLst>
        </p:spPr>
        <p:txBody>
          <a:bodyPr/>
          <a:lstStyle/>
          <a:p>
            <a:endParaRPr lang="en-ZA"/>
          </a:p>
        </p:txBody>
      </p:sp>
      <p:sp>
        <p:nvSpPr>
          <p:cNvPr id="28" name="Text 26"/>
          <p:cNvSpPr/>
          <p:nvPr/>
        </p:nvSpPr>
        <p:spPr>
          <a:xfrm>
            <a:off x="2487168" y="3154680"/>
            <a:ext cx="1920240" cy="457200"/>
          </a:xfrm>
          <a:prstGeom prst="rect">
            <a:avLst/>
          </a:prstGeom>
          <a:noFill/>
          <a:ln/>
        </p:spPr>
        <p:txBody>
          <a:bodyPr wrap="square" lIns="0" tIns="0" rIns="0" bIns="0" rtlCol="0" anchor="ctr"/>
          <a:lstStyle/>
          <a:p>
            <a:pPr marL="0" indent="0" algn="ctr">
              <a:buNone/>
            </a:pPr>
            <a:r>
              <a:rPr lang="en-US" sz="2800" b="1" dirty="0">
                <a:solidFill>
                  <a:srgbClr val="F6B93B"/>
                </a:solidFill>
                <a:latin typeface="Cambria" pitchFamily="34" charset="0"/>
                <a:ea typeface="Cambria" pitchFamily="34" charset="-122"/>
                <a:cs typeface="Cambria" pitchFamily="34" charset="-120"/>
              </a:rPr>
              <a:t>6</a:t>
            </a:r>
            <a:endParaRPr lang="en-US" sz="2800" dirty="0"/>
          </a:p>
        </p:txBody>
      </p:sp>
      <p:sp>
        <p:nvSpPr>
          <p:cNvPr id="29" name="Text 27"/>
          <p:cNvSpPr/>
          <p:nvPr/>
        </p:nvSpPr>
        <p:spPr>
          <a:xfrm>
            <a:off x="2487168" y="3611880"/>
            <a:ext cx="192024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Evaluation</a:t>
            </a:r>
            <a:endParaRPr lang="en-US" sz="1200" dirty="0"/>
          </a:p>
        </p:txBody>
      </p:sp>
      <p:sp>
        <p:nvSpPr>
          <p:cNvPr id="30" name="Text 28"/>
          <p:cNvSpPr/>
          <p:nvPr/>
        </p:nvSpPr>
        <p:spPr>
          <a:xfrm>
            <a:off x="2487168" y="4023360"/>
            <a:ext cx="1920240" cy="320040"/>
          </a:xfrm>
          <a:prstGeom prst="rect">
            <a:avLst/>
          </a:prstGeom>
          <a:noFill/>
          <a:ln/>
        </p:spPr>
        <p:txBody>
          <a:bodyPr wrap="square" lIns="0" tIns="0" rIns="0" bIns="0" rtlCol="0" anchor="ctr"/>
          <a:lstStyle/>
          <a:p>
            <a:pPr marL="0" indent="0" algn="ctr">
              <a:buNone/>
            </a:pPr>
            <a:r>
              <a:rPr lang="en-US" sz="1000" dirty="0">
                <a:solidFill>
                  <a:srgbClr val="CBD5E0"/>
                </a:solidFill>
                <a:latin typeface="Calibri" pitchFamily="34" charset="0"/>
                <a:ea typeface="Calibri" pitchFamily="34" charset="-122"/>
                <a:cs typeface="Calibri" pitchFamily="34" charset="-120"/>
              </a:rPr>
              <a:t>Strengths &amp; Limits</a:t>
            </a:r>
            <a:endParaRPr lang="en-US" sz="1000" dirty="0"/>
          </a:p>
        </p:txBody>
      </p:sp>
      <p:sp>
        <p:nvSpPr>
          <p:cNvPr id="31" name="Shape 29"/>
          <p:cNvSpPr/>
          <p:nvPr/>
        </p:nvSpPr>
        <p:spPr>
          <a:xfrm>
            <a:off x="4608576" y="3063240"/>
            <a:ext cx="1920240" cy="1371600"/>
          </a:xfrm>
          <a:prstGeom prst="rect">
            <a:avLst/>
          </a:prstGeom>
          <a:solidFill>
            <a:srgbClr val="0D1B2A"/>
          </a:solidFill>
          <a:ln w="12700">
            <a:solidFill>
              <a:srgbClr val="0D1B2A"/>
            </a:solidFill>
            <a:prstDash val="solid"/>
          </a:ln>
          <a:effectLst>
            <a:outerShdw blurRad="101600" dist="38100" dir="8100000" algn="bl" rotWithShape="0">
              <a:srgbClr val="000000">
                <a:alpha val="18000"/>
              </a:srgbClr>
            </a:outerShdw>
          </a:effectLst>
        </p:spPr>
        <p:txBody>
          <a:bodyPr/>
          <a:lstStyle/>
          <a:p>
            <a:endParaRPr lang="en-ZA"/>
          </a:p>
        </p:txBody>
      </p:sp>
      <p:sp>
        <p:nvSpPr>
          <p:cNvPr id="32" name="Text 30"/>
          <p:cNvSpPr/>
          <p:nvPr/>
        </p:nvSpPr>
        <p:spPr>
          <a:xfrm>
            <a:off x="4608576" y="3154680"/>
            <a:ext cx="1920240" cy="457200"/>
          </a:xfrm>
          <a:prstGeom prst="rect">
            <a:avLst/>
          </a:prstGeom>
          <a:noFill/>
          <a:ln/>
        </p:spPr>
        <p:txBody>
          <a:bodyPr wrap="square" lIns="0" tIns="0" rIns="0" bIns="0" rtlCol="0" anchor="ctr"/>
          <a:lstStyle/>
          <a:p>
            <a:pPr marL="0" indent="0" algn="ctr">
              <a:buNone/>
            </a:pPr>
            <a:r>
              <a:rPr lang="en-US" sz="2800" b="1" dirty="0">
                <a:solidFill>
                  <a:srgbClr val="F6B93B"/>
                </a:solidFill>
                <a:latin typeface="Cambria" pitchFamily="34" charset="0"/>
                <a:ea typeface="Cambria" pitchFamily="34" charset="-122"/>
                <a:cs typeface="Cambria" pitchFamily="34" charset="-120"/>
              </a:rPr>
              <a:t>7</a:t>
            </a:r>
            <a:endParaRPr lang="en-US" sz="2800" dirty="0"/>
          </a:p>
        </p:txBody>
      </p:sp>
      <p:sp>
        <p:nvSpPr>
          <p:cNvPr id="33" name="Text 31"/>
          <p:cNvSpPr/>
          <p:nvPr/>
        </p:nvSpPr>
        <p:spPr>
          <a:xfrm>
            <a:off x="4608576" y="3611880"/>
            <a:ext cx="192024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Conclusion</a:t>
            </a:r>
            <a:endParaRPr lang="en-US" sz="1200" dirty="0"/>
          </a:p>
        </p:txBody>
      </p:sp>
      <p:sp>
        <p:nvSpPr>
          <p:cNvPr id="34" name="Text 32"/>
          <p:cNvSpPr/>
          <p:nvPr/>
        </p:nvSpPr>
        <p:spPr>
          <a:xfrm>
            <a:off x="4608576" y="4023360"/>
            <a:ext cx="1920240" cy="320040"/>
          </a:xfrm>
          <a:prstGeom prst="rect">
            <a:avLst/>
          </a:prstGeom>
          <a:noFill/>
          <a:ln/>
        </p:spPr>
        <p:txBody>
          <a:bodyPr wrap="square" lIns="0" tIns="0" rIns="0" bIns="0" rtlCol="0" anchor="ctr"/>
          <a:lstStyle/>
          <a:p>
            <a:pPr marL="0" indent="0" algn="ctr">
              <a:buNone/>
            </a:pPr>
            <a:r>
              <a:rPr lang="en-US" sz="1000" dirty="0">
                <a:solidFill>
                  <a:srgbClr val="CBD5E0"/>
                </a:solidFill>
                <a:latin typeface="Calibri" pitchFamily="34" charset="0"/>
                <a:ea typeface="Calibri" pitchFamily="34" charset="-122"/>
                <a:cs typeface="Calibri" pitchFamily="34" charset="-120"/>
              </a:rPr>
              <a:t>Findings &amp; Future Work</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2 — BACKGROUND</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Machine Learning &amp; Computer Vision</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5 / 35</a:t>
            </a:r>
            <a:endParaRPr lang="en-US" sz="900" dirty="0"/>
          </a:p>
        </p:txBody>
      </p:sp>
      <p:sp>
        <p:nvSpPr>
          <p:cNvPr id="7" name="Text 5"/>
          <p:cNvSpPr/>
          <p:nvPr/>
        </p:nvSpPr>
        <p:spPr>
          <a:xfrm>
            <a:off x="457200" y="1371600"/>
            <a:ext cx="4114800" cy="320040"/>
          </a:xfrm>
          <a:prstGeom prst="rect">
            <a:avLst/>
          </a:prstGeom>
          <a:noFill/>
          <a:ln/>
        </p:spPr>
        <p:txBody>
          <a:bodyPr wrap="square" lIns="0" tIns="0" rIns="0" bIns="0" rtlCol="0" anchor="ctr"/>
          <a:lstStyle/>
          <a:p>
            <a:pPr marL="0" indent="0">
              <a:buNone/>
            </a:pPr>
            <a:r>
              <a:rPr lang="en-US" sz="1400" b="1" dirty="0">
                <a:solidFill>
                  <a:srgbClr val="1B7A8C"/>
                </a:solidFill>
                <a:latin typeface="Cambria" pitchFamily="34" charset="0"/>
                <a:ea typeface="Cambria" pitchFamily="34" charset="-122"/>
                <a:cs typeface="Cambria" pitchFamily="34" charset="-120"/>
              </a:rPr>
              <a:t>What is Machine Learning?</a:t>
            </a:r>
            <a:endParaRPr lang="en-US" sz="1400" dirty="0"/>
          </a:p>
        </p:txBody>
      </p:sp>
      <p:sp>
        <p:nvSpPr>
          <p:cNvPr id="8" name="Text 6"/>
          <p:cNvSpPr/>
          <p:nvPr/>
        </p:nvSpPr>
        <p:spPr>
          <a:xfrm>
            <a:off x="457200" y="1737360"/>
            <a:ext cx="3931920" cy="1097280"/>
          </a:xfrm>
          <a:prstGeom prst="rect">
            <a:avLst/>
          </a:prstGeom>
          <a:noFill/>
          <a:ln/>
        </p:spPr>
        <p:txBody>
          <a:bodyPr wrap="square" lIns="0" tIns="0" rIns="0" bIns="0" rtlCol="0" anchor="ctr"/>
          <a:lstStyle/>
          <a:p>
            <a:pPr marL="0" indent="0">
              <a:buNone/>
            </a:pPr>
            <a:r>
              <a:rPr lang="en-GB" sz="1300" dirty="0">
                <a:solidFill>
                  <a:srgbClr val="4A5568"/>
                </a:solidFill>
                <a:latin typeface="Calibri" pitchFamily="34" charset="0"/>
                <a:ea typeface="Calibri" pitchFamily="34" charset="-122"/>
                <a:cs typeface="Calibri" pitchFamily="34" charset="-120"/>
              </a:rPr>
              <a:t>A computer identifies patterns in data without the need for explicit programming of rules. Rather than manually creating rules, we provide it with thousands of examples, allowing it to discern the patterns on its own.</a:t>
            </a:r>
            <a:endParaRPr lang="en-US" sz="1300" dirty="0"/>
          </a:p>
        </p:txBody>
      </p:sp>
      <p:sp>
        <p:nvSpPr>
          <p:cNvPr id="9" name="Text 7"/>
          <p:cNvSpPr/>
          <p:nvPr/>
        </p:nvSpPr>
        <p:spPr>
          <a:xfrm>
            <a:off x="457200" y="2926080"/>
            <a:ext cx="4114800" cy="320040"/>
          </a:xfrm>
          <a:prstGeom prst="rect">
            <a:avLst/>
          </a:prstGeom>
          <a:noFill/>
          <a:ln/>
        </p:spPr>
        <p:txBody>
          <a:bodyPr wrap="square" lIns="0" tIns="0" rIns="0" bIns="0" rtlCol="0" anchor="ctr"/>
          <a:lstStyle/>
          <a:p>
            <a:pPr marL="0" indent="0">
              <a:buNone/>
            </a:pPr>
            <a:r>
              <a:rPr lang="en-US" sz="1400" b="1" dirty="0">
                <a:solidFill>
                  <a:srgbClr val="1B7A8C"/>
                </a:solidFill>
                <a:latin typeface="Cambria" pitchFamily="34" charset="0"/>
                <a:ea typeface="Cambria" pitchFamily="34" charset="-122"/>
                <a:cs typeface="Cambria" pitchFamily="34" charset="-120"/>
              </a:rPr>
              <a:t>What is Computer Vision?</a:t>
            </a:r>
            <a:endParaRPr lang="en-US" sz="1400" dirty="0"/>
          </a:p>
        </p:txBody>
      </p:sp>
      <p:sp>
        <p:nvSpPr>
          <p:cNvPr id="10" name="Text 8"/>
          <p:cNvSpPr/>
          <p:nvPr/>
        </p:nvSpPr>
        <p:spPr>
          <a:xfrm>
            <a:off x="457200" y="3291840"/>
            <a:ext cx="3931920" cy="914400"/>
          </a:xfrm>
          <a:prstGeom prst="rect">
            <a:avLst/>
          </a:prstGeom>
          <a:noFill/>
          <a:ln/>
        </p:spPr>
        <p:txBody>
          <a:bodyPr wrap="square" lIns="0" tIns="0" rIns="0" bIns="0" rtlCol="0" anchor="ctr"/>
          <a:lstStyle/>
          <a:p>
            <a:pPr marL="0" indent="0">
              <a:buNone/>
            </a:pPr>
            <a:r>
              <a:rPr lang="en-GB" sz="1300" dirty="0">
                <a:solidFill>
                  <a:srgbClr val="4A5568"/>
                </a:solidFill>
                <a:latin typeface="Calibri" pitchFamily="34" charset="0"/>
                <a:ea typeface="Calibri" pitchFamily="34" charset="-122"/>
                <a:cs typeface="Calibri" pitchFamily="34" charset="-120"/>
              </a:rPr>
              <a:t>Instructing computers to "perceive" and interpret visuals, such as recognizing a car, a pedestrian, or a cyclist in an image captured from a moving car.</a:t>
            </a:r>
            <a:endParaRPr lang="en-US" sz="1300" dirty="0"/>
          </a:p>
        </p:txBody>
      </p:sp>
      <p:sp>
        <p:nvSpPr>
          <p:cNvPr id="11" name="Shape 9"/>
          <p:cNvSpPr/>
          <p:nvPr/>
        </p:nvSpPr>
        <p:spPr>
          <a:xfrm>
            <a:off x="4663440" y="2011680"/>
            <a:ext cx="914400" cy="914400"/>
          </a:xfrm>
          <a:prstGeom prst="rect">
            <a:avLst/>
          </a:prstGeom>
          <a:solidFill>
            <a:srgbClr val="CBD5E0"/>
          </a:solidFill>
          <a:ln w="12700">
            <a:solidFill>
              <a:srgbClr val="CBD5E0"/>
            </a:solidFill>
            <a:prstDash val="solid"/>
          </a:ln>
        </p:spPr>
        <p:txBody>
          <a:bodyPr/>
          <a:lstStyle/>
          <a:p>
            <a:endParaRPr lang="en-ZA"/>
          </a:p>
        </p:txBody>
      </p:sp>
      <p:sp>
        <p:nvSpPr>
          <p:cNvPr id="12" name="Text 10"/>
          <p:cNvSpPr/>
          <p:nvPr/>
        </p:nvSpPr>
        <p:spPr>
          <a:xfrm>
            <a:off x="4663440" y="2011680"/>
            <a:ext cx="914400" cy="914400"/>
          </a:xfrm>
          <a:prstGeom prst="rect">
            <a:avLst/>
          </a:prstGeom>
          <a:noFill/>
          <a:ln/>
        </p:spPr>
        <p:txBody>
          <a:bodyPr wrap="square" lIns="0" tIns="0" rIns="0" bIns="0" rtlCol="0" anchor="ctr"/>
          <a:lstStyle/>
          <a:p>
            <a:pPr marL="0" indent="0" algn="ctr">
              <a:buNone/>
            </a:pPr>
            <a:r>
              <a:rPr lang="en-US" sz="900" b="1" dirty="0">
                <a:solidFill>
                  <a:srgbClr val="FFFFFF"/>
                </a:solidFill>
              </a:rPr>
              <a:t>Raw Image</a:t>
            </a:r>
            <a:endParaRPr lang="en-US" sz="900" dirty="0"/>
          </a:p>
        </p:txBody>
      </p:sp>
      <p:sp>
        <p:nvSpPr>
          <p:cNvPr id="13" name="Text 11"/>
          <p:cNvSpPr/>
          <p:nvPr/>
        </p:nvSpPr>
        <p:spPr>
          <a:xfrm>
            <a:off x="5577840" y="2286000"/>
            <a:ext cx="201168" cy="365760"/>
          </a:xfrm>
          <a:prstGeom prst="rect">
            <a:avLst/>
          </a:prstGeom>
          <a:noFill/>
          <a:ln/>
        </p:spPr>
        <p:txBody>
          <a:bodyPr wrap="square" lIns="0" tIns="0" rIns="0" bIns="0" rtlCol="0" anchor="ctr"/>
          <a:lstStyle/>
          <a:p>
            <a:pPr marL="0" indent="0" algn="ctr">
              <a:buNone/>
            </a:pPr>
            <a:r>
              <a:rPr lang="en-US" sz="1800" dirty="0">
                <a:solidFill>
                  <a:srgbClr val="1B7A8C"/>
                </a:solidFill>
              </a:rPr>
              <a:t>→</a:t>
            </a:r>
            <a:endParaRPr lang="en-US" sz="1800" dirty="0"/>
          </a:p>
        </p:txBody>
      </p:sp>
      <p:sp>
        <p:nvSpPr>
          <p:cNvPr id="14" name="Shape 12"/>
          <p:cNvSpPr/>
          <p:nvPr/>
        </p:nvSpPr>
        <p:spPr>
          <a:xfrm>
            <a:off x="5779008" y="2011680"/>
            <a:ext cx="914400" cy="914400"/>
          </a:xfrm>
          <a:prstGeom prst="rect">
            <a:avLst/>
          </a:prstGeom>
          <a:solidFill>
            <a:srgbClr val="1B7A8C"/>
          </a:solidFill>
          <a:ln w="12700">
            <a:solidFill>
              <a:srgbClr val="1B7A8C"/>
            </a:solidFill>
            <a:prstDash val="solid"/>
          </a:ln>
        </p:spPr>
        <p:txBody>
          <a:bodyPr/>
          <a:lstStyle/>
          <a:p>
            <a:endParaRPr lang="en-ZA"/>
          </a:p>
        </p:txBody>
      </p:sp>
      <p:sp>
        <p:nvSpPr>
          <p:cNvPr id="15" name="Text 13"/>
          <p:cNvSpPr/>
          <p:nvPr/>
        </p:nvSpPr>
        <p:spPr>
          <a:xfrm>
            <a:off x="5779008" y="2011680"/>
            <a:ext cx="914400" cy="914400"/>
          </a:xfrm>
          <a:prstGeom prst="rect">
            <a:avLst/>
          </a:prstGeom>
          <a:noFill/>
          <a:ln/>
        </p:spPr>
        <p:txBody>
          <a:bodyPr wrap="square" lIns="0" tIns="0" rIns="0" bIns="0" rtlCol="0" anchor="ctr"/>
          <a:lstStyle/>
          <a:p>
            <a:pPr marL="0" indent="0" algn="ctr">
              <a:buNone/>
            </a:pPr>
            <a:r>
              <a:rPr lang="en-US" sz="900" b="1" dirty="0">
                <a:solidFill>
                  <a:srgbClr val="FFFFFF"/>
                </a:solidFill>
              </a:rPr>
              <a:t>Feature Extraction</a:t>
            </a:r>
            <a:endParaRPr lang="en-US" sz="900" dirty="0"/>
          </a:p>
        </p:txBody>
      </p:sp>
      <p:sp>
        <p:nvSpPr>
          <p:cNvPr id="16" name="Text 14"/>
          <p:cNvSpPr/>
          <p:nvPr/>
        </p:nvSpPr>
        <p:spPr>
          <a:xfrm>
            <a:off x="6693408" y="2286000"/>
            <a:ext cx="201168" cy="365760"/>
          </a:xfrm>
          <a:prstGeom prst="rect">
            <a:avLst/>
          </a:prstGeom>
          <a:noFill/>
          <a:ln/>
        </p:spPr>
        <p:txBody>
          <a:bodyPr wrap="square" lIns="0" tIns="0" rIns="0" bIns="0" rtlCol="0" anchor="ctr"/>
          <a:lstStyle/>
          <a:p>
            <a:pPr marL="0" indent="0" algn="ctr">
              <a:buNone/>
            </a:pPr>
            <a:r>
              <a:rPr lang="en-US" sz="1800" dirty="0">
                <a:solidFill>
                  <a:srgbClr val="1B7A8C"/>
                </a:solidFill>
              </a:rPr>
              <a:t>→</a:t>
            </a:r>
            <a:endParaRPr lang="en-US" sz="1800" dirty="0"/>
          </a:p>
        </p:txBody>
      </p:sp>
      <p:sp>
        <p:nvSpPr>
          <p:cNvPr id="17" name="Shape 15"/>
          <p:cNvSpPr/>
          <p:nvPr/>
        </p:nvSpPr>
        <p:spPr>
          <a:xfrm>
            <a:off x="6894576" y="2011680"/>
            <a:ext cx="914400" cy="914400"/>
          </a:xfrm>
          <a:prstGeom prst="rect">
            <a:avLst/>
          </a:prstGeom>
          <a:solidFill>
            <a:srgbClr val="1B7A8C"/>
          </a:solidFill>
          <a:ln w="12700">
            <a:solidFill>
              <a:srgbClr val="1B7A8C"/>
            </a:solidFill>
            <a:prstDash val="solid"/>
          </a:ln>
        </p:spPr>
        <p:txBody>
          <a:bodyPr/>
          <a:lstStyle/>
          <a:p>
            <a:endParaRPr lang="en-ZA"/>
          </a:p>
        </p:txBody>
      </p:sp>
      <p:sp>
        <p:nvSpPr>
          <p:cNvPr id="18" name="Text 16"/>
          <p:cNvSpPr/>
          <p:nvPr/>
        </p:nvSpPr>
        <p:spPr>
          <a:xfrm>
            <a:off x="6894576" y="2011680"/>
            <a:ext cx="914400" cy="914400"/>
          </a:xfrm>
          <a:prstGeom prst="rect">
            <a:avLst/>
          </a:prstGeom>
          <a:noFill/>
          <a:ln/>
        </p:spPr>
        <p:txBody>
          <a:bodyPr wrap="square" lIns="0" tIns="0" rIns="0" bIns="0" rtlCol="0" anchor="ctr"/>
          <a:lstStyle/>
          <a:p>
            <a:pPr marL="0" indent="0" algn="ctr">
              <a:buNone/>
            </a:pPr>
            <a:r>
              <a:rPr lang="en-US" sz="900" b="1" dirty="0">
                <a:solidFill>
                  <a:srgbClr val="FFFFFF"/>
                </a:solidFill>
              </a:rPr>
              <a:t>Classification</a:t>
            </a:r>
            <a:endParaRPr lang="en-US" sz="900" dirty="0"/>
          </a:p>
        </p:txBody>
      </p:sp>
      <p:sp>
        <p:nvSpPr>
          <p:cNvPr id="19" name="Text 17"/>
          <p:cNvSpPr/>
          <p:nvPr/>
        </p:nvSpPr>
        <p:spPr>
          <a:xfrm>
            <a:off x="7808976" y="2286000"/>
            <a:ext cx="201168" cy="365760"/>
          </a:xfrm>
          <a:prstGeom prst="rect">
            <a:avLst/>
          </a:prstGeom>
          <a:noFill/>
          <a:ln/>
        </p:spPr>
        <p:txBody>
          <a:bodyPr wrap="square" lIns="0" tIns="0" rIns="0" bIns="0" rtlCol="0" anchor="ctr"/>
          <a:lstStyle/>
          <a:p>
            <a:pPr marL="0" indent="0" algn="ctr">
              <a:buNone/>
            </a:pPr>
            <a:r>
              <a:rPr lang="en-US" sz="1800" dirty="0">
                <a:solidFill>
                  <a:srgbClr val="1B7A8C"/>
                </a:solidFill>
              </a:rPr>
              <a:t>→</a:t>
            </a:r>
            <a:endParaRPr lang="en-US" sz="1800" dirty="0"/>
          </a:p>
        </p:txBody>
      </p:sp>
      <p:sp>
        <p:nvSpPr>
          <p:cNvPr id="20" name="Shape 18"/>
          <p:cNvSpPr/>
          <p:nvPr/>
        </p:nvSpPr>
        <p:spPr>
          <a:xfrm>
            <a:off x="8010144" y="2011680"/>
            <a:ext cx="914400" cy="914400"/>
          </a:xfrm>
          <a:prstGeom prst="rect">
            <a:avLst/>
          </a:prstGeom>
          <a:solidFill>
            <a:srgbClr val="27AE60"/>
          </a:solidFill>
          <a:ln w="12700">
            <a:solidFill>
              <a:srgbClr val="27AE60"/>
            </a:solidFill>
            <a:prstDash val="solid"/>
          </a:ln>
        </p:spPr>
        <p:txBody>
          <a:bodyPr/>
          <a:lstStyle/>
          <a:p>
            <a:endParaRPr lang="en-ZA"/>
          </a:p>
        </p:txBody>
      </p:sp>
      <p:sp>
        <p:nvSpPr>
          <p:cNvPr id="21" name="Text 19"/>
          <p:cNvSpPr/>
          <p:nvPr/>
        </p:nvSpPr>
        <p:spPr>
          <a:xfrm>
            <a:off x="8010144" y="2011680"/>
            <a:ext cx="914400" cy="914400"/>
          </a:xfrm>
          <a:prstGeom prst="rect">
            <a:avLst/>
          </a:prstGeom>
          <a:noFill/>
          <a:ln/>
        </p:spPr>
        <p:txBody>
          <a:bodyPr wrap="square" lIns="0" tIns="0" rIns="0" bIns="0" rtlCol="0" anchor="ctr"/>
          <a:lstStyle/>
          <a:p>
            <a:pPr marL="0" indent="0" algn="ctr">
              <a:buNone/>
            </a:pPr>
            <a:r>
              <a:rPr lang="en-US" sz="900" b="1" dirty="0">
                <a:solidFill>
                  <a:srgbClr val="FFFFFF"/>
                </a:solidFill>
              </a:rPr>
              <a:t>Output Label</a:t>
            </a:r>
            <a:endParaRPr lang="en-US" sz="900" dirty="0"/>
          </a:p>
        </p:txBody>
      </p:sp>
      <p:sp>
        <p:nvSpPr>
          <p:cNvPr id="22" name="Text 20"/>
          <p:cNvSpPr/>
          <p:nvPr/>
        </p:nvSpPr>
        <p:spPr>
          <a:xfrm>
            <a:off x="4572000" y="3063240"/>
            <a:ext cx="4389120" cy="274320"/>
          </a:xfrm>
          <a:prstGeom prst="rect">
            <a:avLst/>
          </a:prstGeom>
          <a:noFill/>
          <a:ln/>
        </p:spPr>
        <p:txBody>
          <a:bodyPr wrap="square" lIns="0" tIns="0" rIns="0" bIns="0" rtlCol="0" anchor="ctr"/>
          <a:lstStyle/>
          <a:p>
            <a:pPr marL="0" indent="0" algn="ctr">
              <a:buNone/>
            </a:pPr>
            <a:r>
              <a:rPr lang="en-US" sz="1000" i="1" dirty="0">
                <a:solidFill>
                  <a:srgbClr val="4A5568"/>
                </a:solidFill>
              </a:rPr>
              <a:t>Simplified ML Pipeline for Image Classification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2 — BACKGROUND</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Why Transfer Learning?</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6 / 35</a:t>
            </a:r>
            <a:endParaRPr lang="en-US" sz="900" dirty="0"/>
          </a:p>
        </p:txBody>
      </p:sp>
      <p:sp>
        <p:nvSpPr>
          <p:cNvPr id="7" name="Text 5"/>
          <p:cNvSpPr/>
          <p:nvPr/>
        </p:nvSpPr>
        <p:spPr>
          <a:xfrm>
            <a:off x="457200" y="1371600"/>
            <a:ext cx="8229600" cy="64008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Transfer learning means taking a model already trained on millions of images and adapting it to our specific task.</a:t>
            </a:r>
            <a:endParaRPr lang="en-US" sz="1400" dirty="0"/>
          </a:p>
        </p:txBody>
      </p:sp>
      <p:sp>
        <p:nvSpPr>
          <p:cNvPr id="8" name="Shape 6"/>
          <p:cNvSpPr/>
          <p:nvPr/>
        </p:nvSpPr>
        <p:spPr>
          <a:xfrm>
            <a:off x="365760" y="2148840"/>
            <a:ext cx="4114800" cy="118872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9" name="Shape 7"/>
          <p:cNvSpPr/>
          <p:nvPr/>
        </p:nvSpPr>
        <p:spPr>
          <a:xfrm>
            <a:off x="365760" y="2148840"/>
            <a:ext cx="64008" cy="1188720"/>
          </a:xfrm>
          <a:prstGeom prst="rect">
            <a:avLst/>
          </a:prstGeom>
          <a:solidFill>
            <a:srgbClr val="1B7A8C"/>
          </a:solidFill>
          <a:ln w="12700">
            <a:solidFill>
              <a:srgbClr val="1B7A8C"/>
            </a:solidFill>
            <a:prstDash val="solid"/>
          </a:ln>
        </p:spPr>
        <p:txBody>
          <a:bodyPr/>
          <a:lstStyle/>
          <a:p>
            <a:endParaRPr lang="en-ZA"/>
          </a:p>
        </p:txBody>
      </p:sp>
      <p:sp>
        <p:nvSpPr>
          <p:cNvPr id="10" name="Text 8"/>
          <p:cNvSpPr/>
          <p:nvPr/>
        </p:nvSpPr>
        <p:spPr>
          <a:xfrm>
            <a:off x="530352" y="2221992"/>
            <a:ext cx="385876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Proven Knowledge</a:t>
            </a:r>
            <a:endParaRPr lang="en-US" sz="1200" dirty="0"/>
          </a:p>
        </p:txBody>
      </p:sp>
      <p:sp>
        <p:nvSpPr>
          <p:cNvPr id="11" name="Text 9"/>
          <p:cNvSpPr/>
          <p:nvPr/>
        </p:nvSpPr>
        <p:spPr>
          <a:xfrm>
            <a:off x="530352" y="2514600"/>
            <a:ext cx="3858768" cy="73152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ResNet-50 already "knows" shapes, edges, textures from ImageNet. We don't start from scratch.</a:t>
            </a:r>
            <a:endParaRPr lang="en-US" sz="1200" dirty="0"/>
          </a:p>
        </p:txBody>
      </p:sp>
      <p:sp>
        <p:nvSpPr>
          <p:cNvPr id="12" name="Shape 10"/>
          <p:cNvSpPr/>
          <p:nvPr/>
        </p:nvSpPr>
        <p:spPr>
          <a:xfrm>
            <a:off x="4754880" y="2148840"/>
            <a:ext cx="4114800" cy="118872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3" name="Shape 11"/>
          <p:cNvSpPr/>
          <p:nvPr/>
        </p:nvSpPr>
        <p:spPr>
          <a:xfrm>
            <a:off x="4754880" y="2148840"/>
            <a:ext cx="64008" cy="1188720"/>
          </a:xfrm>
          <a:prstGeom prst="rect">
            <a:avLst/>
          </a:prstGeom>
          <a:solidFill>
            <a:srgbClr val="0D1B2A"/>
          </a:solidFill>
          <a:ln w="12700">
            <a:solidFill>
              <a:srgbClr val="0D1B2A"/>
            </a:solidFill>
            <a:prstDash val="solid"/>
          </a:ln>
        </p:spPr>
        <p:txBody>
          <a:bodyPr/>
          <a:lstStyle/>
          <a:p>
            <a:endParaRPr lang="en-ZA"/>
          </a:p>
        </p:txBody>
      </p:sp>
      <p:sp>
        <p:nvSpPr>
          <p:cNvPr id="14" name="Text 12"/>
          <p:cNvSpPr/>
          <p:nvPr/>
        </p:nvSpPr>
        <p:spPr>
          <a:xfrm>
            <a:off x="4919472" y="2221992"/>
            <a:ext cx="3858768" cy="292608"/>
          </a:xfrm>
          <a:prstGeom prst="rect">
            <a:avLst/>
          </a:prstGeom>
          <a:noFill/>
          <a:ln/>
        </p:spPr>
        <p:txBody>
          <a:bodyPr wrap="square" lIns="0" tIns="0" rIns="0" bIns="0"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Less Data Needed</a:t>
            </a:r>
            <a:endParaRPr lang="en-US" sz="1200" dirty="0"/>
          </a:p>
        </p:txBody>
      </p:sp>
      <p:sp>
        <p:nvSpPr>
          <p:cNvPr id="15" name="Text 13"/>
          <p:cNvSpPr/>
          <p:nvPr/>
        </p:nvSpPr>
        <p:spPr>
          <a:xfrm>
            <a:off x="4919472" y="2514600"/>
            <a:ext cx="3858768" cy="73152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KITTI is smaller than ImageNet. Transfer learning compensates for limited training data.</a:t>
            </a:r>
            <a:endParaRPr lang="en-US" sz="1200" dirty="0"/>
          </a:p>
        </p:txBody>
      </p:sp>
      <p:sp>
        <p:nvSpPr>
          <p:cNvPr id="16" name="Shape 14"/>
          <p:cNvSpPr/>
          <p:nvPr/>
        </p:nvSpPr>
        <p:spPr>
          <a:xfrm>
            <a:off x="365760" y="3474720"/>
            <a:ext cx="4114800" cy="118872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7" name="Shape 15"/>
          <p:cNvSpPr/>
          <p:nvPr/>
        </p:nvSpPr>
        <p:spPr>
          <a:xfrm>
            <a:off x="365760" y="3474720"/>
            <a:ext cx="64008" cy="1188720"/>
          </a:xfrm>
          <a:prstGeom prst="rect">
            <a:avLst/>
          </a:prstGeom>
          <a:solidFill>
            <a:srgbClr val="F6B93B"/>
          </a:solidFill>
          <a:ln w="12700">
            <a:solidFill>
              <a:srgbClr val="F6B93B"/>
            </a:solidFill>
            <a:prstDash val="solid"/>
          </a:ln>
        </p:spPr>
        <p:txBody>
          <a:bodyPr/>
          <a:lstStyle/>
          <a:p>
            <a:endParaRPr lang="en-ZA"/>
          </a:p>
        </p:txBody>
      </p:sp>
      <p:sp>
        <p:nvSpPr>
          <p:cNvPr id="18" name="Text 16"/>
          <p:cNvSpPr/>
          <p:nvPr/>
        </p:nvSpPr>
        <p:spPr>
          <a:xfrm>
            <a:off x="530352" y="3547872"/>
            <a:ext cx="3858768" cy="292608"/>
          </a:xfrm>
          <a:prstGeom prst="rect">
            <a:avLst/>
          </a:prstGeom>
          <a:noFill/>
          <a:ln/>
        </p:spPr>
        <p:txBody>
          <a:bodyPr wrap="square" lIns="0" tIns="0" rIns="0" bIns="0" rtlCol="0" anchor="ctr"/>
          <a:lstStyle/>
          <a:p>
            <a:pPr marL="0" indent="0">
              <a:buNone/>
            </a:pPr>
            <a:r>
              <a:rPr lang="en-US" sz="1200" b="1" dirty="0">
                <a:solidFill>
                  <a:srgbClr val="F6B93B"/>
                </a:solidFill>
                <a:latin typeface="Cambria" pitchFamily="34" charset="0"/>
                <a:ea typeface="Cambria" pitchFamily="34" charset="-122"/>
                <a:cs typeface="Cambria" pitchFamily="34" charset="-120"/>
              </a:rPr>
              <a:t>Faster Training</a:t>
            </a:r>
            <a:endParaRPr lang="en-US" sz="1200" dirty="0"/>
          </a:p>
        </p:txBody>
      </p:sp>
      <p:sp>
        <p:nvSpPr>
          <p:cNvPr id="19" name="Text 17"/>
          <p:cNvSpPr/>
          <p:nvPr/>
        </p:nvSpPr>
        <p:spPr>
          <a:xfrm>
            <a:off x="530352" y="3840480"/>
            <a:ext cx="3858768" cy="73152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Adapting an existing model takes hours vs. days for training from scratch.</a:t>
            </a:r>
            <a:endParaRPr lang="en-US" sz="1200" dirty="0"/>
          </a:p>
        </p:txBody>
      </p:sp>
      <p:sp>
        <p:nvSpPr>
          <p:cNvPr id="20" name="Shape 18"/>
          <p:cNvSpPr/>
          <p:nvPr/>
        </p:nvSpPr>
        <p:spPr>
          <a:xfrm>
            <a:off x="4754880" y="3474720"/>
            <a:ext cx="4114800" cy="118872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1" name="Shape 19"/>
          <p:cNvSpPr/>
          <p:nvPr/>
        </p:nvSpPr>
        <p:spPr>
          <a:xfrm>
            <a:off x="4754880" y="3474720"/>
            <a:ext cx="64008" cy="1188720"/>
          </a:xfrm>
          <a:prstGeom prst="rect">
            <a:avLst/>
          </a:prstGeom>
          <a:solidFill>
            <a:srgbClr val="27AE60"/>
          </a:solidFill>
          <a:ln w="12700">
            <a:solidFill>
              <a:srgbClr val="27AE60"/>
            </a:solidFill>
            <a:prstDash val="solid"/>
          </a:ln>
        </p:spPr>
        <p:txBody>
          <a:bodyPr/>
          <a:lstStyle/>
          <a:p>
            <a:endParaRPr lang="en-ZA"/>
          </a:p>
        </p:txBody>
      </p:sp>
      <p:sp>
        <p:nvSpPr>
          <p:cNvPr id="22" name="Text 20"/>
          <p:cNvSpPr/>
          <p:nvPr/>
        </p:nvSpPr>
        <p:spPr>
          <a:xfrm>
            <a:off x="4919472" y="3547872"/>
            <a:ext cx="3858768" cy="292608"/>
          </a:xfrm>
          <a:prstGeom prst="rect">
            <a:avLst/>
          </a:prstGeom>
          <a:noFill/>
          <a:ln/>
        </p:spPr>
        <p:txBody>
          <a:bodyPr wrap="square" lIns="0" tIns="0" rIns="0" bIns="0" rtlCol="0" anchor="ctr"/>
          <a:lstStyle/>
          <a:p>
            <a:pPr marL="0" indent="0">
              <a:buNone/>
            </a:pPr>
            <a:r>
              <a:rPr lang="en-US" sz="1200" b="1" dirty="0">
                <a:solidFill>
                  <a:srgbClr val="27AE60"/>
                </a:solidFill>
                <a:latin typeface="Cambria" pitchFamily="34" charset="0"/>
                <a:ea typeface="Cambria" pitchFamily="34" charset="-122"/>
                <a:cs typeface="Cambria" pitchFamily="34" charset="-120"/>
              </a:rPr>
              <a:t>Better Accuracy</a:t>
            </a:r>
            <a:endParaRPr lang="en-US" sz="1200" dirty="0"/>
          </a:p>
        </p:txBody>
      </p:sp>
      <p:sp>
        <p:nvSpPr>
          <p:cNvPr id="23" name="Text 21"/>
          <p:cNvSpPr/>
          <p:nvPr/>
        </p:nvSpPr>
        <p:spPr>
          <a:xfrm>
            <a:off x="4919472" y="3840480"/>
            <a:ext cx="3858768" cy="73152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Pre-trained features consistently outperform randomly initialised networks on domain-specific tasks.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2 — BACKGROUND</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Temporal Modelling &amp; Understanding Sequences</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7 / 35</a:t>
            </a:r>
            <a:endParaRPr lang="en-US" sz="900" dirty="0"/>
          </a:p>
        </p:txBody>
      </p:sp>
      <p:sp>
        <p:nvSpPr>
          <p:cNvPr id="7" name="Text 5"/>
          <p:cNvSpPr/>
          <p:nvPr/>
        </p:nvSpPr>
        <p:spPr>
          <a:xfrm>
            <a:off x="457200" y="1371600"/>
            <a:ext cx="8229600" cy="50292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Objects move through time. A single frame doesn't tell the whole story, however a sequence of frames does.</a:t>
            </a:r>
            <a:endParaRPr lang="en-US" sz="1400" dirty="0"/>
          </a:p>
        </p:txBody>
      </p:sp>
      <p:sp>
        <p:nvSpPr>
          <p:cNvPr id="8" name="Shape 6"/>
          <p:cNvSpPr/>
          <p:nvPr/>
        </p:nvSpPr>
        <p:spPr>
          <a:xfrm>
            <a:off x="457200" y="2011680"/>
            <a:ext cx="1645920" cy="1005840"/>
          </a:xfrm>
          <a:prstGeom prst="rect">
            <a:avLst/>
          </a:prstGeom>
          <a:solidFill>
            <a:srgbClr val="0D1B2A"/>
          </a:solidFill>
          <a:ln w="12700">
            <a:solidFill>
              <a:srgbClr val="0D1B2A"/>
            </a:solidFill>
            <a:prstDash val="solid"/>
          </a:ln>
        </p:spPr>
        <p:txBody>
          <a:bodyPr/>
          <a:lstStyle/>
          <a:p>
            <a:endParaRPr lang="en-ZA" dirty="0"/>
          </a:p>
        </p:txBody>
      </p:sp>
      <p:sp>
        <p:nvSpPr>
          <p:cNvPr id="9" name="Text 7"/>
          <p:cNvSpPr/>
          <p:nvPr/>
        </p:nvSpPr>
        <p:spPr>
          <a:xfrm>
            <a:off x="457200" y="2011680"/>
            <a:ext cx="1645920" cy="1005840"/>
          </a:xfrm>
          <a:prstGeom prst="rect">
            <a:avLst/>
          </a:prstGeom>
          <a:noFill/>
          <a:ln/>
        </p:spPr>
        <p:txBody>
          <a:bodyPr wrap="square" lIns="0" tIns="0" rIns="0" bIns="0" rtlCol="0" anchor="ctr"/>
          <a:lstStyle/>
          <a:p>
            <a:pPr marL="0" indent="0" algn="ctr">
              <a:buNone/>
            </a:pPr>
            <a:endParaRPr lang="en-US" sz="1300" dirty="0"/>
          </a:p>
        </p:txBody>
      </p:sp>
      <p:sp>
        <p:nvSpPr>
          <p:cNvPr id="10" name="Text 8"/>
          <p:cNvSpPr/>
          <p:nvPr/>
        </p:nvSpPr>
        <p:spPr>
          <a:xfrm>
            <a:off x="2103120" y="2286000"/>
            <a:ext cx="365760" cy="457200"/>
          </a:xfrm>
          <a:prstGeom prst="rect">
            <a:avLst/>
          </a:prstGeom>
          <a:noFill/>
          <a:ln/>
        </p:spPr>
        <p:txBody>
          <a:bodyPr wrap="square" lIns="0" tIns="0" rIns="0" bIns="0" rtlCol="0" anchor="ctr"/>
          <a:lstStyle/>
          <a:p>
            <a:pPr marL="0" indent="0" algn="ctr">
              <a:buNone/>
            </a:pPr>
            <a:r>
              <a:rPr lang="en-US" sz="2000" dirty="0">
                <a:solidFill>
                  <a:srgbClr val="1B7A8C"/>
                </a:solidFill>
              </a:rPr>
              <a:t>→</a:t>
            </a:r>
            <a:endParaRPr lang="en-US" sz="2000" dirty="0"/>
          </a:p>
        </p:txBody>
      </p:sp>
      <p:sp>
        <p:nvSpPr>
          <p:cNvPr id="11" name="Shape 9"/>
          <p:cNvSpPr/>
          <p:nvPr/>
        </p:nvSpPr>
        <p:spPr>
          <a:xfrm>
            <a:off x="2468880" y="2011680"/>
            <a:ext cx="1645920" cy="1005840"/>
          </a:xfrm>
          <a:prstGeom prst="rect">
            <a:avLst/>
          </a:prstGeom>
          <a:solidFill>
            <a:srgbClr val="0D1B2A"/>
          </a:solidFill>
          <a:ln w="12700">
            <a:solidFill>
              <a:srgbClr val="0D1B2A"/>
            </a:solidFill>
            <a:prstDash val="solid"/>
          </a:ln>
        </p:spPr>
        <p:txBody>
          <a:bodyPr/>
          <a:lstStyle/>
          <a:p>
            <a:endParaRPr lang="en-ZA"/>
          </a:p>
        </p:txBody>
      </p:sp>
      <p:sp>
        <p:nvSpPr>
          <p:cNvPr id="12" name="Text 10"/>
          <p:cNvSpPr/>
          <p:nvPr/>
        </p:nvSpPr>
        <p:spPr>
          <a:xfrm>
            <a:off x="2468880" y="2011680"/>
            <a:ext cx="1645920" cy="1005840"/>
          </a:xfrm>
          <a:prstGeom prst="rect">
            <a:avLst/>
          </a:prstGeom>
          <a:noFill/>
          <a:ln/>
        </p:spPr>
        <p:txBody>
          <a:bodyPr wrap="square" lIns="0" tIns="0" rIns="0" bIns="0" rtlCol="0" anchor="ctr"/>
          <a:lstStyle/>
          <a:p>
            <a:pPr marL="0" indent="0" algn="ctr">
              <a:buNone/>
            </a:pPr>
            <a:endParaRPr lang="en-US" sz="1300" dirty="0"/>
          </a:p>
        </p:txBody>
      </p:sp>
      <p:sp>
        <p:nvSpPr>
          <p:cNvPr id="13" name="Text 11"/>
          <p:cNvSpPr/>
          <p:nvPr/>
        </p:nvSpPr>
        <p:spPr>
          <a:xfrm>
            <a:off x="4114800" y="2286000"/>
            <a:ext cx="365760" cy="457200"/>
          </a:xfrm>
          <a:prstGeom prst="rect">
            <a:avLst/>
          </a:prstGeom>
          <a:noFill/>
          <a:ln/>
        </p:spPr>
        <p:txBody>
          <a:bodyPr wrap="square" lIns="0" tIns="0" rIns="0" bIns="0" rtlCol="0" anchor="ctr"/>
          <a:lstStyle/>
          <a:p>
            <a:pPr marL="0" indent="0" algn="ctr">
              <a:buNone/>
            </a:pPr>
            <a:r>
              <a:rPr lang="en-US" sz="2000" dirty="0">
                <a:solidFill>
                  <a:srgbClr val="1B7A8C"/>
                </a:solidFill>
              </a:rPr>
              <a:t>→</a:t>
            </a:r>
            <a:endParaRPr lang="en-US" sz="2000" dirty="0"/>
          </a:p>
        </p:txBody>
      </p:sp>
      <p:sp>
        <p:nvSpPr>
          <p:cNvPr id="14" name="Shape 12"/>
          <p:cNvSpPr/>
          <p:nvPr/>
        </p:nvSpPr>
        <p:spPr>
          <a:xfrm>
            <a:off x="4480560" y="2011680"/>
            <a:ext cx="1645920" cy="1005840"/>
          </a:xfrm>
          <a:prstGeom prst="rect">
            <a:avLst/>
          </a:prstGeom>
          <a:solidFill>
            <a:srgbClr val="0D1B2A"/>
          </a:solidFill>
          <a:ln w="12700">
            <a:solidFill>
              <a:srgbClr val="0D1B2A"/>
            </a:solidFill>
            <a:prstDash val="solid"/>
          </a:ln>
        </p:spPr>
        <p:txBody>
          <a:bodyPr/>
          <a:lstStyle/>
          <a:p>
            <a:endParaRPr lang="en-ZA" dirty="0"/>
          </a:p>
        </p:txBody>
      </p:sp>
      <p:sp>
        <p:nvSpPr>
          <p:cNvPr id="15" name="Text 13"/>
          <p:cNvSpPr/>
          <p:nvPr/>
        </p:nvSpPr>
        <p:spPr>
          <a:xfrm>
            <a:off x="4480560" y="2011680"/>
            <a:ext cx="1645920" cy="1005840"/>
          </a:xfrm>
          <a:prstGeom prst="rect">
            <a:avLst/>
          </a:prstGeom>
          <a:noFill/>
          <a:ln/>
        </p:spPr>
        <p:txBody>
          <a:bodyPr wrap="square" lIns="0" tIns="0" rIns="0" bIns="0" rtlCol="0" anchor="ctr"/>
          <a:lstStyle/>
          <a:p>
            <a:pPr marL="0" indent="0" algn="ctr">
              <a:buNone/>
            </a:pPr>
            <a:endParaRPr lang="en-US" sz="1300" dirty="0"/>
          </a:p>
        </p:txBody>
      </p:sp>
      <p:sp>
        <p:nvSpPr>
          <p:cNvPr id="16" name="Text 14"/>
          <p:cNvSpPr/>
          <p:nvPr/>
        </p:nvSpPr>
        <p:spPr>
          <a:xfrm>
            <a:off x="6126480" y="2286000"/>
            <a:ext cx="365760" cy="457200"/>
          </a:xfrm>
          <a:prstGeom prst="rect">
            <a:avLst/>
          </a:prstGeom>
          <a:noFill/>
          <a:ln/>
        </p:spPr>
        <p:txBody>
          <a:bodyPr wrap="square" lIns="0" tIns="0" rIns="0" bIns="0" rtlCol="0" anchor="ctr"/>
          <a:lstStyle/>
          <a:p>
            <a:pPr marL="0" indent="0" algn="ctr">
              <a:buNone/>
            </a:pPr>
            <a:r>
              <a:rPr lang="en-US" sz="2000" dirty="0">
                <a:solidFill>
                  <a:srgbClr val="1B7A8C"/>
                </a:solidFill>
              </a:rPr>
              <a:t>→</a:t>
            </a:r>
            <a:endParaRPr lang="en-US" sz="2000" dirty="0"/>
          </a:p>
        </p:txBody>
      </p:sp>
      <p:sp>
        <p:nvSpPr>
          <p:cNvPr id="17" name="Shape 15"/>
          <p:cNvSpPr/>
          <p:nvPr/>
        </p:nvSpPr>
        <p:spPr>
          <a:xfrm>
            <a:off x="6492240" y="2011680"/>
            <a:ext cx="1645920" cy="1005840"/>
          </a:xfrm>
          <a:prstGeom prst="rect">
            <a:avLst/>
          </a:prstGeom>
          <a:solidFill>
            <a:srgbClr val="0D1B2A"/>
          </a:solidFill>
          <a:ln w="12700">
            <a:solidFill>
              <a:srgbClr val="0D1B2A"/>
            </a:solidFill>
            <a:prstDash val="solid"/>
          </a:ln>
        </p:spPr>
        <p:txBody>
          <a:bodyPr/>
          <a:lstStyle/>
          <a:p>
            <a:endParaRPr lang="en-ZA"/>
          </a:p>
        </p:txBody>
      </p:sp>
      <p:sp>
        <p:nvSpPr>
          <p:cNvPr id="18" name="Text 16"/>
          <p:cNvSpPr/>
          <p:nvPr/>
        </p:nvSpPr>
        <p:spPr>
          <a:xfrm>
            <a:off x="6492240" y="2011680"/>
            <a:ext cx="1645920" cy="1005840"/>
          </a:xfrm>
          <a:prstGeom prst="rect">
            <a:avLst/>
          </a:prstGeom>
          <a:noFill/>
          <a:ln/>
        </p:spPr>
        <p:txBody>
          <a:bodyPr wrap="square" lIns="0" tIns="0" rIns="0" bIns="0" rtlCol="0" anchor="ctr"/>
          <a:lstStyle/>
          <a:p>
            <a:pPr marL="0" indent="0" algn="ctr">
              <a:buNone/>
            </a:pPr>
            <a:r>
              <a:rPr lang="en-US" sz="1300" b="1" dirty="0">
                <a:solidFill>
                  <a:srgbClr val="FFFFFF"/>
                </a:solidFill>
              </a:rPr>
              <a:t>Frame N</a:t>
            </a:r>
            <a:endParaRPr lang="en-US" sz="1300" dirty="0"/>
          </a:p>
        </p:txBody>
      </p:sp>
      <p:sp>
        <p:nvSpPr>
          <p:cNvPr id="19" name="Text 17"/>
          <p:cNvSpPr/>
          <p:nvPr/>
        </p:nvSpPr>
        <p:spPr>
          <a:xfrm>
            <a:off x="457200" y="3200400"/>
            <a:ext cx="8229600" cy="365760"/>
          </a:xfrm>
          <a:prstGeom prst="rect">
            <a:avLst/>
          </a:prstGeom>
          <a:noFill/>
          <a:ln/>
        </p:spPr>
        <p:txBody>
          <a:bodyPr wrap="square" lIns="0" tIns="0" rIns="0" bIns="0" rtlCol="0" anchor="ctr"/>
          <a:lstStyle/>
          <a:p>
            <a:pPr marL="0" indent="0" algn="ctr">
              <a:buNone/>
            </a:pPr>
            <a:r>
              <a:rPr lang="en-US" sz="1200" i="1" dirty="0">
                <a:solidFill>
                  <a:srgbClr val="1B7A8C"/>
                </a:solidFill>
              </a:rPr>
              <a:t>Bi-LSTM processes the full 32-frame sequence therefore learning what changed over time</a:t>
            </a:r>
            <a:endParaRPr lang="en-US" sz="1200" dirty="0"/>
          </a:p>
        </p:txBody>
      </p:sp>
      <p:sp>
        <p:nvSpPr>
          <p:cNvPr id="20" name="Shape 18"/>
          <p:cNvSpPr/>
          <p:nvPr/>
        </p:nvSpPr>
        <p:spPr>
          <a:xfrm>
            <a:off x="365760" y="3657600"/>
            <a:ext cx="8412480" cy="109728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1" name="Shape 19"/>
          <p:cNvSpPr/>
          <p:nvPr/>
        </p:nvSpPr>
        <p:spPr>
          <a:xfrm>
            <a:off x="365760" y="3657600"/>
            <a:ext cx="64008" cy="1097280"/>
          </a:xfrm>
          <a:prstGeom prst="rect">
            <a:avLst/>
          </a:prstGeom>
          <a:solidFill>
            <a:srgbClr val="1B7A8C"/>
          </a:solidFill>
          <a:ln w="12700">
            <a:solidFill>
              <a:srgbClr val="1B7A8C"/>
            </a:solidFill>
            <a:prstDash val="solid"/>
          </a:ln>
        </p:spPr>
        <p:txBody>
          <a:bodyPr/>
          <a:lstStyle/>
          <a:p>
            <a:endParaRPr lang="en-ZA"/>
          </a:p>
        </p:txBody>
      </p:sp>
      <p:sp>
        <p:nvSpPr>
          <p:cNvPr id="22" name="Text 20"/>
          <p:cNvSpPr/>
          <p:nvPr/>
        </p:nvSpPr>
        <p:spPr>
          <a:xfrm>
            <a:off x="530352" y="3730752"/>
            <a:ext cx="815644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Bidirectional LSTM</a:t>
            </a:r>
            <a:endParaRPr lang="en-US" sz="1200" dirty="0"/>
          </a:p>
        </p:txBody>
      </p:sp>
      <p:sp>
        <p:nvSpPr>
          <p:cNvPr id="23" name="Text 21"/>
          <p:cNvSpPr/>
          <p:nvPr/>
        </p:nvSpPr>
        <p:spPr>
          <a:xfrm>
            <a:off x="530352" y="4023360"/>
            <a:ext cx="8156448" cy="640080"/>
          </a:xfrm>
          <a:prstGeom prst="rect">
            <a:avLst/>
          </a:prstGeom>
          <a:noFill/>
          <a:ln/>
        </p:spPr>
        <p:txBody>
          <a:bodyPr wrap="square" lIns="0" tIns="0" rIns="0" bIns="0" rtlCol="0" anchor="ctr"/>
          <a:lstStyle/>
          <a:p>
            <a:pPr marL="0" indent="0">
              <a:buNone/>
            </a:pPr>
            <a:r>
              <a:rPr lang="en-GB" sz="1200" dirty="0">
                <a:solidFill>
                  <a:srgbClr val="4A5568"/>
                </a:solidFill>
                <a:latin typeface="Calibri" pitchFamily="34" charset="0"/>
                <a:ea typeface="Calibri" pitchFamily="34" charset="-122"/>
                <a:cs typeface="Calibri" pitchFamily="34" charset="-120"/>
              </a:rPr>
              <a:t>Analyses the sequence in both directions at the same time, allowing for the retention of information from both the past and the future, which enhances the comprehension of the movement of objects.</a:t>
            </a:r>
            <a:endParaRPr lang="en-US" sz="1200" dirty="0"/>
          </a:p>
        </p:txBody>
      </p:sp>
      <p:pic>
        <p:nvPicPr>
          <p:cNvPr id="25" name="Picture 24">
            <a:extLst>
              <a:ext uri="{FF2B5EF4-FFF2-40B4-BE49-F238E27FC236}">
                <a16:creationId xmlns:a16="http://schemas.microsoft.com/office/drawing/2014/main" id="{F30D1870-F937-8711-D8C4-85F0D399BDC9}"/>
              </a:ext>
            </a:extLst>
          </p:cNvPr>
          <p:cNvPicPr>
            <a:picLocks noChangeAspect="1"/>
          </p:cNvPicPr>
          <p:nvPr/>
        </p:nvPicPr>
        <p:blipFill>
          <a:blip r:embed="rId3"/>
          <a:stretch>
            <a:fillRect/>
          </a:stretch>
        </p:blipFill>
        <p:spPr>
          <a:xfrm>
            <a:off x="457200" y="2011680"/>
            <a:ext cx="1645920" cy="1024128"/>
          </a:xfrm>
          <a:prstGeom prst="rect">
            <a:avLst/>
          </a:prstGeom>
        </p:spPr>
      </p:pic>
      <p:pic>
        <p:nvPicPr>
          <p:cNvPr id="33" name="Picture 32">
            <a:extLst>
              <a:ext uri="{FF2B5EF4-FFF2-40B4-BE49-F238E27FC236}">
                <a16:creationId xmlns:a16="http://schemas.microsoft.com/office/drawing/2014/main" id="{FD328F0D-599E-85CC-AE96-41B0B5F278E0}"/>
              </a:ext>
            </a:extLst>
          </p:cNvPr>
          <p:cNvPicPr>
            <a:picLocks noChangeAspect="1"/>
          </p:cNvPicPr>
          <p:nvPr/>
        </p:nvPicPr>
        <p:blipFill>
          <a:blip r:embed="rId4"/>
          <a:stretch>
            <a:fillRect/>
          </a:stretch>
        </p:blipFill>
        <p:spPr>
          <a:xfrm>
            <a:off x="2474976" y="1993392"/>
            <a:ext cx="1639824" cy="1047290"/>
          </a:xfrm>
          <a:prstGeom prst="rect">
            <a:avLst/>
          </a:prstGeom>
        </p:spPr>
      </p:pic>
      <p:pic>
        <p:nvPicPr>
          <p:cNvPr id="35" name="Picture 34">
            <a:extLst>
              <a:ext uri="{FF2B5EF4-FFF2-40B4-BE49-F238E27FC236}">
                <a16:creationId xmlns:a16="http://schemas.microsoft.com/office/drawing/2014/main" id="{04042413-13EA-66B8-5ADA-34B3A1D21D4F}"/>
              </a:ext>
            </a:extLst>
          </p:cNvPr>
          <p:cNvPicPr>
            <a:picLocks noChangeAspect="1"/>
          </p:cNvPicPr>
          <p:nvPr/>
        </p:nvPicPr>
        <p:blipFill>
          <a:blip r:embed="rId5"/>
          <a:stretch>
            <a:fillRect/>
          </a:stretch>
        </p:blipFill>
        <p:spPr>
          <a:xfrm>
            <a:off x="4480561" y="1993392"/>
            <a:ext cx="1645920" cy="1042416"/>
          </a:xfrm>
          <a:prstGeom prst="rect">
            <a:avLst/>
          </a:prstGeom>
        </p:spPr>
      </p:pic>
      <p:pic>
        <p:nvPicPr>
          <p:cNvPr id="37" name="Picture 36">
            <a:extLst>
              <a:ext uri="{FF2B5EF4-FFF2-40B4-BE49-F238E27FC236}">
                <a16:creationId xmlns:a16="http://schemas.microsoft.com/office/drawing/2014/main" id="{44E5BFB9-1536-E5BE-E3F7-A865D4E76829}"/>
              </a:ext>
            </a:extLst>
          </p:cNvPr>
          <p:cNvPicPr>
            <a:picLocks noChangeAspect="1"/>
          </p:cNvPicPr>
          <p:nvPr/>
        </p:nvPicPr>
        <p:blipFill>
          <a:blip r:embed="rId6"/>
          <a:stretch>
            <a:fillRect/>
          </a:stretch>
        </p:blipFill>
        <p:spPr>
          <a:xfrm>
            <a:off x="6492240" y="1995586"/>
            <a:ext cx="1645920" cy="104022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2 — BACKGROUND</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How Do We Measure Success?</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8 / 35</a:t>
            </a:r>
            <a:endParaRPr lang="en-US" sz="900" dirty="0"/>
          </a:p>
        </p:txBody>
      </p:sp>
      <p:sp>
        <p:nvSpPr>
          <p:cNvPr id="7" name="Shape 5"/>
          <p:cNvSpPr/>
          <p:nvPr/>
        </p:nvSpPr>
        <p:spPr>
          <a:xfrm>
            <a:off x="365760" y="1371600"/>
            <a:ext cx="4023360" cy="146304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8" name="Shape 6"/>
          <p:cNvSpPr/>
          <p:nvPr/>
        </p:nvSpPr>
        <p:spPr>
          <a:xfrm>
            <a:off x="365760" y="1371600"/>
            <a:ext cx="64008" cy="1463040"/>
          </a:xfrm>
          <a:prstGeom prst="rect">
            <a:avLst/>
          </a:prstGeom>
          <a:solidFill>
            <a:srgbClr val="1B7A8C"/>
          </a:solidFill>
          <a:ln w="12700">
            <a:solidFill>
              <a:srgbClr val="1B7A8C"/>
            </a:solidFill>
            <a:prstDash val="solid"/>
          </a:ln>
        </p:spPr>
        <p:txBody>
          <a:bodyPr/>
          <a:lstStyle/>
          <a:p>
            <a:endParaRPr lang="en-ZA"/>
          </a:p>
        </p:txBody>
      </p:sp>
      <p:sp>
        <p:nvSpPr>
          <p:cNvPr id="9" name="Text 7"/>
          <p:cNvSpPr/>
          <p:nvPr/>
        </p:nvSpPr>
        <p:spPr>
          <a:xfrm>
            <a:off x="530352" y="1444752"/>
            <a:ext cx="376732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Intersection over Union (IOU)</a:t>
            </a:r>
            <a:endParaRPr lang="en-US" sz="1200" dirty="0"/>
          </a:p>
        </p:txBody>
      </p:sp>
      <p:sp>
        <p:nvSpPr>
          <p:cNvPr id="10" name="Text 8"/>
          <p:cNvSpPr/>
          <p:nvPr/>
        </p:nvSpPr>
        <p:spPr>
          <a:xfrm>
            <a:off x="530352" y="1737360"/>
            <a:ext cx="3767328" cy="100584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Measures how well a predicted box overlaps the real box. Score of 1.0 = perfect overlap. Score of 0 = no overlap at all.</a:t>
            </a:r>
            <a:endParaRPr lang="en-US" sz="1200" dirty="0"/>
          </a:p>
        </p:txBody>
      </p:sp>
      <p:sp>
        <p:nvSpPr>
          <p:cNvPr id="11" name="Shape 9"/>
          <p:cNvSpPr/>
          <p:nvPr/>
        </p:nvSpPr>
        <p:spPr>
          <a:xfrm>
            <a:off x="4754880" y="1371600"/>
            <a:ext cx="4023360" cy="146304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2" name="Shape 10"/>
          <p:cNvSpPr/>
          <p:nvPr/>
        </p:nvSpPr>
        <p:spPr>
          <a:xfrm>
            <a:off x="4754880" y="1371600"/>
            <a:ext cx="64008" cy="1463040"/>
          </a:xfrm>
          <a:prstGeom prst="rect">
            <a:avLst/>
          </a:prstGeom>
          <a:solidFill>
            <a:srgbClr val="1B7A8C"/>
          </a:solidFill>
          <a:ln w="12700">
            <a:solidFill>
              <a:srgbClr val="1B7A8C"/>
            </a:solidFill>
            <a:prstDash val="solid"/>
          </a:ln>
        </p:spPr>
        <p:txBody>
          <a:bodyPr/>
          <a:lstStyle/>
          <a:p>
            <a:endParaRPr lang="en-ZA"/>
          </a:p>
        </p:txBody>
      </p:sp>
      <p:sp>
        <p:nvSpPr>
          <p:cNvPr id="13" name="Text 11"/>
          <p:cNvSpPr/>
          <p:nvPr/>
        </p:nvSpPr>
        <p:spPr>
          <a:xfrm>
            <a:off x="4919472" y="1444752"/>
            <a:ext cx="376732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 Mean Average Precision (</a:t>
            </a:r>
            <a:r>
              <a:rPr lang="en-US" sz="1200" b="1" dirty="0" err="1">
                <a:solidFill>
                  <a:srgbClr val="1B7A8C"/>
                </a:solidFill>
                <a:latin typeface="Cambria" pitchFamily="34" charset="0"/>
                <a:ea typeface="Cambria" pitchFamily="34" charset="-122"/>
                <a:cs typeface="Cambria" pitchFamily="34" charset="-120"/>
              </a:rPr>
              <a:t>mAP</a:t>
            </a:r>
            <a:r>
              <a:rPr lang="en-US" sz="1200" b="1" dirty="0">
                <a:solidFill>
                  <a:srgbClr val="1B7A8C"/>
                </a:solidFill>
                <a:latin typeface="Cambria" pitchFamily="34" charset="0"/>
                <a:ea typeface="Cambria" pitchFamily="34" charset="-122"/>
                <a:cs typeface="Cambria" pitchFamily="34" charset="-120"/>
              </a:rPr>
              <a:t>)</a:t>
            </a:r>
            <a:endParaRPr lang="en-US" sz="1200" dirty="0"/>
          </a:p>
        </p:txBody>
      </p:sp>
      <p:sp>
        <p:nvSpPr>
          <p:cNvPr id="14" name="Text 12"/>
          <p:cNvSpPr/>
          <p:nvPr/>
        </p:nvSpPr>
        <p:spPr>
          <a:xfrm>
            <a:off x="4919472" y="1737360"/>
            <a:ext cx="3767328" cy="100584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The average precision score across all object classes. Combines both accuracy of detection and quality of bounding box placement.</a:t>
            </a:r>
            <a:endParaRPr lang="en-US" sz="1200" dirty="0"/>
          </a:p>
        </p:txBody>
      </p:sp>
      <p:sp>
        <p:nvSpPr>
          <p:cNvPr id="15" name="Shape 13"/>
          <p:cNvSpPr/>
          <p:nvPr/>
        </p:nvSpPr>
        <p:spPr>
          <a:xfrm>
            <a:off x="365760" y="3017520"/>
            <a:ext cx="4023360" cy="146304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6" name="Shape 14"/>
          <p:cNvSpPr/>
          <p:nvPr/>
        </p:nvSpPr>
        <p:spPr>
          <a:xfrm>
            <a:off x="365760" y="3017520"/>
            <a:ext cx="64008" cy="1463040"/>
          </a:xfrm>
          <a:prstGeom prst="rect">
            <a:avLst/>
          </a:prstGeom>
          <a:solidFill>
            <a:srgbClr val="1B7A8C"/>
          </a:solidFill>
          <a:ln w="12700">
            <a:solidFill>
              <a:srgbClr val="1B7A8C"/>
            </a:solidFill>
            <a:prstDash val="solid"/>
          </a:ln>
        </p:spPr>
        <p:txBody>
          <a:bodyPr/>
          <a:lstStyle/>
          <a:p>
            <a:endParaRPr lang="en-ZA"/>
          </a:p>
        </p:txBody>
      </p:sp>
      <p:sp>
        <p:nvSpPr>
          <p:cNvPr id="17" name="Text 15"/>
          <p:cNvSpPr/>
          <p:nvPr/>
        </p:nvSpPr>
        <p:spPr>
          <a:xfrm>
            <a:off x="530352" y="3090672"/>
            <a:ext cx="376732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Accuracy</a:t>
            </a:r>
            <a:endParaRPr lang="en-US" sz="1200" dirty="0"/>
          </a:p>
        </p:txBody>
      </p:sp>
      <p:sp>
        <p:nvSpPr>
          <p:cNvPr id="18" name="Text 16"/>
          <p:cNvSpPr/>
          <p:nvPr/>
        </p:nvSpPr>
        <p:spPr>
          <a:xfrm>
            <a:off x="530352" y="3383280"/>
            <a:ext cx="3767328" cy="100584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Percentage of objects correctly classified from all predictions.</a:t>
            </a:r>
            <a:endParaRPr lang="en-US" sz="1200" dirty="0"/>
          </a:p>
        </p:txBody>
      </p:sp>
      <p:sp>
        <p:nvSpPr>
          <p:cNvPr id="19" name="Shape 17"/>
          <p:cNvSpPr/>
          <p:nvPr/>
        </p:nvSpPr>
        <p:spPr>
          <a:xfrm>
            <a:off x="4754880" y="3017520"/>
            <a:ext cx="4023360" cy="146304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0" name="Shape 18"/>
          <p:cNvSpPr/>
          <p:nvPr/>
        </p:nvSpPr>
        <p:spPr>
          <a:xfrm>
            <a:off x="4754880" y="3017520"/>
            <a:ext cx="64008" cy="1463040"/>
          </a:xfrm>
          <a:prstGeom prst="rect">
            <a:avLst/>
          </a:prstGeom>
          <a:solidFill>
            <a:srgbClr val="1B7A8C"/>
          </a:solidFill>
          <a:ln w="12700">
            <a:solidFill>
              <a:srgbClr val="1B7A8C"/>
            </a:solidFill>
            <a:prstDash val="solid"/>
          </a:ln>
        </p:spPr>
        <p:txBody>
          <a:bodyPr/>
          <a:lstStyle/>
          <a:p>
            <a:endParaRPr lang="en-ZA"/>
          </a:p>
        </p:txBody>
      </p:sp>
      <p:sp>
        <p:nvSpPr>
          <p:cNvPr id="21" name="Text 19"/>
          <p:cNvSpPr/>
          <p:nvPr/>
        </p:nvSpPr>
        <p:spPr>
          <a:xfrm>
            <a:off x="4919472" y="3090672"/>
            <a:ext cx="376732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F1 Score</a:t>
            </a:r>
            <a:endParaRPr lang="en-US" sz="1200" dirty="0"/>
          </a:p>
        </p:txBody>
      </p:sp>
      <p:sp>
        <p:nvSpPr>
          <p:cNvPr id="22" name="Text 20"/>
          <p:cNvSpPr/>
          <p:nvPr/>
        </p:nvSpPr>
        <p:spPr>
          <a:xfrm>
            <a:off x="4919472" y="3383280"/>
            <a:ext cx="3767328" cy="100584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Balances precision and recall very important when some object classes appear rarely in the dataset.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3 — METHODOLOGY</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The KITTI Dataset</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9 / 35</a:t>
            </a:r>
            <a:endParaRPr lang="en-US" sz="900" dirty="0"/>
          </a:p>
        </p:txBody>
      </p:sp>
      <p:sp>
        <p:nvSpPr>
          <p:cNvPr id="7" name="Text 5"/>
          <p:cNvSpPr/>
          <p:nvPr/>
        </p:nvSpPr>
        <p:spPr>
          <a:xfrm>
            <a:off x="457200" y="1371600"/>
            <a:ext cx="8229600" cy="41148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KITTI is a real-world autonomous driving benchmark from the Karlsruhe Institute of Technology.</a:t>
            </a:r>
            <a:endParaRPr lang="en-US" sz="1400" dirty="0"/>
          </a:p>
        </p:txBody>
      </p:sp>
      <p:sp>
        <p:nvSpPr>
          <p:cNvPr id="8" name="Shape 6"/>
          <p:cNvSpPr/>
          <p:nvPr/>
        </p:nvSpPr>
        <p:spPr>
          <a:xfrm>
            <a:off x="365760" y="1920240"/>
            <a:ext cx="1508760" cy="731520"/>
          </a:xfrm>
          <a:prstGeom prst="rect">
            <a:avLst/>
          </a:prstGeom>
          <a:solidFill>
            <a:srgbClr val="1B7A8C"/>
          </a:solidFill>
          <a:ln w="12700">
            <a:solidFill>
              <a:srgbClr val="1B7A8C"/>
            </a:solidFill>
            <a:prstDash val="solid"/>
          </a:ln>
        </p:spPr>
        <p:txBody>
          <a:bodyPr/>
          <a:lstStyle/>
          <a:p>
            <a:endParaRPr lang="en-ZA"/>
          </a:p>
        </p:txBody>
      </p:sp>
      <p:sp>
        <p:nvSpPr>
          <p:cNvPr id="9" name="Text 7"/>
          <p:cNvSpPr/>
          <p:nvPr/>
        </p:nvSpPr>
        <p:spPr>
          <a:xfrm>
            <a:off x="365760" y="1920240"/>
            <a:ext cx="1508760" cy="731520"/>
          </a:xfrm>
          <a:prstGeom prst="rect">
            <a:avLst/>
          </a:prstGeom>
          <a:noFill/>
          <a:ln/>
        </p:spPr>
        <p:txBody>
          <a:bodyPr wrap="square" lIns="0" tIns="0" rIns="0" bIns="0" rtlCol="0" anchor="ctr"/>
          <a:lstStyle/>
          <a:p>
            <a:pPr marL="0" indent="0" algn="ctr">
              <a:buNone/>
            </a:pPr>
            <a:r>
              <a:rPr lang="en-US" sz="1300" b="1" dirty="0">
                <a:solidFill>
                  <a:srgbClr val="FFFFFF"/>
                </a:solidFill>
              </a:rPr>
              <a:t>Car</a:t>
            </a:r>
            <a:endParaRPr lang="en-US" sz="1300" dirty="0"/>
          </a:p>
        </p:txBody>
      </p:sp>
      <p:sp>
        <p:nvSpPr>
          <p:cNvPr id="10" name="Shape 8"/>
          <p:cNvSpPr/>
          <p:nvPr/>
        </p:nvSpPr>
        <p:spPr>
          <a:xfrm>
            <a:off x="2057400" y="1920240"/>
            <a:ext cx="1508760" cy="731520"/>
          </a:xfrm>
          <a:prstGeom prst="rect">
            <a:avLst/>
          </a:prstGeom>
          <a:solidFill>
            <a:srgbClr val="0D1B2A"/>
          </a:solidFill>
          <a:ln w="12700">
            <a:solidFill>
              <a:srgbClr val="0D1B2A"/>
            </a:solidFill>
            <a:prstDash val="solid"/>
          </a:ln>
        </p:spPr>
        <p:txBody>
          <a:bodyPr/>
          <a:lstStyle/>
          <a:p>
            <a:endParaRPr lang="en-ZA"/>
          </a:p>
        </p:txBody>
      </p:sp>
      <p:sp>
        <p:nvSpPr>
          <p:cNvPr id="11" name="Text 9"/>
          <p:cNvSpPr/>
          <p:nvPr/>
        </p:nvSpPr>
        <p:spPr>
          <a:xfrm>
            <a:off x="2057400" y="1920240"/>
            <a:ext cx="1508760" cy="731520"/>
          </a:xfrm>
          <a:prstGeom prst="rect">
            <a:avLst/>
          </a:prstGeom>
          <a:noFill/>
          <a:ln/>
        </p:spPr>
        <p:txBody>
          <a:bodyPr wrap="square" lIns="0" tIns="0" rIns="0" bIns="0" rtlCol="0" anchor="ctr"/>
          <a:lstStyle/>
          <a:p>
            <a:pPr marL="0" indent="0" algn="ctr">
              <a:buNone/>
            </a:pPr>
            <a:r>
              <a:rPr lang="en-US" sz="1300" b="1" dirty="0">
                <a:solidFill>
                  <a:srgbClr val="FFFFFF"/>
                </a:solidFill>
              </a:rPr>
              <a:t>Van</a:t>
            </a:r>
            <a:endParaRPr lang="en-US" sz="1300" dirty="0"/>
          </a:p>
        </p:txBody>
      </p:sp>
      <p:sp>
        <p:nvSpPr>
          <p:cNvPr id="12" name="Shape 10"/>
          <p:cNvSpPr/>
          <p:nvPr/>
        </p:nvSpPr>
        <p:spPr>
          <a:xfrm>
            <a:off x="3749040" y="1920240"/>
            <a:ext cx="1508760" cy="731520"/>
          </a:xfrm>
          <a:prstGeom prst="rect">
            <a:avLst/>
          </a:prstGeom>
          <a:solidFill>
            <a:srgbClr val="F6B93B"/>
          </a:solidFill>
          <a:ln w="12700">
            <a:solidFill>
              <a:srgbClr val="F6B93B"/>
            </a:solidFill>
            <a:prstDash val="solid"/>
          </a:ln>
        </p:spPr>
        <p:txBody>
          <a:bodyPr/>
          <a:lstStyle/>
          <a:p>
            <a:endParaRPr lang="en-ZA"/>
          </a:p>
        </p:txBody>
      </p:sp>
      <p:sp>
        <p:nvSpPr>
          <p:cNvPr id="13" name="Text 11"/>
          <p:cNvSpPr/>
          <p:nvPr/>
        </p:nvSpPr>
        <p:spPr>
          <a:xfrm>
            <a:off x="3749040" y="1920240"/>
            <a:ext cx="1508760" cy="731520"/>
          </a:xfrm>
          <a:prstGeom prst="rect">
            <a:avLst/>
          </a:prstGeom>
          <a:noFill/>
          <a:ln/>
        </p:spPr>
        <p:txBody>
          <a:bodyPr wrap="square" lIns="0" tIns="0" rIns="0" bIns="0" rtlCol="0" anchor="ctr"/>
          <a:lstStyle/>
          <a:p>
            <a:pPr marL="0" indent="0" algn="ctr">
              <a:buNone/>
            </a:pPr>
            <a:r>
              <a:rPr lang="en-US" sz="1300" b="1" dirty="0">
                <a:solidFill>
                  <a:srgbClr val="FFFFFF"/>
                </a:solidFill>
              </a:rPr>
              <a:t>Truck</a:t>
            </a:r>
            <a:endParaRPr lang="en-US" sz="1300" dirty="0"/>
          </a:p>
        </p:txBody>
      </p:sp>
      <p:sp>
        <p:nvSpPr>
          <p:cNvPr id="14" name="Shape 12"/>
          <p:cNvSpPr/>
          <p:nvPr/>
        </p:nvSpPr>
        <p:spPr>
          <a:xfrm>
            <a:off x="5440680" y="1920240"/>
            <a:ext cx="1508760" cy="731520"/>
          </a:xfrm>
          <a:prstGeom prst="rect">
            <a:avLst/>
          </a:prstGeom>
          <a:solidFill>
            <a:srgbClr val="27AE60"/>
          </a:solidFill>
          <a:ln w="12700">
            <a:solidFill>
              <a:srgbClr val="27AE60"/>
            </a:solidFill>
            <a:prstDash val="solid"/>
          </a:ln>
        </p:spPr>
        <p:txBody>
          <a:bodyPr/>
          <a:lstStyle/>
          <a:p>
            <a:endParaRPr lang="en-ZA"/>
          </a:p>
        </p:txBody>
      </p:sp>
      <p:sp>
        <p:nvSpPr>
          <p:cNvPr id="15" name="Text 13"/>
          <p:cNvSpPr/>
          <p:nvPr/>
        </p:nvSpPr>
        <p:spPr>
          <a:xfrm>
            <a:off x="5440680" y="1920240"/>
            <a:ext cx="1508760" cy="731520"/>
          </a:xfrm>
          <a:prstGeom prst="rect">
            <a:avLst/>
          </a:prstGeom>
          <a:noFill/>
          <a:ln/>
        </p:spPr>
        <p:txBody>
          <a:bodyPr wrap="square" lIns="0" tIns="0" rIns="0" bIns="0" rtlCol="0" anchor="ctr"/>
          <a:lstStyle/>
          <a:p>
            <a:pPr marL="0" indent="0" algn="ctr">
              <a:buNone/>
            </a:pPr>
            <a:r>
              <a:rPr lang="en-US" sz="1300" b="1" dirty="0">
                <a:solidFill>
                  <a:srgbClr val="FFFFFF"/>
                </a:solidFill>
              </a:rPr>
              <a:t>Pedestrian</a:t>
            </a:r>
            <a:endParaRPr lang="en-US" sz="1300" dirty="0"/>
          </a:p>
        </p:txBody>
      </p:sp>
      <p:sp>
        <p:nvSpPr>
          <p:cNvPr id="16" name="Shape 14"/>
          <p:cNvSpPr/>
          <p:nvPr/>
        </p:nvSpPr>
        <p:spPr>
          <a:xfrm>
            <a:off x="7132320" y="1920240"/>
            <a:ext cx="1508760" cy="731520"/>
          </a:xfrm>
          <a:prstGeom prst="rect">
            <a:avLst/>
          </a:prstGeom>
          <a:solidFill>
            <a:srgbClr val="E74C3C"/>
          </a:solidFill>
          <a:ln w="12700">
            <a:solidFill>
              <a:srgbClr val="E74C3C"/>
            </a:solidFill>
            <a:prstDash val="solid"/>
          </a:ln>
        </p:spPr>
        <p:txBody>
          <a:bodyPr/>
          <a:lstStyle/>
          <a:p>
            <a:endParaRPr lang="en-ZA"/>
          </a:p>
        </p:txBody>
      </p:sp>
      <p:sp>
        <p:nvSpPr>
          <p:cNvPr id="17" name="Text 15"/>
          <p:cNvSpPr/>
          <p:nvPr/>
        </p:nvSpPr>
        <p:spPr>
          <a:xfrm>
            <a:off x="7132320" y="1920240"/>
            <a:ext cx="1508760" cy="731520"/>
          </a:xfrm>
          <a:prstGeom prst="rect">
            <a:avLst/>
          </a:prstGeom>
          <a:noFill/>
          <a:ln/>
        </p:spPr>
        <p:txBody>
          <a:bodyPr wrap="square" lIns="0" tIns="0" rIns="0" bIns="0" rtlCol="0" anchor="ctr"/>
          <a:lstStyle/>
          <a:p>
            <a:pPr marL="0" indent="0" algn="ctr">
              <a:buNone/>
            </a:pPr>
            <a:r>
              <a:rPr lang="en-US" sz="1300" b="1" dirty="0">
                <a:solidFill>
                  <a:srgbClr val="FFFFFF"/>
                </a:solidFill>
              </a:rPr>
              <a:t>Cyclist</a:t>
            </a:r>
            <a:endParaRPr lang="en-US" sz="1300" dirty="0"/>
          </a:p>
        </p:txBody>
      </p:sp>
      <p:sp>
        <p:nvSpPr>
          <p:cNvPr id="18" name="Text 16"/>
          <p:cNvSpPr/>
          <p:nvPr/>
        </p:nvSpPr>
        <p:spPr>
          <a:xfrm>
            <a:off x="365760" y="2743200"/>
            <a:ext cx="8412480" cy="274320"/>
          </a:xfrm>
          <a:prstGeom prst="rect">
            <a:avLst/>
          </a:prstGeom>
          <a:noFill/>
          <a:ln/>
        </p:spPr>
        <p:txBody>
          <a:bodyPr wrap="square" lIns="0" tIns="0" rIns="0" bIns="0" rtlCol="0" anchor="ctr"/>
          <a:lstStyle/>
          <a:p>
            <a:pPr marL="0" indent="0" algn="ctr">
              <a:buNone/>
            </a:pPr>
            <a:r>
              <a:rPr lang="en-US" sz="1100" i="1" dirty="0">
                <a:solidFill>
                  <a:srgbClr val="4A5568"/>
                </a:solidFill>
              </a:rPr>
              <a:t>5 Object Classes</a:t>
            </a:r>
            <a:endParaRPr lang="en-US" sz="1100" dirty="0"/>
          </a:p>
        </p:txBody>
      </p:sp>
      <p:sp>
        <p:nvSpPr>
          <p:cNvPr id="19" name="Shape 17"/>
          <p:cNvSpPr/>
          <p:nvPr/>
        </p:nvSpPr>
        <p:spPr>
          <a:xfrm>
            <a:off x="365760" y="3108960"/>
            <a:ext cx="4023360" cy="155448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0" name="Shape 18"/>
          <p:cNvSpPr/>
          <p:nvPr/>
        </p:nvSpPr>
        <p:spPr>
          <a:xfrm>
            <a:off x="365760" y="3108960"/>
            <a:ext cx="64008" cy="1554480"/>
          </a:xfrm>
          <a:prstGeom prst="rect">
            <a:avLst/>
          </a:prstGeom>
          <a:solidFill>
            <a:srgbClr val="1B7A8C"/>
          </a:solidFill>
          <a:ln w="12700">
            <a:solidFill>
              <a:srgbClr val="1B7A8C"/>
            </a:solidFill>
            <a:prstDash val="solid"/>
          </a:ln>
        </p:spPr>
        <p:txBody>
          <a:bodyPr/>
          <a:lstStyle/>
          <a:p>
            <a:endParaRPr lang="en-ZA"/>
          </a:p>
        </p:txBody>
      </p:sp>
      <p:sp>
        <p:nvSpPr>
          <p:cNvPr id="21" name="Text 19"/>
          <p:cNvSpPr/>
          <p:nvPr/>
        </p:nvSpPr>
        <p:spPr>
          <a:xfrm>
            <a:off x="530352" y="3182112"/>
            <a:ext cx="376732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What the Data Contains</a:t>
            </a:r>
            <a:endParaRPr lang="en-US" sz="1200" dirty="0"/>
          </a:p>
        </p:txBody>
      </p:sp>
      <p:sp>
        <p:nvSpPr>
          <p:cNvPr id="22" name="Text 20"/>
          <p:cNvSpPr/>
          <p:nvPr/>
        </p:nvSpPr>
        <p:spPr>
          <a:xfrm>
            <a:off x="530352" y="3474720"/>
            <a:ext cx="3767328" cy="109728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Synchronised RGB camera images, LiDAR 3D point cloud scans, calibration files, and XML tracklet annotations linking objects across frames.</a:t>
            </a:r>
            <a:endParaRPr lang="en-US" sz="1200" dirty="0"/>
          </a:p>
        </p:txBody>
      </p:sp>
      <p:sp>
        <p:nvSpPr>
          <p:cNvPr id="23" name="Shape 21"/>
          <p:cNvSpPr/>
          <p:nvPr/>
        </p:nvSpPr>
        <p:spPr>
          <a:xfrm>
            <a:off x="4754880" y="3108960"/>
            <a:ext cx="4023360" cy="155448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4" name="Shape 22"/>
          <p:cNvSpPr/>
          <p:nvPr/>
        </p:nvSpPr>
        <p:spPr>
          <a:xfrm>
            <a:off x="4754880" y="3108960"/>
            <a:ext cx="64008" cy="1554480"/>
          </a:xfrm>
          <a:prstGeom prst="rect">
            <a:avLst/>
          </a:prstGeom>
          <a:solidFill>
            <a:srgbClr val="1B7A8C"/>
          </a:solidFill>
          <a:ln w="12700">
            <a:solidFill>
              <a:srgbClr val="1B7A8C"/>
            </a:solidFill>
            <a:prstDash val="solid"/>
          </a:ln>
        </p:spPr>
        <p:txBody>
          <a:bodyPr/>
          <a:lstStyle/>
          <a:p>
            <a:endParaRPr lang="en-ZA"/>
          </a:p>
        </p:txBody>
      </p:sp>
      <p:sp>
        <p:nvSpPr>
          <p:cNvPr id="25" name="Text 23"/>
          <p:cNvSpPr/>
          <p:nvPr/>
        </p:nvSpPr>
        <p:spPr>
          <a:xfrm>
            <a:off x="4919472" y="3182112"/>
            <a:ext cx="376732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Why KITTI?</a:t>
            </a:r>
            <a:endParaRPr lang="en-US" sz="1200" dirty="0"/>
          </a:p>
        </p:txBody>
      </p:sp>
      <p:sp>
        <p:nvSpPr>
          <p:cNvPr id="26" name="Text 24"/>
          <p:cNvSpPr/>
          <p:nvPr/>
        </p:nvSpPr>
        <p:spPr>
          <a:xfrm>
            <a:off x="4919472" y="3474720"/>
            <a:ext cx="3767328" cy="109728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KITTI introduces real-world challenges: occlusion, motion blur, varying lighting, and multiple overlapping object classes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3 — METHODOLOGY</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Data Splitting Strategy</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10 / 35</a:t>
            </a:r>
            <a:endParaRPr lang="en-US" sz="900" dirty="0"/>
          </a:p>
        </p:txBody>
      </p:sp>
      <p:sp>
        <p:nvSpPr>
          <p:cNvPr id="7" name="Text 5"/>
          <p:cNvSpPr/>
          <p:nvPr/>
        </p:nvSpPr>
        <p:spPr>
          <a:xfrm>
            <a:off x="457200" y="1371600"/>
            <a:ext cx="8229600" cy="41148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We split the data by entire video sequences to prevent data leakage.</a:t>
            </a:r>
            <a:endParaRPr lang="en-US" sz="1400" dirty="0"/>
          </a:p>
        </p:txBody>
      </p:sp>
      <p:sp>
        <p:nvSpPr>
          <p:cNvPr id="8" name="Shape 6"/>
          <p:cNvSpPr/>
          <p:nvPr/>
        </p:nvSpPr>
        <p:spPr>
          <a:xfrm>
            <a:off x="365760" y="1920240"/>
            <a:ext cx="2743200" cy="2651760"/>
          </a:xfrm>
          <a:prstGeom prst="rect">
            <a:avLst/>
          </a:prstGeom>
          <a:solidFill>
            <a:srgbClr val="1B7A8C"/>
          </a:solidFill>
          <a:ln w="12700">
            <a:solidFill>
              <a:srgbClr val="1B7A8C"/>
            </a:solidFill>
            <a:prstDash val="solid"/>
          </a:ln>
          <a:effectLst>
            <a:outerShdw blurRad="101600" dist="38100" dir="8100000" algn="bl" rotWithShape="0">
              <a:srgbClr val="000000">
                <a:alpha val="18000"/>
              </a:srgbClr>
            </a:outerShdw>
          </a:effectLst>
        </p:spPr>
        <p:txBody>
          <a:bodyPr/>
          <a:lstStyle/>
          <a:p>
            <a:endParaRPr lang="en-ZA"/>
          </a:p>
        </p:txBody>
      </p:sp>
      <p:sp>
        <p:nvSpPr>
          <p:cNvPr id="9" name="Text 7"/>
          <p:cNvSpPr/>
          <p:nvPr/>
        </p:nvSpPr>
        <p:spPr>
          <a:xfrm>
            <a:off x="365760" y="2011680"/>
            <a:ext cx="274320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Training Set</a:t>
            </a:r>
            <a:endParaRPr lang="en-US" sz="1400" dirty="0"/>
          </a:p>
        </p:txBody>
      </p:sp>
      <p:sp>
        <p:nvSpPr>
          <p:cNvPr id="10" name="Text 8"/>
          <p:cNvSpPr/>
          <p:nvPr/>
        </p:nvSpPr>
        <p:spPr>
          <a:xfrm>
            <a:off x="365760" y="2468880"/>
            <a:ext cx="2743200" cy="731520"/>
          </a:xfrm>
          <a:prstGeom prst="rect">
            <a:avLst/>
          </a:prstGeom>
          <a:noFill/>
          <a:ln/>
        </p:spPr>
        <p:txBody>
          <a:bodyPr wrap="square" lIns="0" tIns="0" rIns="0" bIns="0" rtlCol="0" anchor="ctr"/>
          <a:lstStyle/>
          <a:p>
            <a:pPr marL="0" indent="0" algn="ctr">
              <a:buNone/>
            </a:pPr>
            <a:r>
              <a:rPr lang="en-US" sz="3800" b="1" dirty="0">
                <a:solidFill>
                  <a:srgbClr val="F6B93B"/>
                </a:solidFill>
                <a:latin typeface="Cambria" pitchFamily="34" charset="0"/>
                <a:ea typeface="Cambria" pitchFamily="34" charset="-122"/>
                <a:cs typeface="Cambria" pitchFamily="34" charset="-120"/>
              </a:rPr>
              <a:t>40%</a:t>
            </a:r>
            <a:endParaRPr lang="en-US" sz="3800" dirty="0"/>
          </a:p>
        </p:txBody>
      </p:sp>
      <p:sp>
        <p:nvSpPr>
          <p:cNvPr id="11" name="Text 9"/>
          <p:cNvSpPr/>
          <p:nvPr/>
        </p:nvSpPr>
        <p:spPr>
          <a:xfrm>
            <a:off x="365760" y="3246120"/>
            <a:ext cx="2743200" cy="3200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Video 9, Video 10</a:t>
            </a:r>
            <a:endParaRPr lang="en-US" sz="1200" dirty="0"/>
          </a:p>
        </p:txBody>
      </p:sp>
      <p:sp>
        <p:nvSpPr>
          <p:cNvPr id="12" name="Text 10"/>
          <p:cNvSpPr/>
          <p:nvPr/>
        </p:nvSpPr>
        <p:spPr>
          <a:xfrm>
            <a:off x="365760" y="3611880"/>
            <a:ext cx="2743200" cy="777240"/>
          </a:xfrm>
          <a:prstGeom prst="rect">
            <a:avLst/>
          </a:prstGeom>
          <a:noFill/>
          <a:ln/>
        </p:spPr>
        <p:txBody>
          <a:bodyPr wrap="square" lIns="0" tIns="0" rIns="0" bIns="0" rtlCol="0" anchor="ctr"/>
          <a:lstStyle/>
          <a:p>
            <a:pPr marL="0" indent="0" algn="ctr">
              <a:buNone/>
            </a:pPr>
            <a:r>
              <a:rPr lang="en-US" sz="1100" dirty="0">
                <a:solidFill>
                  <a:srgbClr val="CBD5E0"/>
                </a:solidFill>
                <a:latin typeface="Calibri" pitchFamily="34" charset="0"/>
                <a:ea typeface="Calibri" pitchFamily="34" charset="-122"/>
                <a:cs typeface="Calibri" pitchFamily="34" charset="-120"/>
              </a:rPr>
              <a:t>The model learns from these videos</a:t>
            </a:r>
            <a:endParaRPr lang="en-US" sz="1100" dirty="0"/>
          </a:p>
        </p:txBody>
      </p:sp>
      <p:sp>
        <p:nvSpPr>
          <p:cNvPr id="13" name="Shape 11"/>
          <p:cNvSpPr/>
          <p:nvPr/>
        </p:nvSpPr>
        <p:spPr>
          <a:xfrm>
            <a:off x="3291840" y="1920240"/>
            <a:ext cx="2743200" cy="2651760"/>
          </a:xfrm>
          <a:prstGeom prst="rect">
            <a:avLst/>
          </a:prstGeom>
          <a:solidFill>
            <a:srgbClr val="0D1B2A"/>
          </a:solidFill>
          <a:ln w="12700">
            <a:solidFill>
              <a:srgbClr val="0D1B2A"/>
            </a:solidFill>
            <a:prstDash val="solid"/>
          </a:ln>
          <a:effectLst>
            <a:outerShdw blurRad="101600" dist="38100" dir="8100000" algn="bl" rotWithShape="0">
              <a:srgbClr val="000000">
                <a:alpha val="18000"/>
              </a:srgbClr>
            </a:outerShdw>
          </a:effectLst>
        </p:spPr>
        <p:txBody>
          <a:bodyPr/>
          <a:lstStyle/>
          <a:p>
            <a:endParaRPr lang="en-ZA"/>
          </a:p>
        </p:txBody>
      </p:sp>
      <p:sp>
        <p:nvSpPr>
          <p:cNvPr id="14" name="Text 12"/>
          <p:cNvSpPr/>
          <p:nvPr/>
        </p:nvSpPr>
        <p:spPr>
          <a:xfrm>
            <a:off x="3291840" y="2011680"/>
            <a:ext cx="274320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Validation Set</a:t>
            </a:r>
            <a:endParaRPr lang="en-US" sz="1400" dirty="0"/>
          </a:p>
        </p:txBody>
      </p:sp>
      <p:sp>
        <p:nvSpPr>
          <p:cNvPr id="15" name="Text 13"/>
          <p:cNvSpPr/>
          <p:nvPr/>
        </p:nvSpPr>
        <p:spPr>
          <a:xfrm>
            <a:off x="3291840" y="2468880"/>
            <a:ext cx="2743200" cy="731520"/>
          </a:xfrm>
          <a:prstGeom prst="rect">
            <a:avLst/>
          </a:prstGeom>
          <a:noFill/>
          <a:ln/>
        </p:spPr>
        <p:txBody>
          <a:bodyPr wrap="square" lIns="0" tIns="0" rIns="0" bIns="0" rtlCol="0" anchor="ctr"/>
          <a:lstStyle/>
          <a:p>
            <a:pPr marL="0" indent="0" algn="ctr">
              <a:buNone/>
            </a:pPr>
            <a:r>
              <a:rPr lang="en-US" sz="3800" b="1" dirty="0">
                <a:solidFill>
                  <a:srgbClr val="F6B93B"/>
                </a:solidFill>
                <a:latin typeface="Cambria" pitchFamily="34" charset="0"/>
                <a:ea typeface="Cambria" pitchFamily="34" charset="-122"/>
                <a:cs typeface="Cambria" pitchFamily="34" charset="-120"/>
              </a:rPr>
              <a:t>40%</a:t>
            </a:r>
            <a:endParaRPr lang="en-US" sz="3800" dirty="0"/>
          </a:p>
        </p:txBody>
      </p:sp>
      <p:sp>
        <p:nvSpPr>
          <p:cNvPr id="16" name="Text 14"/>
          <p:cNvSpPr/>
          <p:nvPr/>
        </p:nvSpPr>
        <p:spPr>
          <a:xfrm>
            <a:off x="3291840" y="3246120"/>
            <a:ext cx="2743200" cy="3200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Video 11, Video 12</a:t>
            </a:r>
            <a:endParaRPr lang="en-US" sz="1200" dirty="0"/>
          </a:p>
        </p:txBody>
      </p:sp>
      <p:sp>
        <p:nvSpPr>
          <p:cNvPr id="17" name="Text 15"/>
          <p:cNvSpPr/>
          <p:nvPr/>
        </p:nvSpPr>
        <p:spPr>
          <a:xfrm>
            <a:off x="3291840" y="3611880"/>
            <a:ext cx="2743200" cy="777240"/>
          </a:xfrm>
          <a:prstGeom prst="rect">
            <a:avLst/>
          </a:prstGeom>
          <a:noFill/>
          <a:ln/>
        </p:spPr>
        <p:txBody>
          <a:bodyPr wrap="square" lIns="0" tIns="0" rIns="0" bIns="0" rtlCol="0" anchor="ctr"/>
          <a:lstStyle/>
          <a:p>
            <a:pPr marL="0" indent="0" algn="ctr">
              <a:buNone/>
            </a:pPr>
            <a:r>
              <a:rPr lang="en-US" sz="1100" dirty="0">
                <a:solidFill>
                  <a:srgbClr val="CBD5E0"/>
                </a:solidFill>
                <a:latin typeface="Calibri" pitchFamily="34" charset="0"/>
                <a:ea typeface="Calibri" pitchFamily="34" charset="-122"/>
                <a:cs typeface="Calibri" pitchFamily="34" charset="-120"/>
              </a:rPr>
              <a:t>Used to tune and check during training</a:t>
            </a:r>
            <a:endParaRPr lang="en-US" sz="1100" dirty="0"/>
          </a:p>
        </p:txBody>
      </p:sp>
      <p:sp>
        <p:nvSpPr>
          <p:cNvPr id="18" name="Shape 16"/>
          <p:cNvSpPr/>
          <p:nvPr/>
        </p:nvSpPr>
        <p:spPr>
          <a:xfrm>
            <a:off x="6217920" y="1920240"/>
            <a:ext cx="2743200" cy="2651760"/>
          </a:xfrm>
          <a:prstGeom prst="rect">
            <a:avLst/>
          </a:prstGeom>
          <a:solidFill>
            <a:schemeClr val="accent5"/>
          </a:solidFill>
          <a:ln w="12700">
            <a:solidFill>
              <a:srgbClr val="F6B93B"/>
            </a:solidFill>
            <a:prstDash val="solid"/>
          </a:ln>
          <a:effectLst>
            <a:outerShdw blurRad="101600" dist="38100" dir="8100000" algn="bl" rotWithShape="0">
              <a:srgbClr val="000000">
                <a:alpha val="18000"/>
              </a:srgbClr>
            </a:outerShdw>
          </a:effectLst>
        </p:spPr>
        <p:txBody>
          <a:bodyPr/>
          <a:lstStyle/>
          <a:p>
            <a:endParaRPr lang="en-ZA"/>
          </a:p>
        </p:txBody>
      </p:sp>
      <p:sp>
        <p:nvSpPr>
          <p:cNvPr id="19" name="Text 17"/>
          <p:cNvSpPr/>
          <p:nvPr/>
        </p:nvSpPr>
        <p:spPr>
          <a:xfrm>
            <a:off x="6217920" y="2011680"/>
            <a:ext cx="274320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Test Set</a:t>
            </a:r>
            <a:endParaRPr lang="en-US" sz="1400" dirty="0"/>
          </a:p>
        </p:txBody>
      </p:sp>
      <p:sp>
        <p:nvSpPr>
          <p:cNvPr id="20" name="Text 18"/>
          <p:cNvSpPr/>
          <p:nvPr/>
        </p:nvSpPr>
        <p:spPr>
          <a:xfrm>
            <a:off x="6217920" y="2468880"/>
            <a:ext cx="2743200" cy="731520"/>
          </a:xfrm>
          <a:prstGeom prst="rect">
            <a:avLst/>
          </a:prstGeom>
          <a:noFill/>
          <a:ln/>
        </p:spPr>
        <p:txBody>
          <a:bodyPr wrap="square" lIns="0" tIns="0" rIns="0" bIns="0" rtlCol="0" anchor="ctr"/>
          <a:lstStyle/>
          <a:p>
            <a:pPr marL="0" indent="0" algn="ctr">
              <a:buNone/>
            </a:pPr>
            <a:r>
              <a:rPr lang="en-US" sz="3800" b="1" dirty="0">
                <a:solidFill>
                  <a:srgbClr val="F6B93B"/>
                </a:solidFill>
                <a:latin typeface="Cambria" pitchFamily="34" charset="0"/>
                <a:ea typeface="Cambria" pitchFamily="34" charset="-122"/>
                <a:cs typeface="Cambria" pitchFamily="34" charset="-120"/>
              </a:rPr>
              <a:t>20%</a:t>
            </a:r>
            <a:endParaRPr lang="en-US" sz="3800" dirty="0"/>
          </a:p>
        </p:txBody>
      </p:sp>
      <p:sp>
        <p:nvSpPr>
          <p:cNvPr id="21" name="Text 19"/>
          <p:cNvSpPr/>
          <p:nvPr/>
        </p:nvSpPr>
        <p:spPr>
          <a:xfrm>
            <a:off x="6217920" y="3246120"/>
            <a:ext cx="2743200" cy="3200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Video 13</a:t>
            </a:r>
            <a:endParaRPr lang="en-US" sz="1200" dirty="0"/>
          </a:p>
        </p:txBody>
      </p:sp>
      <p:sp>
        <p:nvSpPr>
          <p:cNvPr id="22" name="Text 20"/>
          <p:cNvSpPr/>
          <p:nvPr/>
        </p:nvSpPr>
        <p:spPr>
          <a:xfrm>
            <a:off x="6217920" y="3611880"/>
            <a:ext cx="2743200" cy="777240"/>
          </a:xfrm>
          <a:prstGeom prst="rect">
            <a:avLst/>
          </a:prstGeom>
          <a:noFill/>
          <a:ln/>
        </p:spPr>
        <p:txBody>
          <a:bodyPr wrap="square" lIns="0" tIns="0" rIns="0" bIns="0" rtlCol="0" anchor="ctr"/>
          <a:lstStyle/>
          <a:p>
            <a:pPr marL="0" indent="0" algn="ctr">
              <a:buNone/>
            </a:pPr>
            <a:r>
              <a:rPr lang="en-US" sz="1100" dirty="0">
                <a:solidFill>
                  <a:srgbClr val="CBD5E0"/>
                </a:solidFill>
                <a:latin typeface="Calibri" pitchFamily="34" charset="0"/>
                <a:ea typeface="Calibri" pitchFamily="34" charset="-122"/>
                <a:cs typeface="Calibri" pitchFamily="34" charset="-120"/>
              </a:rPr>
              <a:t>Never seen until final evaluation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3 — METHODOLOGY</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Data Processing Pipeline</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11 / 35</a:t>
            </a:r>
            <a:endParaRPr lang="en-US" sz="900" dirty="0"/>
          </a:p>
        </p:txBody>
      </p:sp>
      <p:sp>
        <p:nvSpPr>
          <p:cNvPr id="7" name="Shape 5"/>
          <p:cNvSpPr/>
          <p:nvPr/>
        </p:nvSpPr>
        <p:spPr>
          <a:xfrm>
            <a:off x="365760" y="1417320"/>
            <a:ext cx="2606040" cy="137160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8" name="Shape 6"/>
          <p:cNvSpPr/>
          <p:nvPr/>
        </p:nvSpPr>
        <p:spPr>
          <a:xfrm>
            <a:off x="365760" y="1417320"/>
            <a:ext cx="2606040" cy="411480"/>
          </a:xfrm>
          <a:prstGeom prst="rect">
            <a:avLst/>
          </a:prstGeom>
          <a:solidFill>
            <a:srgbClr val="1B7A8C"/>
          </a:solidFill>
          <a:ln w="12700">
            <a:solidFill>
              <a:srgbClr val="1B7A8C"/>
            </a:solidFill>
            <a:prstDash val="solid"/>
          </a:ln>
        </p:spPr>
        <p:txBody>
          <a:bodyPr/>
          <a:lstStyle/>
          <a:p>
            <a:endParaRPr lang="en-ZA"/>
          </a:p>
        </p:txBody>
      </p:sp>
      <p:sp>
        <p:nvSpPr>
          <p:cNvPr id="9" name="Text 7"/>
          <p:cNvSpPr/>
          <p:nvPr/>
        </p:nvSpPr>
        <p:spPr>
          <a:xfrm>
            <a:off x="365760" y="1417320"/>
            <a:ext cx="2606040" cy="411480"/>
          </a:xfrm>
          <a:prstGeom prst="rect">
            <a:avLst/>
          </a:prstGeom>
          <a:noFill/>
          <a:ln/>
        </p:spPr>
        <p:txBody>
          <a:bodyPr wrap="square" lIns="0" tIns="0" rIns="0" bIns="0" rtlCol="0" anchor="ctr"/>
          <a:lstStyle/>
          <a:p>
            <a:pPr marL="0" indent="0" algn="ctr">
              <a:buNone/>
            </a:pPr>
            <a:r>
              <a:rPr lang="en-US" sz="1200" b="1" dirty="0">
                <a:solidFill>
                  <a:srgbClr val="FFFFFF"/>
                </a:solidFill>
              </a:rPr>
              <a:t>Step 1: XML Parsing</a:t>
            </a:r>
            <a:endParaRPr lang="en-US" sz="1200" dirty="0"/>
          </a:p>
        </p:txBody>
      </p:sp>
      <p:sp>
        <p:nvSpPr>
          <p:cNvPr id="10" name="Text 8"/>
          <p:cNvSpPr/>
          <p:nvPr/>
        </p:nvSpPr>
        <p:spPr>
          <a:xfrm>
            <a:off x="457200" y="1892808"/>
            <a:ext cx="2423160" cy="804672"/>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Read object tracklets from KITTI annotation files</a:t>
            </a:r>
            <a:endParaRPr lang="en-US" sz="1200" dirty="0"/>
          </a:p>
        </p:txBody>
      </p:sp>
      <p:sp>
        <p:nvSpPr>
          <p:cNvPr id="11" name="Shape 9"/>
          <p:cNvSpPr/>
          <p:nvPr/>
        </p:nvSpPr>
        <p:spPr>
          <a:xfrm>
            <a:off x="3200400" y="1417320"/>
            <a:ext cx="2606040" cy="137160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2" name="Shape 10"/>
          <p:cNvSpPr/>
          <p:nvPr/>
        </p:nvSpPr>
        <p:spPr>
          <a:xfrm>
            <a:off x="3200400" y="1417320"/>
            <a:ext cx="2606040" cy="411480"/>
          </a:xfrm>
          <a:prstGeom prst="rect">
            <a:avLst/>
          </a:prstGeom>
          <a:solidFill>
            <a:srgbClr val="1B7A8C"/>
          </a:solidFill>
          <a:ln w="12700">
            <a:solidFill>
              <a:srgbClr val="1B7A8C"/>
            </a:solidFill>
            <a:prstDash val="solid"/>
          </a:ln>
        </p:spPr>
        <p:txBody>
          <a:bodyPr/>
          <a:lstStyle/>
          <a:p>
            <a:endParaRPr lang="en-ZA"/>
          </a:p>
        </p:txBody>
      </p:sp>
      <p:sp>
        <p:nvSpPr>
          <p:cNvPr id="13" name="Text 11"/>
          <p:cNvSpPr/>
          <p:nvPr/>
        </p:nvSpPr>
        <p:spPr>
          <a:xfrm>
            <a:off x="3200400" y="1417320"/>
            <a:ext cx="2606040" cy="411480"/>
          </a:xfrm>
          <a:prstGeom prst="rect">
            <a:avLst/>
          </a:prstGeom>
          <a:noFill/>
          <a:ln/>
        </p:spPr>
        <p:txBody>
          <a:bodyPr wrap="square" lIns="0" tIns="0" rIns="0" bIns="0" rtlCol="0" anchor="ctr"/>
          <a:lstStyle/>
          <a:p>
            <a:pPr marL="0" indent="0" algn="ctr">
              <a:buNone/>
            </a:pPr>
            <a:r>
              <a:rPr lang="en-US" sz="1200" b="1" dirty="0">
                <a:solidFill>
                  <a:srgbClr val="FFFFFF"/>
                </a:solidFill>
              </a:rPr>
              <a:t>Step 2: Calibration</a:t>
            </a:r>
            <a:endParaRPr lang="en-US" sz="1200" dirty="0"/>
          </a:p>
        </p:txBody>
      </p:sp>
      <p:sp>
        <p:nvSpPr>
          <p:cNvPr id="14" name="Text 12"/>
          <p:cNvSpPr/>
          <p:nvPr/>
        </p:nvSpPr>
        <p:spPr>
          <a:xfrm>
            <a:off x="3291840" y="1892808"/>
            <a:ext cx="2423160" cy="804672"/>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Project 3D LiDAR points into 2D image space</a:t>
            </a:r>
            <a:endParaRPr lang="en-US" sz="1200" dirty="0"/>
          </a:p>
        </p:txBody>
      </p:sp>
      <p:sp>
        <p:nvSpPr>
          <p:cNvPr id="15" name="Shape 13"/>
          <p:cNvSpPr/>
          <p:nvPr/>
        </p:nvSpPr>
        <p:spPr>
          <a:xfrm>
            <a:off x="6035040" y="1417320"/>
            <a:ext cx="2606040" cy="137160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6" name="Shape 14"/>
          <p:cNvSpPr/>
          <p:nvPr/>
        </p:nvSpPr>
        <p:spPr>
          <a:xfrm>
            <a:off x="6035040" y="1417320"/>
            <a:ext cx="2606040" cy="411480"/>
          </a:xfrm>
          <a:prstGeom prst="rect">
            <a:avLst/>
          </a:prstGeom>
          <a:solidFill>
            <a:srgbClr val="1B7A8C"/>
          </a:solidFill>
          <a:ln w="12700">
            <a:solidFill>
              <a:srgbClr val="1B7A8C"/>
            </a:solidFill>
            <a:prstDash val="solid"/>
          </a:ln>
        </p:spPr>
        <p:txBody>
          <a:bodyPr/>
          <a:lstStyle/>
          <a:p>
            <a:endParaRPr lang="en-ZA"/>
          </a:p>
        </p:txBody>
      </p:sp>
      <p:sp>
        <p:nvSpPr>
          <p:cNvPr id="17" name="Text 15"/>
          <p:cNvSpPr/>
          <p:nvPr/>
        </p:nvSpPr>
        <p:spPr>
          <a:xfrm>
            <a:off x="6035040" y="1417320"/>
            <a:ext cx="2606040" cy="411480"/>
          </a:xfrm>
          <a:prstGeom prst="rect">
            <a:avLst/>
          </a:prstGeom>
          <a:noFill/>
          <a:ln/>
        </p:spPr>
        <p:txBody>
          <a:bodyPr wrap="square" lIns="0" tIns="0" rIns="0" bIns="0" rtlCol="0" anchor="ctr"/>
          <a:lstStyle/>
          <a:p>
            <a:pPr marL="0" indent="0" algn="ctr">
              <a:buNone/>
            </a:pPr>
            <a:r>
              <a:rPr lang="en-US" sz="1200" b="1" dirty="0">
                <a:solidFill>
                  <a:srgbClr val="FFFFFF"/>
                </a:solidFill>
              </a:rPr>
              <a:t>Step 3: Image Loading</a:t>
            </a:r>
            <a:endParaRPr lang="en-US" sz="1200" dirty="0"/>
          </a:p>
        </p:txBody>
      </p:sp>
      <p:sp>
        <p:nvSpPr>
          <p:cNvPr id="18" name="Text 16"/>
          <p:cNvSpPr/>
          <p:nvPr/>
        </p:nvSpPr>
        <p:spPr>
          <a:xfrm>
            <a:off x="6126480" y="1892808"/>
            <a:ext cx="2423160" cy="804672"/>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Load and resize driving frames to 224×224</a:t>
            </a:r>
            <a:endParaRPr lang="en-US" sz="1200" dirty="0"/>
          </a:p>
        </p:txBody>
      </p:sp>
      <p:sp>
        <p:nvSpPr>
          <p:cNvPr id="19" name="Shape 17"/>
          <p:cNvSpPr/>
          <p:nvPr/>
        </p:nvSpPr>
        <p:spPr>
          <a:xfrm>
            <a:off x="365760" y="3063240"/>
            <a:ext cx="2606040" cy="137160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0" name="Shape 18"/>
          <p:cNvSpPr/>
          <p:nvPr/>
        </p:nvSpPr>
        <p:spPr>
          <a:xfrm>
            <a:off x="365760" y="3063240"/>
            <a:ext cx="2606040" cy="411480"/>
          </a:xfrm>
          <a:prstGeom prst="rect">
            <a:avLst/>
          </a:prstGeom>
          <a:solidFill>
            <a:srgbClr val="1B7A8C"/>
          </a:solidFill>
          <a:ln w="12700">
            <a:solidFill>
              <a:srgbClr val="1B7A8C"/>
            </a:solidFill>
            <a:prstDash val="solid"/>
          </a:ln>
        </p:spPr>
        <p:txBody>
          <a:bodyPr/>
          <a:lstStyle/>
          <a:p>
            <a:endParaRPr lang="en-ZA"/>
          </a:p>
        </p:txBody>
      </p:sp>
      <p:sp>
        <p:nvSpPr>
          <p:cNvPr id="21" name="Text 19"/>
          <p:cNvSpPr/>
          <p:nvPr/>
        </p:nvSpPr>
        <p:spPr>
          <a:xfrm>
            <a:off x="365760" y="3063240"/>
            <a:ext cx="2606040" cy="411480"/>
          </a:xfrm>
          <a:prstGeom prst="rect">
            <a:avLst/>
          </a:prstGeom>
          <a:noFill/>
          <a:ln/>
        </p:spPr>
        <p:txBody>
          <a:bodyPr wrap="square" lIns="0" tIns="0" rIns="0" bIns="0" rtlCol="0" anchor="ctr"/>
          <a:lstStyle/>
          <a:p>
            <a:pPr marL="0" indent="0" algn="ctr">
              <a:buNone/>
            </a:pPr>
            <a:r>
              <a:rPr lang="en-US" sz="1200" b="1" dirty="0">
                <a:solidFill>
                  <a:srgbClr val="FFFFFF"/>
                </a:solidFill>
              </a:rPr>
              <a:t>Step 4: Feature Extract</a:t>
            </a:r>
            <a:endParaRPr lang="en-US" sz="1200" dirty="0"/>
          </a:p>
        </p:txBody>
      </p:sp>
      <p:sp>
        <p:nvSpPr>
          <p:cNvPr id="22" name="Text 20"/>
          <p:cNvSpPr/>
          <p:nvPr/>
        </p:nvSpPr>
        <p:spPr>
          <a:xfrm>
            <a:off x="457200" y="3538728"/>
            <a:ext cx="2423160" cy="804672"/>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Extract 256-dim visual features via ResNet-50</a:t>
            </a:r>
            <a:endParaRPr lang="en-US" sz="1200" dirty="0"/>
          </a:p>
        </p:txBody>
      </p:sp>
      <p:sp>
        <p:nvSpPr>
          <p:cNvPr id="23" name="Shape 21"/>
          <p:cNvSpPr/>
          <p:nvPr/>
        </p:nvSpPr>
        <p:spPr>
          <a:xfrm>
            <a:off x="3200400" y="3063240"/>
            <a:ext cx="2606040" cy="137160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4" name="Shape 22"/>
          <p:cNvSpPr/>
          <p:nvPr/>
        </p:nvSpPr>
        <p:spPr>
          <a:xfrm>
            <a:off x="3200400" y="3063240"/>
            <a:ext cx="2606040" cy="411480"/>
          </a:xfrm>
          <a:prstGeom prst="rect">
            <a:avLst/>
          </a:prstGeom>
          <a:solidFill>
            <a:srgbClr val="1B7A8C"/>
          </a:solidFill>
          <a:ln w="12700">
            <a:solidFill>
              <a:srgbClr val="1B7A8C"/>
            </a:solidFill>
            <a:prstDash val="solid"/>
          </a:ln>
        </p:spPr>
        <p:txBody>
          <a:bodyPr/>
          <a:lstStyle/>
          <a:p>
            <a:endParaRPr lang="en-ZA"/>
          </a:p>
        </p:txBody>
      </p:sp>
      <p:sp>
        <p:nvSpPr>
          <p:cNvPr id="25" name="Text 23"/>
          <p:cNvSpPr/>
          <p:nvPr/>
        </p:nvSpPr>
        <p:spPr>
          <a:xfrm>
            <a:off x="3200400" y="3063240"/>
            <a:ext cx="2606040" cy="411480"/>
          </a:xfrm>
          <a:prstGeom prst="rect">
            <a:avLst/>
          </a:prstGeom>
          <a:noFill/>
          <a:ln/>
        </p:spPr>
        <p:txBody>
          <a:bodyPr wrap="square" lIns="0" tIns="0" rIns="0" bIns="0" rtlCol="0" anchor="ctr"/>
          <a:lstStyle/>
          <a:p>
            <a:pPr marL="0" indent="0" algn="ctr">
              <a:buNone/>
            </a:pPr>
            <a:r>
              <a:rPr lang="en-US" sz="1200" b="1" dirty="0">
                <a:solidFill>
                  <a:srgbClr val="FFFFFF"/>
                </a:solidFill>
              </a:rPr>
              <a:t>Step 5: Sequence Build</a:t>
            </a:r>
            <a:endParaRPr lang="en-US" sz="1200" dirty="0"/>
          </a:p>
        </p:txBody>
      </p:sp>
      <p:sp>
        <p:nvSpPr>
          <p:cNvPr id="26" name="Text 24"/>
          <p:cNvSpPr/>
          <p:nvPr/>
        </p:nvSpPr>
        <p:spPr>
          <a:xfrm>
            <a:off x="3291840" y="3538728"/>
            <a:ext cx="2423160" cy="804672"/>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Group into 32-frame temporal sequences</a:t>
            </a:r>
            <a:endParaRPr lang="en-US" sz="1200" dirty="0"/>
          </a:p>
        </p:txBody>
      </p:sp>
      <p:sp>
        <p:nvSpPr>
          <p:cNvPr id="27" name="Shape 25"/>
          <p:cNvSpPr/>
          <p:nvPr/>
        </p:nvSpPr>
        <p:spPr>
          <a:xfrm>
            <a:off x="6035040" y="3063240"/>
            <a:ext cx="2606040" cy="137160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8" name="Shape 26"/>
          <p:cNvSpPr/>
          <p:nvPr/>
        </p:nvSpPr>
        <p:spPr>
          <a:xfrm>
            <a:off x="6035040" y="3063240"/>
            <a:ext cx="2606040" cy="411480"/>
          </a:xfrm>
          <a:prstGeom prst="rect">
            <a:avLst/>
          </a:prstGeom>
          <a:solidFill>
            <a:srgbClr val="1B7A8C"/>
          </a:solidFill>
          <a:ln w="12700">
            <a:solidFill>
              <a:srgbClr val="1B7A8C"/>
            </a:solidFill>
            <a:prstDash val="solid"/>
          </a:ln>
        </p:spPr>
        <p:txBody>
          <a:bodyPr/>
          <a:lstStyle/>
          <a:p>
            <a:endParaRPr lang="en-ZA"/>
          </a:p>
        </p:txBody>
      </p:sp>
      <p:sp>
        <p:nvSpPr>
          <p:cNvPr id="29" name="Text 27"/>
          <p:cNvSpPr/>
          <p:nvPr/>
        </p:nvSpPr>
        <p:spPr>
          <a:xfrm>
            <a:off x="6035040" y="3063240"/>
            <a:ext cx="2606040" cy="411480"/>
          </a:xfrm>
          <a:prstGeom prst="rect">
            <a:avLst/>
          </a:prstGeom>
          <a:noFill/>
          <a:ln/>
        </p:spPr>
        <p:txBody>
          <a:bodyPr wrap="square" lIns="0" tIns="0" rIns="0" bIns="0" rtlCol="0" anchor="ctr"/>
          <a:lstStyle/>
          <a:p>
            <a:pPr marL="0" indent="0" algn="ctr">
              <a:buNone/>
            </a:pPr>
            <a:r>
              <a:rPr lang="en-US" sz="1200" b="1" dirty="0">
                <a:solidFill>
                  <a:srgbClr val="FFFFFF"/>
                </a:solidFill>
              </a:rPr>
              <a:t>Step 6: Tensor Format</a:t>
            </a:r>
            <a:endParaRPr lang="en-US" sz="1200" dirty="0"/>
          </a:p>
        </p:txBody>
      </p:sp>
      <p:sp>
        <p:nvSpPr>
          <p:cNvPr id="30" name="Text 28"/>
          <p:cNvSpPr/>
          <p:nvPr/>
        </p:nvSpPr>
        <p:spPr>
          <a:xfrm>
            <a:off x="6126480" y="3538728"/>
            <a:ext cx="2423160" cy="804672"/>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Convert to PyTorch tensors for the model</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3 — METHODOLOGY</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Ground Truth Visualisation</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12 / 35</a:t>
            </a:r>
            <a:endParaRPr lang="en-US" sz="900" dirty="0"/>
          </a:p>
        </p:txBody>
      </p:sp>
      <p:sp>
        <p:nvSpPr>
          <p:cNvPr id="7" name="Text 5"/>
          <p:cNvSpPr/>
          <p:nvPr/>
        </p:nvSpPr>
        <p:spPr>
          <a:xfrm>
            <a:off x="457200" y="1371600"/>
            <a:ext cx="8229600" cy="45720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Before training, we visualised annotated bounding boxes to confirm data quality and correct calibration.</a:t>
            </a:r>
            <a:endParaRPr lang="en-US" sz="1400" dirty="0"/>
          </a:p>
        </p:txBody>
      </p:sp>
      <p:sp>
        <p:nvSpPr>
          <p:cNvPr id="8" name="Shape 6"/>
          <p:cNvSpPr/>
          <p:nvPr/>
        </p:nvSpPr>
        <p:spPr>
          <a:xfrm>
            <a:off x="457200" y="1920240"/>
            <a:ext cx="5029200" cy="2743200"/>
          </a:xfrm>
          <a:prstGeom prst="rect">
            <a:avLst/>
          </a:prstGeom>
          <a:solidFill>
            <a:srgbClr val="1A1A2E"/>
          </a:solidFill>
          <a:ln w="12700">
            <a:solidFill>
              <a:srgbClr val="CBD5E0"/>
            </a:solidFill>
            <a:prstDash val="solid"/>
          </a:ln>
        </p:spPr>
        <p:txBody>
          <a:bodyPr/>
          <a:lstStyle/>
          <a:p>
            <a:endParaRPr lang="en-ZA"/>
          </a:p>
        </p:txBody>
      </p:sp>
      <p:sp>
        <p:nvSpPr>
          <p:cNvPr id="9" name="Shape 7"/>
          <p:cNvSpPr/>
          <p:nvPr/>
        </p:nvSpPr>
        <p:spPr>
          <a:xfrm>
            <a:off x="914400" y="2377440"/>
            <a:ext cx="1371600" cy="822960"/>
          </a:xfrm>
          <a:prstGeom prst="rect">
            <a:avLst/>
          </a:prstGeom>
          <a:solidFill>
            <a:srgbClr val="002200">
              <a:alpha val="70000"/>
            </a:srgbClr>
          </a:solidFill>
          <a:ln w="25400">
            <a:solidFill>
              <a:srgbClr val="1B7A8C"/>
            </a:solidFill>
            <a:prstDash val="solid"/>
          </a:ln>
        </p:spPr>
        <p:txBody>
          <a:bodyPr/>
          <a:lstStyle/>
          <a:p>
            <a:endParaRPr lang="en-ZA"/>
          </a:p>
        </p:txBody>
      </p:sp>
      <p:sp>
        <p:nvSpPr>
          <p:cNvPr id="10" name="Shape 8"/>
          <p:cNvSpPr/>
          <p:nvPr/>
        </p:nvSpPr>
        <p:spPr>
          <a:xfrm>
            <a:off x="2743200" y="2286000"/>
            <a:ext cx="1828800" cy="1005840"/>
          </a:xfrm>
          <a:prstGeom prst="rect">
            <a:avLst/>
          </a:prstGeom>
          <a:solidFill>
            <a:srgbClr val="220000">
              <a:alpha val="70000"/>
            </a:srgbClr>
          </a:solidFill>
          <a:ln w="25400">
            <a:solidFill>
              <a:srgbClr val="F6B93B"/>
            </a:solidFill>
            <a:prstDash val="solid"/>
          </a:ln>
        </p:spPr>
        <p:txBody>
          <a:bodyPr/>
          <a:lstStyle/>
          <a:p>
            <a:endParaRPr lang="en-ZA"/>
          </a:p>
        </p:txBody>
      </p:sp>
      <p:sp>
        <p:nvSpPr>
          <p:cNvPr id="11" name="Shape 9"/>
          <p:cNvSpPr/>
          <p:nvPr/>
        </p:nvSpPr>
        <p:spPr>
          <a:xfrm>
            <a:off x="1828800" y="3474720"/>
            <a:ext cx="548640" cy="914400"/>
          </a:xfrm>
          <a:prstGeom prst="rect">
            <a:avLst/>
          </a:prstGeom>
          <a:solidFill>
            <a:srgbClr val="000022">
              <a:alpha val="70000"/>
            </a:srgbClr>
          </a:solidFill>
          <a:ln w="25400">
            <a:solidFill>
              <a:srgbClr val="27AE60"/>
            </a:solidFill>
            <a:prstDash val="solid"/>
          </a:ln>
        </p:spPr>
        <p:txBody>
          <a:bodyPr/>
          <a:lstStyle/>
          <a:p>
            <a:endParaRPr lang="en-ZA"/>
          </a:p>
        </p:txBody>
      </p:sp>
      <p:sp>
        <p:nvSpPr>
          <p:cNvPr id="12" name="Text 10"/>
          <p:cNvSpPr/>
          <p:nvPr/>
        </p:nvSpPr>
        <p:spPr>
          <a:xfrm>
            <a:off x="914400" y="2395728"/>
            <a:ext cx="1371600" cy="274320"/>
          </a:xfrm>
          <a:prstGeom prst="rect">
            <a:avLst/>
          </a:prstGeom>
          <a:noFill/>
          <a:ln/>
        </p:spPr>
        <p:txBody>
          <a:bodyPr wrap="square" lIns="0" tIns="0" rIns="0" bIns="0" rtlCol="0" anchor="ctr"/>
          <a:lstStyle/>
          <a:p>
            <a:pPr marL="0" indent="0" algn="ctr">
              <a:buNone/>
            </a:pPr>
            <a:r>
              <a:rPr lang="en-US" sz="900" b="1" dirty="0">
                <a:solidFill>
                  <a:srgbClr val="1B7A8C"/>
                </a:solidFill>
              </a:rPr>
              <a:t>Car</a:t>
            </a:r>
            <a:endParaRPr lang="en-US" sz="900" dirty="0"/>
          </a:p>
        </p:txBody>
      </p:sp>
      <p:sp>
        <p:nvSpPr>
          <p:cNvPr id="13" name="Text 11"/>
          <p:cNvSpPr/>
          <p:nvPr/>
        </p:nvSpPr>
        <p:spPr>
          <a:xfrm>
            <a:off x="2743200" y="2304288"/>
            <a:ext cx="1828800" cy="274320"/>
          </a:xfrm>
          <a:prstGeom prst="rect">
            <a:avLst/>
          </a:prstGeom>
          <a:noFill/>
          <a:ln/>
        </p:spPr>
        <p:txBody>
          <a:bodyPr wrap="square" lIns="0" tIns="0" rIns="0" bIns="0" rtlCol="0" anchor="ctr"/>
          <a:lstStyle/>
          <a:p>
            <a:pPr marL="0" indent="0" algn="ctr">
              <a:buNone/>
            </a:pPr>
            <a:r>
              <a:rPr lang="en-US" sz="900" b="1" dirty="0">
                <a:solidFill>
                  <a:srgbClr val="F6B93B"/>
                </a:solidFill>
              </a:rPr>
              <a:t>Van</a:t>
            </a:r>
            <a:endParaRPr lang="en-US" sz="900" dirty="0"/>
          </a:p>
        </p:txBody>
      </p:sp>
      <p:sp>
        <p:nvSpPr>
          <p:cNvPr id="14" name="Text 12"/>
          <p:cNvSpPr/>
          <p:nvPr/>
        </p:nvSpPr>
        <p:spPr>
          <a:xfrm>
            <a:off x="1828800" y="3493008"/>
            <a:ext cx="548640" cy="274320"/>
          </a:xfrm>
          <a:prstGeom prst="rect">
            <a:avLst/>
          </a:prstGeom>
          <a:noFill/>
          <a:ln/>
        </p:spPr>
        <p:txBody>
          <a:bodyPr wrap="square" lIns="0" tIns="0" rIns="0" bIns="0" rtlCol="0" anchor="ctr"/>
          <a:lstStyle/>
          <a:p>
            <a:pPr marL="0" indent="0" algn="ctr">
              <a:buNone/>
            </a:pPr>
            <a:r>
              <a:rPr lang="en-US" sz="800" b="1" dirty="0">
                <a:solidFill>
                  <a:srgbClr val="27AE60"/>
                </a:solidFill>
              </a:rPr>
              <a:t>Pedestrian</a:t>
            </a:r>
            <a:endParaRPr lang="en-US" sz="800" dirty="0"/>
          </a:p>
        </p:txBody>
      </p:sp>
      <p:sp>
        <p:nvSpPr>
          <p:cNvPr id="15" name="Text 13"/>
          <p:cNvSpPr/>
          <p:nvPr/>
        </p:nvSpPr>
        <p:spPr>
          <a:xfrm>
            <a:off x="457200" y="4709160"/>
            <a:ext cx="5029200" cy="274320"/>
          </a:xfrm>
          <a:prstGeom prst="rect">
            <a:avLst/>
          </a:prstGeom>
          <a:noFill/>
          <a:ln/>
        </p:spPr>
        <p:txBody>
          <a:bodyPr wrap="square" lIns="0" tIns="0" rIns="0" bIns="0" rtlCol="0" anchor="ctr"/>
          <a:lstStyle/>
          <a:p>
            <a:pPr marL="0" indent="0" algn="ctr">
              <a:buNone/>
            </a:pPr>
            <a:r>
              <a:rPr lang="en-US" sz="1000" i="1" dirty="0">
                <a:solidFill>
                  <a:srgbClr val="4A5568"/>
                </a:solidFill>
              </a:rPr>
              <a:t>Ground-truth bounding box overlay</a:t>
            </a:r>
            <a:endParaRPr lang="en-US" sz="1000" dirty="0"/>
          </a:p>
        </p:txBody>
      </p:sp>
      <p:sp>
        <p:nvSpPr>
          <p:cNvPr id="16" name="Text 14"/>
          <p:cNvSpPr/>
          <p:nvPr/>
        </p:nvSpPr>
        <p:spPr>
          <a:xfrm>
            <a:off x="5760720" y="1920240"/>
            <a:ext cx="3017520" cy="320040"/>
          </a:xfrm>
          <a:prstGeom prst="rect">
            <a:avLst/>
          </a:prstGeom>
          <a:noFill/>
          <a:ln/>
        </p:spPr>
        <p:txBody>
          <a:bodyPr wrap="square" lIns="0" tIns="0" rIns="0" bIns="0" rtlCol="0" anchor="ctr"/>
          <a:lstStyle/>
          <a:p>
            <a:pPr marL="0" indent="0">
              <a:buNone/>
            </a:pPr>
            <a:r>
              <a:rPr lang="en-US" sz="1300" b="1" dirty="0">
                <a:solidFill>
                  <a:srgbClr val="1B7A8C"/>
                </a:solidFill>
                <a:latin typeface="Cambria" pitchFamily="34" charset="0"/>
                <a:ea typeface="Cambria" pitchFamily="34" charset="-122"/>
                <a:cs typeface="Cambria" pitchFamily="34" charset="-120"/>
              </a:rPr>
              <a:t>Projection Formula</a:t>
            </a:r>
            <a:endParaRPr lang="en-US" sz="1300" dirty="0"/>
          </a:p>
        </p:txBody>
      </p:sp>
      <p:sp>
        <p:nvSpPr>
          <p:cNvPr id="17" name="Shape 15"/>
          <p:cNvSpPr/>
          <p:nvPr/>
        </p:nvSpPr>
        <p:spPr>
          <a:xfrm>
            <a:off x="5760720" y="2331720"/>
            <a:ext cx="3017520" cy="822960"/>
          </a:xfrm>
          <a:prstGeom prst="rect">
            <a:avLst/>
          </a:prstGeom>
          <a:solidFill>
            <a:srgbClr val="0D1B2A"/>
          </a:solidFill>
          <a:ln w="12700">
            <a:solidFill>
              <a:srgbClr val="1B7A8C"/>
            </a:solidFill>
            <a:prstDash val="solid"/>
          </a:ln>
        </p:spPr>
        <p:txBody>
          <a:bodyPr/>
          <a:lstStyle/>
          <a:p>
            <a:endParaRPr lang="en-ZA"/>
          </a:p>
        </p:txBody>
      </p:sp>
      <p:sp>
        <p:nvSpPr>
          <p:cNvPr id="18" name="Text 16"/>
          <p:cNvSpPr/>
          <p:nvPr/>
        </p:nvSpPr>
        <p:spPr>
          <a:xfrm>
            <a:off x="5760720" y="2331720"/>
            <a:ext cx="3017520" cy="822960"/>
          </a:xfrm>
          <a:prstGeom prst="rect">
            <a:avLst/>
          </a:prstGeom>
          <a:noFill/>
          <a:ln/>
        </p:spPr>
        <p:txBody>
          <a:bodyPr wrap="square" lIns="0" tIns="0" rIns="0" bIns="0" rtlCol="0" anchor="ctr"/>
          <a:lstStyle/>
          <a:p>
            <a:pPr marL="0" indent="0" algn="ctr">
              <a:buNone/>
            </a:pPr>
            <a:r>
              <a:rPr lang="en-US" sz="1300" b="1" dirty="0">
                <a:solidFill>
                  <a:srgbClr val="F6B93B"/>
                </a:solidFill>
                <a:latin typeface="Consolas" pitchFamily="34" charset="0"/>
                <a:ea typeface="Consolas" pitchFamily="34" charset="-122"/>
                <a:cs typeface="Consolas" pitchFamily="34" charset="-120"/>
              </a:rPr>
              <a:t>P = P2 × Rrect × Tvelo→cam</a:t>
            </a:r>
            <a:endParaRPr lang="en-US" sz="1300" dirty="0"/>
          </a:p>
        </p:txBody>
      </p:sp>
      <p:sp>
        <p:nvSpPr>
          <p:cNvPr id="19" name="Text 17"/>
          <p:cNvSpPr/>
          <p:nvPr/>
        </p:nvSpPr>
        <p:spPr>
          <a:xfrm>
            <a:off x="5760720" y="3291840"/>
            <a:ext cx="3017520" cy="13716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Maps every 3D LiDAR point into a 2D pixel coordinate on the camera image. This is how we confirm the LiDAR labels align correctly with what the camera sees.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3 — METHODOLOGY</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Model Architecture</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13 / 35</a:t>
            </a:r>
            <a:endParaRPr lang="en-US" sz="900" dirty="0"/>
          </a:p>
        </p:txBody>
      </p:sp>
      <p:sp>
        <p:nvSpPr>
          <p:cNvPr id="7" name="Text 5"/>
          <p:cNvSpPr/>
          <p:nvPr/>
        </p:nvSpPr>
        <p:spPr>
          <a:xfrm>
            <a:off x="457200" y="1371600"/>
            <a:ext cx="8229600" cy="36576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A two-branch pipeline that fuses 3D spatial geometry with 2D visual understanding.</a:t>
            </a:r>
            <a:endParaRPr lang="en-US" sz="1400" dirty="0"/>
          </a:p>
        </p:txBody>
      </p:sp>
      <p:sp>
        <p:nvSpPr>
          <p:cNvPr id="8" name="Shape 6"/>
          <p:cNvSpPr/>
          <p:nvPr/>
        </p:nvSpPr>
        <p:spPr>
          <a:xfrm>
            <a:off x="274320" y="1828800"/>
            <a:ext cx="1737360" cy="914400"/>
          </a:xfrm>
          <a:prstGeom prst="rect">
            <a:avLst/>
          </a:prstGeom>
          <a:solidFill>
            <a:srgbClr val="4A5568"/>
          </a:solidFill>
          <a:ln w="12700">
            <a:solidFill>
              <a:srgbClr val="4A5568"/>
            </a:solidFill>
            <a:prstDash val="solid"/>
          </a:ln>
          <a:effectLst>
            <a:outerShdw blurRad="101600" dist="38100" dir="8100000" algn="bl" rotWithShape="0">
              <a:srgbClr val="000000">
                <a:alpha val="18000"/>
              </a:srgbClr>
            </a:outerShdw>
          </a:effectLst>
        </p:spPr>
        <p:txBody>
          <a:bodyPr/>
          <a:lstStyle/>
          <a:p>
            <a:endParaRPr lang="en-ZA"/>
          </a:p>
        </p:txBody>
      </p:sp>
      <p:sp>
        <p:nvSpPr>
          <p:cNvPr id="9" name="Text 7"/>
          <p:cNvSpPr/>
          <p:nvPr/>
        </p:nvSpPr>
        <p:spPr>
          <a:xfrm>
            <a:off x="274320" y="1828800"/>
            <a:ext cx="1737360" cy="914400"/>
          </a:xfrm>
          <a:prstGeom prst="rect">
            <a:avLst/>
          </a:prstGeom>
          <a:noFill/>
          <a:ln/>
        </p:spPr>
        <p:txBody>
          <a:bodyPr wrap="square" lIns="0" tIns="0" rIns="0" bIns="0" rtlCol="0" anchor="ctr"/>
          <a:lstStyle/>
          <a:p>
            <a:pPr marL="0" indent="0" algn="ctr">
              <a:buNone/>
            </a:pPr>
            <a:r>
              <a:rPr lang="en-US" sz="1100" b="1" dirty="0">
                <a:solidFill>
                  <a:srgbClr val="FFFFFF"/>
                </a:solidFill>
              </a:rPr>
              <a:t>KITTI Input</a:t>
            </a:r>
            <a:endParaRPr lang="en-US" sz="1100" dirty="0"/>
          </a:p>
          <a:p>
            <a:pPr marL="0" indent="0" algn="ctr">
              <a:buNone/>
            </a:pPr>
            <a:r>
              <a:rPr lang="en-US" sz="1100" b="1" dirty="0">
                <a:solidFill>
                  <a:srgbClr val="FFFFFF"/>
                </a:solidFill>
              </a:rPr>
              <a:t>(Images + LiDAR)</a:t>
            </a:r>
            <a:endParaRPr lang="en-US" sz="1100" dirty="0"/>
          </a:p>
        </p:txBody>
      </p:sp>
      <p:sp>
        <p:nvSpPr>
          <p:cNvPr id="10" name="Shape 8"/>
          <p:cNvSpPr/>
          <p:nvPr/>
        </p:nvSpPr>
        <p:spPr>
          <a:xfrm>
            <a:off x="2286000" y="1828800"/>
            <a:ext cx="1828800" cy="914400"/>
          </a:xfrm>
          <a:prstGeom prst="rect">
            <a:avLst/>
          </a:prstGeom>
          <a:solidFill>
            <a:srgbClr val="1B7A8C"/>
          </a:solidFill>
          <a:ln w="12700">
            <a:solidFill>
              <a:srgbClr val="1B7A8C"/>
            </a:solidFill>
            <a:prstDash val="solid"/>
          </a:ln>
          <a:effectLst>
            <a:outerShdw blurRad="101600" dist="38100" dir="8100000" algn="bl" rotWithShape="0">
              <a:srgbClr val="000000">
                <a:alpha val="18000"/>
              </a:srgbClr>
            </a:outerShdw>
          </a:effectLst>
        </p:spPr>
        <p:txBody>
          <a:bodyPr/>
          <a:lstStyle/>
          <a:p>
            <a:endParaRPr lang="en-ZA"/>
          </a:p>
        </p:txBody>
      </p:sp>
      <p:sp>
        <p:nvSpPr>
          <p:cNvPr id="11" name="Text 9"/>
          <p:cNvSpPr/>
          <p:nvPr/>
        </p:nvSpPr>
        <p:spPr>
          <a:xfrm>
            <a:off x="2286000" y="1828800"/>
            <a:ext cx="1828800" cy="914400"/>
          </a:xfrm>
          <a:prstGeom prst="rect">
            <a:avLst/>
          </a:prstGeom>
          <a:noFill/>
          <a:ln/>
        </p:spPr>
        <p:txBody>
          <a:bodyPr wrap="square" lIns="0" tIns="0" rIns="0" bIns="0" rtlCol="0" anchor="ctr"/>
          <a:lstStyle/>
          <a:p>
            <a:pPr marL="0" indent="0" algn="ctr">
              <a:buNone/>
            </a:pPr>
            <a:r>
              <a:rPr lang="en-US" sz="1100" b="1" dirty="0">
                <a:solidFill>
                  <a:srgbClr val="FFFFFF"/>
                </a:solidFill>
              </a:rPr>
              <a:t>ResNet-50</a:t>
            </a:r>
            <a:endParaRPr lang="en-US" sz="1100" dirty="0"/>
          </a:p>
          <a:p>
            <a:pPr marL="0" indent="0" algn="ctr">
              <a:buNone/>
            </a:pPr>
            <a:r>
              <a:rPr lang="en-US" sz="1100" b="1" dirty="0">
                <a:solidFill>
                  <a:srgbClr val="FFFFFF"/>
                </a:solidFill>
              </a:rPr>
              <a:t>FPN Backbone</a:t>
            </a:r>
            <a:endParaRPr lang="en-US" sz="1100" dirty="0"/>
          </a:p>
        </p:txBody>
      </p:sp>
      <p:sp>
        <p:nvSpPr>
          <p:cNvPr id="12" name="Shape 10"/>
          <p:cNvSpPr/>
          <p:nvPr/>
        </p:nvSpPr>
        <p:spPr>
          <a:xfrm>
            <a:off x="4389120" y="1828800"/>
            <a:ext cx="1828800" cy="914400"/>
          </a:xfrm>
          <a:prstGeom prst="rect">
            <a:avLst/>
          </a:prstGeom>
          <a:solidFill>
            <a:srgbClr val="0D1B2A"/>
          </a:solidFill>
          <a:ln w="12700">
            <a:solidFill>
              <a:srgbClr val="0D1B2A"/>
            </a:solidFill>
            <a:prstDash val="solid"/>
          </a:ln>
          <a:effectLst>
            <a:outerShdw blurRad="101600" dist="38100" dir="8100000" algn="bl" rotWithShape="0">
              <a:srgbClr val="000000">
                <a:alpha val="18000"/>
              </a:srgbClr>
            </a:outerShdw>
          </a:effectLst>
        </p:spPr>
        <p:txBody>
          <a:bodyPr/>
          <a:lstStyle/>
          <a:p>
            <a:endParaRPr lang="en-ZA"/>
          </a:p>
        </p:txBody>
      </p:sp>
      <p:sp>
        <p:nvSpPr>
          <p:cNvPr id="13" name="Text 11"/>
          <p:cNvSpPr/>
          <p:nvPr/>
        </p:nvSpPr>
        <p:spPr>
          <a:xfrm>
            <a:off x="4389120" y="1828800"/>
            <a:ext cx="1828800" cy="914400"/>
          </a:xfrm>
          <a:prstGeom prst="rect">
            <a:avLst/>
          </a:prstGeom>
          <a:noFill/>
          <a:ln/>
        </p:spPr>
        <p:txBody>
          <a:bodyPr wrap="square" lIns="0" tIns="0" rIns="0" bIns="0" rtlCol="0" anchor="ctr"/>
          <a:lstStyle/>
          <a:p>
            <a:pPr marL="0" indent="0" algn="ctr">
              <a:buNone/>
            </a:pPr>
            <a:r>
              <a:rPr lang="en-US" sz="1100" b="1" dirty="0">
                <a:solidFill>
                  <a:srgbClr val="FFFFFF"/>
                </a:solidFill>
              </a:rPr>
              <a:t>Temporal</a:t>
            </a:r>
            <a:endParaRPr lang="en-US" sz="1100" dirty="0"/>
          </a:p>
          <a:p>
            <a:pPr marL="0" indent="0" algn="ctr">
              <a:buNone/>
            </a:pPr>
            <a:r>
              <a:rPr lang="en-US" sz="1100" b="1" dirty="0">
                <a:solidFill>
                  <a:srgbClr val="FFFFFF"/>
                </a:solidFill>
              </a:rPr>
              <a:t>FPN + Conv1D</a:t>
            </a:r>
            <a:endParaRPr lang="en-US" sz="1100" dirty="0"/>
          </a:p>
        </p:txBody>
      </p:sp>
      <p:sp>
        <p:nvSpPr>
          <p:cNvPr id="14" name="Shape 12"/>
          <p:cNvSpPr/>
          <p:nvPr/>
        </p:nvSpPr>
        <p:spPr>
          <a:xfrm>
            <a:off x="6492240" y="1828800"/>
            <a:ext cx="1645920" cy="914400"/>
          </a:xfrm>
          <a:prstGeom prst="rect">
            <a:avLst/>
          </a:prstGeom>
          <a:solidFill>
            <a:srgbClr val="0D1B2A"/>
          </a:solidFill>
          <a:ln w="12700">
            <a:solidFill>
              <a:srgbClr val="0D1B2A"/>
            </a:solidFill>
            <a:prstDash val="solid"/>
          </a:ln>
          <a:effectLst>
            <a:outerShdw blurRad="101600" dist="38100" dir="8100000" algn="bl" rotWithShape="0">
              <a:srgbClr val="000000">
                <a:alpha val="18000"/>
              </a:srgbClr>
            </a:outerShdw>
          </a:effectLst>
        </p:spPr>
        <p:txBody>
          <a:bodyPr/>
          <a:lstStyle/>
          <a:p>
            <a:endParaRPr lang="en-ZA"/>
          </a:p>
        </p:txBody>
      </p:sp>
      <p:sp>
        <p:nvSpPr>
          <p:cNvPr id="15" name="Text 13"/>
          <p:cNvSpPr/>
          <p:nvPr/>
        </p:nvSpPr>
        <p:spPr>
          <a:xfrm>
            <a:off x="6492240" y="1828800"/>
            <a:ext cx="1645920" cy="914400"/>
          </a:xfrm>
          <a:prstGeom prst="rect">
            <a:avLst/>
          </a:prstGeom>
          <a:noFill/>
          <a:ln/>
        </p:spPr>
        <p:txBody>
          <a:bodyPr wrap="square" lIns="0" tIns="0" rIns="0" bIns="0" rtlCol="0" anchor="ctr"/>
          <a:lstStyle/>
          <a:p>
            <a:pPr marL="0" indent="0" algn="ctr">
              <a:buNone/>
            </a:pPr>
            <a:r>
              <a:rPr lang="en-US" sz="1100" b="1" dirty="0">
                <a:solidFill>
                  <a:srgbClr val="FFFFFF"/>
                </a:solidFill>
              </a:rPr>
              <a:t>Bi-LSTM</a:t>
            </a:r>
            <a:endParaRPr lang="en-US" sz="1100" dirty="0"/>
          </a:p>
          <a:p>
            <a:pPr marL="0" indent="0" algn="ctr">
              <a:buNone/>
            </a:pPr>
            <a:r>
              <a:rPr lang="en-US" sz="1100" b="1" dirty="0">
                <a:solidFill>
                  <a:srgbClr val="FFFFFF"/>
                </a:solidFill>
              </a:rPr>
              <a:t>Sequence Model</a:t>
            </a:r>
            <a:endParaRPr lang="en-US" sz="1100" dirty="0"/>
          </a:p>
        </p:txBody>
      </p:sp>
      <p:sp>
        <p:nvSpPr>
          <p:cNvPr id="16" name="Shape 14"/>
          <p:cNvSpPr/>
          <p:nvPr/>
        </p:nvSpPr>
        <p:spPr>
          <a:xfrm>
            <a:off x="4114800" y="3108960"/>
            <a:ext cx="1645920" cy="914400"/>
          </a:xfrm>
          <a:prstGeom prst="rect">
            <a:avLst/>
          </a:prstGeom>
          <a:solidFill>
            <a:srgbClr val="27AE60"/>
          </a:solidFill>
          <a:ln w="12700">
            <a:solidFill>
              <a:srgbClr val="27AE60"/>
            </a:solidFill>
            <a:prstDash val="solid"/>
          </a:ln>
          <a:effectLst>
            <a:outerShdw blurRad="101600" dist="38100" dir="8100000" algn="bl" rotWithShape="0">
              <a:srgbClr val="000000">
                <a:alpha val="18000"/>
              </a:srgbClr>
            </a:outerShdw>
          </a:effectLst>
        </p:spPr>
        <p:txBody>
          <a:bodyPr/>
          <a:lstStyle/>
          <a:p>
            <a:endParaRPr lang="en-ZA"/>
          </a:p>
        </p:txBody>
      </p:sp>
      <p:sp>
        <p:nvSpPr>
          <p:cNvPr id="17" name="Text 15"/>
          <p:cNvSpPr/>
          <p:nvPr/>
        </p:nvSpPr>
        <p:spPr>
          <a:xfrm>
            <a:off x="4114800" y="3108960"/>
            <a:ext cx="1645920" cy="914400"/>
          </a:xfrm>
          <a:prstGeom prst="rect">
            <a:avLst/>
          </a:prstGeom>
          <a:noFill/>
          <a:ln/>
        </p:spPr>
        <p:txBody>
          <a:bodyPr wrap="square" lIns="0" tIns="0" rIns="0" bIns="0" rtlCol="0" anchor="ctr"/>
          <a:lstStyle/>
          <a:p>
            <a:pPr marL="0" indent="0" algn="ctr">
              <a:buNone/>
            </a:pPr>
            <a:r>
              <a:rPr lang="en-US" sz="1100" b="1" dirty="0">
                <a:solidFill>
                  <a:srgbClr val="FFFFFF"/>
                </a:solidFill>
              </a:rPr>
              <a:t>Classifier</a:t>
            </a:r>
            <a:endParaRPr lang="en-US" sz="1100" dirty="0"/>
          </a:p>
          <a:p>
            <a:pPr marL="0" indent="0" algn="ctr">
              <a:buNone/>
            </a:pPr>
            <a:r>
              <a:rPr lang="en-US" sz="1100" b="1" dirty="0">
                <a:solidFill>
                  <a:srgbClr val="FFFFFF"/>
                </a:solidFill>
              </a:rPr>
              <a:t>(5 Classes)</a:t>
            </a:r>
            <a:endParaRPr lang="en-US" sz="1100" dirty="0"/>
          </a:p>
        </p:txBody>
      </p:sp>
      <p:sp>
        <p:nvSpPr>
          <p:cNvPr id="18" name="Text 16"/>
          <p:cNvSpPr/>
          <p:nvPr/>
        </p:nvSpPr>
        <p:spPr>
          <a:xfrm>
            <a:off x="2011680" y="2148840"/>
            <a:ext cx="274320" cy="365760"/>
          </a:xfrm>
          <a:prstGeom prst="rect">
            <a:avLst/>
          </a:prstGeom>
          <a:noFill/>
          <a:ln/>
        </p:spPr>
        <p:txBody>
          <a:bodyPr wrap="square" lIns="0" tIns="0" rIns="0" bIns="0" rtlCol="0" anchor="ctr"/>
          <a:lstStyle/>
          <a:p>
            <a:pPr marL="0" indent="0" algn="ctr">
              <a:buNone/>
            </a:pPr>
            <a:r>
              <a:rPr lang="en-US" sz="2000" dirty="0">
                <a:solidFill>
                  <a:srgbClr val="1B7A8C"/>
                </a:solidFill>
              </a:rPr>
              <a:t>→</a:t>
            </a:r>
            <a:endParaRPr lang="en-US" sz="2000" dirty="0"/>
          </a:p>
        </p:txBody>
      </p:sp>
      <p:sp>
        <p:nvSpPr>
          <p:cNvPr id="19" name="Text 17"/>
          <p:cNvSpPr/>
          <p:nvPr/>
        </p:nvSpPr>
        <p:spPr>
          <a:xfrm>
            <a:off x="4114800" y="2148840"/>
            <a:ext cx="274320" cy="365760"/>
          </a:xfrm>
          <a:prstGeom prst="rect">
            <a:avLst/>
          </a:prstGeom>
          <a:noFill/>
          <a:ln/>
        </p:spPr>
        <p:txBody>
          <a:bodyPr wrap="square" lIns="0" tIns="0" rIns="0" bIns="0" rtlCol="0" anchor="ctr"/>
          <a:lstStyle/>
          <a:p>
            <a:pPr marL="0" indent="0" algn="ctr">
              <a:buNone/>
            </a:pPr>
            <a:r>
              <a:rPr lang="en-US" sz="2000" dirty="0">
                <a:solidFill>
                  <a:srgbClr val="1B7A8C"/>
                </a:solidFill>
              </a:rPr>
              <a:t>→</a:t>
            </a:r>
            <a:endParaRPr lang="en-US" sz="2000" dirty="0"/>
          </a:p>
        </p:txBody>
      </p:sp>
      <p:sp>
        <p:nvSpPr>
          <p:cNvPr id="20" name="Text 18"/>
          <p:cNvSpPr/>
          <p:nvPr/>
        </p:nvSpPr>
        <p:spPr>
          <a:xfrm>
            <a:off x="6217920" y="2148840"/>
            <a:ext cx="274320" cy="365760"/>
          </a:xfrm>
          <a:prstGeom prst="rect">
            <a:avLst/>
          </a:prstGeom>
          <a:noFill/>
          <a:ln/>
        </p:spPr>
        <p:txBody>
          <a:bodyPr wrap="square" lIns="0" tIns="0" rIns="0" bIns="0" rtlCol="0" anchor="ctr"/>
          <a:lstStyle/>
          <a:p>
            <a:pPr marL="0" indent="0" algn="ctr">
              <a:buNone/>
            </a:pPr>
            <a:r>
              <a:rPr lang="en-US" sz="2000" dirty="0">
                <a:solidFill>
                  <a:srgbClr val="1B7A8C"/>
                </a:solidFill>
              </a:rPr>
              <a:t>→</a:t>
            </a:r>
            <a:endParaRPr lang="en-US" sz="2000" dirty="0"/>
          </a:p>
        </p:txBody>
      </p:sp>
      <p:sp>
        <p:nvSpPr>
          <p:cNvPr id="21" name="Text 19"/>
          <p:cNvSpPr/>
          <p:nvPr/>
        </p:nvSpPr>
        <p:spPr>
          <a:xfrm>
            <a:off x="4846320" y="2834640"/>
            <a:ext cx="548640" cy="274320"/>
          </a:xfrm>
          <a:prstGeom prst="rect">
            <a:avLst/>
          </a:prstGeom>
          <a:noFill/>
          <a:ln/>
        </p:spPr>
        <p:txBody>
          <a:bodyPr wrap="square" lIns="0" tIns="0" rIns="0" bIns="0" rtlCol="0" anchor="ctr"/>
          <a:lstStyle/>
          <a:p>
            <a:pPr marL="0" indent="0" algn="ctr">
              <a:buNone/>
            </a:pPr>
            <a:r>
              <a:rPr lang="en-US" sz="1000" dirty="0">
                <a:solidFill>
                  <a:srgbClr val="27AE60"/>
                </a:solidFill>
              </a:rPr>
              <a:t>↓ Output</a:t>
            </a:r>
            <a:endParaRPr lang="en-US" sz="1000" dirty="0"/>
          </a:p>
        </p:txBody>
      </p:sp>
      <p:sp>
        <p:nvSpPr>
          <p:cNvPr id="22" name="Shape 20"/>
          <p:cNvSpPr/>
          <p:nvPr/>
        </p:nvSpPr>
        <p:spPr>
          <a:xfrm>
            <a:off x="274320" y="4160520"/>
            <a:ext cx="8503920" cy="77724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3" name="Shape 21"/>
          <p:cNvSpPr/>
          <p:nvPr/>
        </p:nvSpPr>
        <p:spPr>
          <a:xfrm>
            <a:off x="274320" y="4160520"/>
            <a:ext cx="64008" cy="777240"/>
          </a:xfrm>
          <a:prstGeom prst="rect">
            <a:avLst/>
          </a:prstGeom>
          <a:solidFill>
            <a:srgbClr val="1B7A8C"/>
          </a:solidFill>
          <a:ln w="12700">
            <a:solidFill>
              <a:srgbClr val="1B7A8C"/>
            </a:solidFill>
            <a:prstDash val="solid"/>
          </a:ln>
        </p:spPr>
        <p:txBody>
          <a:bodyPr/>
          <a:lstStyle/>
          <a:p>
            <a:endParaRPr lang="en-ZA"/>
          </a:p>
        </p:txBody>
      </p:sp>
      <p:sp>
        <p:nvSpPr>
          <p:cNvPr id="24" name="Text 22"/>
          <p:cNvSpPr/>
          <p:nvPr/>
        </p:nvSpPr>
        <p:spPr>
          <a:xfrm>
            <a:off x="438912" y="4233672"/>
            <a:ext cx="824788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Key Insight</a:t>
            </a:r>
            <a:endParaRPr lang="en-US" sz="1200" dirty="0"/>
          </a:p>
        </p:txBody>
      </p:sp>
      <p:sp>
        <p:nvSpPr>
          <p:cNvPr id="25" name="Text 23"/>
          <p:cNvSpPr/>
          <p:nvPr/>
        </p:nvSpPr>
        <p:spPr>
          <a:xfrm>
            <a:off x="438912" y="4526280"/>
            <a:ext cx="8247888" cy="32004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The spatial (LiDAR coordinates) and visual (camera) features are fused before being passed to the LSTM, giving the model complementary information about each object.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3 — METHODOLOGY</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Fine-Tuning Strategies</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14 / 35</a:t>
            </a:r>
            <a:endParaRPr lang="en-US" sz="900" dirty="0"/>
          </a:p>
        </p:txBody>
      </p:sp>
      <p:sp>
        <p:nvSpPr>
          <p:cNvPr id="7" name="Text 5"/>
          <p:cNvSpPr/>
          <p:nvPr/>
        </p:nvSpPr>
        <p:spPr>
          <a:xfrm>
            <a:off x="457200" y="1371600"/>
            <a:ext cx="8229600" cy="36576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We tested three approaches to adapting the pre-trained ResNet backbone to KITTI driving data:</a:t>
            </a:r>
            <a:endParaRPr lang="en-US" sz="1400" dirty="0"/>
          </a:p>
        </p:txBody>
      </p:sp>
      <p:sp>
        <p:nvSpPr>
          <p:cNvPr id="8" name="Shape 6"/>
          <p:cNvSpPr/>
          <p:nvPr/>
        </p:nvSpPr>
        <p:spPr>
          <a:xfrm>
            <a:off x="365760" y="1828800"/>
            <a:ext cx="2743200" cy="283464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9" name="Shape 7"/>
          <p:cNvSpPr/>
          <p:nvPr/>
        </p:nvSpPr>
        <p:spPr>
          <a:xfrm>
            <a:off x="365760" y="1822269"/>
            <a:ext cx="2743200" cy="502920"/>
          </a:xfrm>
          <a:prstGeom prst="rect">
            <a:avLst/>
          </a:prstGeom>
          <a:solidFill>
            <a:srgbClr val="4A5568"/>
          </a:solidFill>
          <a:ln w="12700">
            <a:solidFill>
              <a:srgbClr val="4A5568"/>
            </a:solidFill>
            <a:prstDash val="solid"/>
          </a:ln>
        </p:spPr>
        <p:txBody>
          <a:bodyPr/>
          <a:lstStyle/>
          <a:p>
            <a:endParaRPr lang="en-ZA"/>
          </a:p>
        </p:txBody>
      </p:sp>
      <p:sp>
        <p:nvSpPr>
          <p:cNvPr id="10" name="Text 8"/>
          <p:cNvSpPr/>
          <p:nvPr/>
        </p:nvSpPr>
        <p:spPr>
          <a:xfrm>
            <a:off x="365760" y="1828800"/>
            <a:ext cx="2743200" cy="502920"/>
          </a:xfrm>
          <a:prstGeom prst="rect">
            <a:avLst/>
          </a:prstGeom>
          <a:noFill/>
          <a:ln/>
        </p:spPr>
        <p:txBody>
          <a:bodyPr wrap="square" lIns="0" tIns="0" rIns="0" bIns="0" rtlCol="0" anchor="ctr"/>
          <a:lstStyle/>
          <a:p>
            <a:pPr marL="0" indent="0" algn="ctr">
              <a:buNone/>
            </a:pPr>
            <a:r>
              <a:rPr lang="en-US" sz="1300" b="1" dirty="0">
                <a:solidFill>
                  <a:srgbClr val="FFFFFF"/>
                </a:solidFill>
              </a:rPr>
              <a:t>E1: Freeze Backbone</a:t>
            </a:r>
            <a:endParaRPr lang="en-US" sz="1300" dirty="0"/>
          </a:p>
        </p:txBody>
      </p:sp>
      <p:sp>
        <p:nvSpPr>
          <p:cNvPr id="11" name="Text 9"/>
          <p:cNvSpPr/>
          <p:nvPr/>
        </p:nvSpPr>
        <p:spPr>
          <a:xfrm>
            <a:off x="475488" y="2423160"/>
            <a:ext cx="2523744" cy="13716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All ResNet layers are frozen. Only the new classification head learns. Fastest, but least adaptive to new domain.</a:t>
            </a:r>
            <a:endParaRPr lang="en-US" sz="1200" dirty="0"/>
          </a:p>
        </p:txBody>
      </p:sp>
      <p:sp>
        <p:nvSpPr>
          <p:cNvPr id="12" name="Text 10"/>
          <p:cNvSpPr/>
          <p:nvPr/>
        </p:nvSpPr>
        <p:spPr>
          <a:xfrm>
            <a:off x="475488" y="3840480"/>
            <a:ext cx="914400" cy="365760"/>
          </a:xfrm>
          <a:prstGeom prst="rect">
            <a:avLst/>
          </a:prstGeom>
          <a:noFill/>
          <a:ln/>
        </p:spPr>
        <p:txBody>
          <a:bodyPr wrap="square" lIns="0" tIns="0" rIns="0" bIns="0" rtlCol="0" anchor="ctr"/>
          <a:lstStyle/>
          <a:p>
            <a:pPr marL="0" indent="0">
              <a:buNone/>
            </a:pPr>
            <a:r>
              <a:rPr lang="en-US" sz="1200" dirty="0">
                <a:solidFill>
                  <a:srgbClr val="4A5568"/>
                </a:solidFill>
              </a:rPr>
              <a:t>Accuracy:</a:t>
            </a:r>
            <a:endParaRPr lang="en-US" sz="1200" dirty="0"/>
          </a:p>
        </p:txBody>
      </p:sp>
      <p:sp>
        <p:nvSpPr>
          <p:cNvPr id="13" name="Text 11"/>
          <p:cNvSpPr/>
          <p:nvPr/>
        </p:nvSpPr>
        <p:spPr>
          <a:xfrm>
            <a:off x="1463040" y="3794760"/>
            <a:ext cx="1463040" cy="457200"/>
          </a:xfrm>
          <a:prstGeom prst="rect">
            <a:avLst/>
          </a:prstGeom>
          <a:noFill/>
          <a:ln/>
        </p:spPr>
        <p:txBody>
          <a:bodyPr wrap="square" lIns="0" tIns="0" rIns="0" bIns="0" rtlCol="0" anchor="ctr"/>
          <a:lstStyle/>
          <a:p>
            <a:pPr marL="0" indent="0">
              <a:buNone/>
            </a:pPr>
            <a:r>
              <a:rPr lang="en-US" sz="1800" b="1" dirty="0">
                <a:solidFill>
                  <a:srgbClr val="4A5568"/>
                </a:solidFill>
              </a:rPr>
              <a:t>85.2%</a:t>
            </a:r>
            <a:endParaRPr lang="en-US" sz="1800" dirty="0"/>
          </a:p>
        </p:txBody>
      </p:sp>
      <p:sp>
        <p:nvSpPr>
          <p:cNvPr id="14" name="Shape 12"/>
          <p:cNvSpPr/>
          <p:nvPr/>
        </p:nvSpPr>
        <p:spPr>
          <a:xfrm>
            <a:off x="3291840" y="1828800"/>
            <a:ext cx="2743200" cy="283464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5" name="Shape 13"/>
          <p:cNvSpPr/>
          <p:nvPr/>
        </p:nvSpPr>
        <p:spPr>
          <a:xfrm>
            <a:off x="3291840" y="1828800"/>
            <a:ext cx="2743200" cy="502920"/>
          </a:xfrm>
          <a:prstGeom prst="rect">
            <a:avLst/>
          </a:prstGeom>
          <a:solidFill>
            <a:srgbClr val="1B7A8C"/>
          </a:solidFill>
          <a:ln w="12700">
            <a:solidFill>
              <a:srgbClr val="1B7A8C"/>
            </a:solidFill>
            <a:prstDash val="solid"/>
          </a:ln>
        </p:spPr>
        <p:txBody>
          <a:bodyPr/>
          <a:lstStyle/>
          <a:p>
            <a:endParaRPr lang="en-ZA"/>
          </a:p>
        </p:txBody>
      </p:sp>
      <p:sp>
        <p:nvSpPr>
          <p:cNvPr id="16" name="Text 14"/>
          <p:cNvSpPr/>
          <p:nvPr/>
        </p:nvSpPr>
        <p:spPr>
          <a:xfrm>
            <a:off x="3291840" y="1828800"/>
            <a:ext cx="2743200" cy="502920"/>
          </a:xfrm>
          <a:prstGeom prst="rect">
            <a:avLst/>
          </a:prstGeom>
          <a:noFill/>
          <a:ln/>
        </p:spPr>
        <p:txBody>
          <a:bodyPr wrap="square" lIns="0" tIns="0" rIns="0" bIns="0" rtlCol="0" anchor="ctr"/>
          <a:lstStyle/>
          <a:p>
            <a:pPr marL="0" indent="0" algn="ctr">
              <a:buNone/>
            </a:pPr>
            <a:r>
              <a:rPr lang="en-US" sz="1300" b="1" dirty="0">
                <a:solidFill>
                  <a:srgbClr val="FFFFFF"/>
                </a:solidFill>
              </a:rPr>
              <a:t>E2: Partial Fine-Tuning</a:t>
            </a:r>
            <a:endParaRPr lang="en-US" sz="1300" dirty="0"/>
          </a:p>
        </p:txBody>
      </p:sp>
      <p:sp>
        <p:nvSpPr>
          <p:cNvPr id="17" name="Text 15"/>
          <p:cNvSpPr/>
          <p:nvPr/>
        </p:nvSpPr>
        <p:spPr>
          <a:xfrm>
            <a:off x="3401568" y="2423160"/>
            <a:ext cx="2523744" cy="13716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Unfreeze the final ResNet block. The network adapts its high-level semantic features to driving scenes.</a:t>
            </a:r>
            <a:endParaRPr lang="en-US" sz="1200" dirty="0"/>
          </a:p>
        </p:txBody>
      </p:sp>
      <p:sp>
        <p:nvSpPr>
          <p:cNvPr id="18" name="Text 16"/>
          <p:cNvSpPr/>
          <p:nvPr/>
        </p:nvSpPr>
        <p:spPr>
          <a:xfrm>
            <a:off x="3401568" y="3840480"/>
            <a:ext cx="914400" cy="365760"/>
          </a:xfrm>
          <a:prstGeom prst="rect">
            <a:avLst/>
          </a:prstGeom>
          <a:noFill/>
          <a:ln/>
        </p:spPr>
        <p:txBody>
          <a:bodyPr wrap="square" lIns="0" tIns="0" rIns="0" bIns="0" rtlCol="0" anchor="ctr"/>
          <a:lstStyle/>
          <a:p>
            <a:pPr marL="0" indent="0">
              <a:buNone/>
            </a:pPr>
            <a:r>
              <a:rPr lang="en-US" sz="1200" dirty="0">
                <a:solidFill>
                  <a:srgbClr val="4A5568"/>
                </a:solidFill>
              </a:rPr>
              <a:t>Accuracy:</a:t>
            </a:r>
            <a:endParaRPr lang="en-US" sz="1200" dirty="0"/>
          </a:p>
        </p:txBody>
      </p:sp>
      <p:sp>
        <p:nvSpPr>
          <p:cNvPr id="19" name="Text 17"/>
          <p:cNvSpPr/>
          <p:nvPr/>
        </p:nvSpPr>
        <p:spPr>
          <a:xfrm>
            <a:off x="4389120" y="3794760"/>
            <a:ext cx="1463040" cy="457200"/>
          </a:xfrm>
          <a:prstGeom prst="rect">
            <a:avLst/>
          </a:prstGeom>
          <a:noFill/>
          <a:ln/>
        </p:spPr>
        <p:txBody>
          <a:bodyPr wrap="square" lIns="0" tIns="0" rIns="0" bIns="0" rtlCol="0" anchor="ctr"/>
          <a:lstStyle/>
          <a:p>
            <a:pPr marL="0" indent="0">
              <a:buNone/>
            </a:pPr>
            <a:r>
              <a:rPr lang="en-US" sz="1800" b="1" dirty="0">
                <a:solidFill>
                  <a:srgbClr val="1B7A8C"/>
                </a:solidFill>
              </a:rPr>
              <a:t>91.7%</a:t>
            </a:r>
            <a:endParaRPr lang="en-US" sz="1800" dirty="0"/>
          </a:p>
        </p:txBody>
      </p:sp>
      <p:sp>
        <p:nvSpPr>
          <p:cNvPr id="20" name="Shape 18"/>
          <p:cNvSpPr/>
          <p:nvPr/>
        </p:nvSpPr>
        <p:spPr>
          <a:xfrm>
            <a:off x="3291840" y="4434840"/>
            <a:ext cx="2743200" cy="228600"/>
          </a:xfrm>
          <a:prstGeom prst="rect">
            <a:avLst/>
          </a:prstGeom>
          <a:solidFill>
            <a:srgbClr val="F6B93B"/>
          </a:solidFill>
          <a:ln w="12700">
            <a:solidFill>
              <a:srgbClr val="F6B93B"/>
            </a:solidFill>
            <a:prstDash val="solid"/>
          </a:ln>
        </p:spPr>
        <p:txBody>
          <a:bodyPr/>
          <a:lstStyle/>
          <a:p>
            <a:endParaRPr lang="en-ZA"/>
          </a:p>
        </p:txBody>
      </p:sp>
      <p:sp>
        <p:nvSpPr>
          <p:cNvPr id="21" name="Text 19"/>
          <p:cNvSpPr/>
          <p:nvPr/>
        </p:nvSpPr>
        <p:spPr>
          <a:xfrm>
            <a:off x="3291840" y="4434840"/>
            <a:ext cx="2743200" cy="228600"/>
          </a:xfrm>
          <a:prstGeom prst="rect">
            <a:avLst/>
          </a:prstGeom>
          <a:noFill/>
          <a:ln/>
        </p:spPr>
        <p:txBody>
          <a:bodyPr wrap="square" lIns="0" tIns="0" rIns="0" bIns="0" rtlCol="0" anchor="ctr"/>
          <a:lstStyle/>
          <a:p>
            <a:pPr marL="0" indent="0" algn="ctr">
              <a:buNone/>
            </a:pPr>
            <a:r>
              <a:rPr lang="en-US" sz="1000" b="1" dirty="0">
                <a:solidFill>
                  <a:srgbClr val="1A202C"/>
                </a:solidFill>
              </a:rPr>
              <a:t>★ Best Performer</a:t>
            </a:r>
            <a:endParaRPr lang="en-US" sz="1000" dirty="0"/>
          </a:p>
        </p:txBody>
      </p:sp>
      <p:sp>
        <p:nvSpPr>
          <p:cNvPr id="22" name="Shape 20"/>
          <p:cNvSpPr/>
          <p:nvPr/>
        </p:nvSpPr>
        <p:spPr>
          <a:xfrm>
            <a:off x="6217920" y="1828800"/>
            <a:ext cx="2743200" cy="283464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3" name="Shape 21"/>
          <p:cNvSpPr/>
          <p:nvPr/>
        </p:nvSpPr>
        <p:spPr>
          <a:xfrm>
            <a:off x="6217920" y="1828800"/>
            <a:ext cx="2743200" cy="502920"/>
          </a:xfrm>
          <a:prstGeom prst="rect">
            <a:avLst/>
          </a:prstGeom>
          <a:solidFill>
            <a:srgbClr val="0D1B2A"/>
          </a:solidFill>
          <a:ln w="12700">
            <a:solidFill>
              <a:srgbClr val="0D1B2A"/>
            </a:solidFill>
            <a:prstDash val="solid"/>
          </a:ln>
        </p:spPr>
        <p:txBody>
          <a:bodyPr/>
          <a:lstStyle/>
          <a:p>
            <a:endParaRPr lang="en-ZA"/>
          </a:p>
        </p:txBody>
      </p:sp>
      <p:sp>
        <p:nvSpPr>
          <p:cNvPr id="24" name="Text 22"/>
          <p:cNvSpPr/>
          <p:nvPr/>
        </p:nvSpPr>
        <p:spPr>
          <a:xfrm>
            <a:off x="6217920" y="1828800"/>
            <a:ext cx="2743200" cy="502920"/>
          </a:xfrm>
          <a:prstGeom prst="rect">
            <a:avLst/>
          </a:prstGeom>
          <a:noFill/>
          <a:ln/>
        </p:spPr>
        <p:txBody>
          <a:bodyPr wrap="square" lIns="0" tIns="0" rIns="0" bIns="0" rtlCol="0" anchor="ctr"/>
          <a:lstStyle/>
          <a:p>
            <a:pPr marL="0" indent="0" algn="ctr">
              <a:buNone/>
            </a:pPr>
            <a:r>
              <a:rPr lang="en-US" sz="1300" b="1" dirty="0">
                <a:solidFill>
                  <a:srgbClr val="FFFFFF"/>
                </a:solidFill>
              </a:rPr>
              <a:t>E3: Deeper Fine-Tuning</a:t>
            </a:r>
            <a:endParaRPr lang="en-US" sz="1300" dirty="0"/>
          </a:p>
        </p:txBody>
      </p:sp>
      <p:sp>
        <p:nvSpPr>
          <p:cNvPr id="25" name="Text 23"/>
          <p:cNvSpPr/>
          <p:nvPr/>
        </p:nvSpPr>
        <p:spPr>
          <a:xfrm>
            <a:off x="6327648" y="2423160"/>
            <a:ext cx="2523744" cy="13716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Unfreeze larger backbone sections. More flexible, but higher risk of overfitting with limited KITTI data.</a:t>
            </a:r>
            <a:endParaRPr lang="en-US" sz="1200" dirty="0"/>
          </a:p>
        </p:txBody>
      </p:sp>
      <p:sp>
        <p:nvSpPr>
          <p:cNvPr id="26" name="Text 24"/>
          <p:cNvSpPr/>
          <p:nvPr/>
        </p:nvSpPr>
        <p:spPr>
          <a:xfrm>
            <a:off x="6327648" y="3840480"/>
            <a:ext cx="914400" cy="365760"/>
          </a:xfrm>
          <a:prstGeom prst="rect">
            <a:avLst/>
          </a:prstGeom>
          <a:noFill/>
          <a:ln/>
        </p:spPr>
        <p:txBody>
          <a:bodyPr wrap="square" lIns="0" tIns="0" rIns="0" bIns="0" rtlCol="0" anchor="ctr"/>
          <a:lstStyle/>
          <a:p>
            <a:pPr marL="0" indent="0">
              <a:buNone/>
            </a:pPr>
            <a:r>
              <a:rPr lang="en-US" sz="1200" dirty="0">
                <a:solidFill>
                  <a:srgbClr val="4A5568"/>
                </a:solidFill>
              </a:rPr>
              <a:t>Accuracy:</a:t>
            </a:r>
            <a:endParaRPr lang="en-US" sz="1200" dirty="0"/>
          </a:p>
        </p:txBody>
      </p:sp>
      <p:sp>
        <p:nvSpPr>
          <p:cNvPr id="27" name="Text 25"/>
          <p:cNvSpPr/>
          <p:nvPr/>
        </p:nvSpPr>
        <p:spPr>
          <a:xfrm>
            <a:off x="7315200" y="3794760"/>
            <a:ext cx="1463040" cy="457200"/>
          </a:xfrm>
          <a:prstGeom prst="rect">
            <a:avLst/>
          </a:prstGeom>
          <a:noFill/>
          <a:ln/>
        </p:spPr>
        <p:txBody>
          <a:bodyPr wrap="square" lIns="0" tIns="0" rIns="0" bIns="0" rtlCol="0" anchor="ctr"/>
          <a:lstStyle/>
          <a:p>
            <a:pPr marL="0" indent="0">
              <a:buNone/>
            </a:pPr>
            <a:r>
              <a:rPr lang="en-US" sz="1800" b="1" dirty="0">
                <a:solidFill>
                  <a:srgbClr val="0D1B2A"/>
                </a:solidFill>
              </a:rPr>
              <a:t>89.1%</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4 — PYTHON IMPLEMENTATION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Python Tools &amp; Libraries Used</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15 / 35</a:t>
            </a:r>
            <a:endParaRPr lang="en-US" sz="900" dirty="0"/>
          </a:p>
        </p:txBody>
      </p:sp>
      <p:sp>
        <p:nvSpPr>
          <p:cNvPr id="7" name="Shape 5"/>
          <p:cNvSpPr/>
          <p:nvPr/>
        </p:nvSpPr>
        <p:spPr>
          <a:xfrm>
            <a:off x="365760" y="1417320"/>
            <a:ext cx="4114800" cy="105156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8" name="Shape 6"/>
          <p:cNvSpPr/>
          <p:nvPr/>
        </p:nvSpPr>
        <p:spPr>
          <a:xfrm>
            <a:off x="365760" y="1417320"/>
            <a:ext cx="1005840" cy="1051560"/>
          </a:xfrm>
          <a:prstGeom prst="rect">
            <a:avLst/>
          </a:prstGeom>
          <a:solidFill>
            <a:schemeClr val="accent3"/>
          </a:solidFill>
          <a:ln w="12700">
            <a:solidFill>
              <a:srgbClr val="E74C3C"/>
            </a:solidFill>
            <a:prstDash val="solid"/>
          </a:ln>
        </p:spPr>
        <p:txBody>
          <a:bodyPr/>
          <a:lstStyle/>
          <a:p>
            <a:endParaRPr lang="en-ZA" dirty="0"/>
          </a:p>
        </p:txBody>
      </p:sp>
      <p:sp>
        <p:nvSpPr>
          <p:cNvPr id="9" name="Text 7"/>
          <p:cNvSpPr/>
          <p:nvPr/>
        </p:nvSpPr>
        <p:spPr>
          <a:xfrm>
            <a:off x="365760" y="1417320"/>
            <a:ext cx="1005840" cy="1051560"/>
          </a:xfrm>
          <a:prstGeom prst="rect">
            <a:avLst/>
          </a:prstGeom>
          <a:noFill/>
          <a:ln/>
        </p:spPr>
        <p:txBody>
          <a:bodyPr wrap="square" lIns="0" tIns="0" rIns="0" bIns="0" rtlCol="0" anchor="ctr"/>
          <a:lstStyle/>
          <a:p>
            <a:pPr marL="0" indent="0" algn="ctr">
              <a:buNone/>
            </a:pPr>
            <a:endParaRPr lang="en-US" sz="1100" dirty="0"/>
          </a:p>
        </p:txBody>
      </p:sp>
      <p:sp>
        <p:nvSpPr>
          <p:cNvPr id="10" name="Text 8"/>
          <p:cNvSpPr/>
          <p:nvPr/>
        </p:nvSpPr>
        <p:spPr>
          <a:xfrm>
            <a:off x="1463040" y="1645920"/>
            <a:ext cx="2926080" cy="59436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Deep learning framework for building and training neural networks</a:t>
            </a:r>
            <a:endParaRPr lang="en-US" sz="1200" dirty="0"/>
          </a:p>
        </p:txBody>
      </p:sp>
      <p:sp>
        <p:nvSpPr>
          <p:cNvPr id="11" name="Shape 9"/>
          <p:cNvSpPr/>
          <p:nvPr/>
        </p:nvSpPr>
        <p:spPr>
          <a:xfrm>
            <a:off x="4754880" y="1417320"/>
            <a:ext cx="4114800" cy="105156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2" name="Shape 10"/>
          <p:cNvSpPr/>
          <p:nvPr/>
        </p:nvSpPr>
        <p:spPr>
          <a:xfrm>
            <a:off x="4754880" y="1417320"/>
            <a:ext cx="1005840" cy="1051560"/>
          </a:xfrm>
          <a:prstGeom prst="rect">
            <a:avLst/>
          </a:prstGeom>
          <a:solidFill>
            <a:srgbClr val="7030A0"/>
          </a:solidFill>
          <a:ln w="12700">
            <a:solidFill>
              <a:srgbClr val="1B7A8C"/>
            </a:solidFill>
            <a:prstDash val="solid"/>
          </a:ln>
        </p:spPr>
        <p:txBody>
          <a:bodyPr/>
          <a:lstStyle/>
          <a:p>
            <a:endParaRPr lang="en-ZA"/>
          </a:p>
        </p:txBody>
      </p:sp>
      <p:sp>
        <p:nvSpPr>
          <p:cNvPr id="13" name="Text 11"/>
          <p:cNvSpPr/>
          <p:nvPr/>
        </p:nvSpPr>
        <p:spPr>
          <a:xfrm>
            <a:off x="4754880" y="1417320"/>
            <a:ext cx="1005840" cy="1051560"/>
          </a:xfrm>
          <a:prstGeom prst="rect">
            <a:avLst/>
          </a:prstGeom>
          <a:noFill/>
          <a:ln/>
        </p:spPr>
        <p:txBody>
          <a:bodyPr wrap="square" lIns="0" tIns="0" rIns="0" bIns="0" rtlCol="0" anchor="ctr"/>
          <a:lstStyle/>
          <a:p>
            <a:pPr marL="0" indent="0" algn="ctr">
              <a:buNone/>
            </a:pPr>
            <a:endParaRPr lang="en-US" sz="1100" dirty="0"/>
          </a:p>
        </p:txBody>
      </p:sp>
      <p:sp>
        <p:nvSpPr>
          <p:cNvPr id="14" name="Text 12"/>
          <p:cNvSpPr/>
          <p:nvPr/>
        </p:nvSpPr>
        <p:spPr>
          <a:xfrm>
            <a:off x="5852160" y="1645920"/>
            <a:ext cx="2926080" cy="59436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Pre-trained models including Faster R-CNN / ResNet-50</a:t>
            </a:r>
            <a:endParaRPr lang="en-US" sz="1200" dirty="0"/>
          </a:p>
        </p:txBody>
      </p:sp>
      <p:sp>
        <p:nvSpPr>
          <p:cNvPr id="15" name="Shape 13"/>
          <p:cNvSpPr/>
          <p:nvPr/>
        </p:nvSpPr>
        <p:spPr>
          <a:xfrm>
            <a:off x="365760" y="2651760"/>
            <a:ext cx="4114800" cy="105156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6" name="Shape 14"/>
          <p:cNvSpPr/>
          <p:nvPr/>
        </p:nvSpPr>
        <p:spPr>
          <a:xfrm>
            <a:off x="365760" y="2651760"/>
            <a:ext cx="1005840" cy="1051560"/>
          </a:xfrm>
          <a:prstGeom prst="rect">
            <a:avLst/>
          </a:prstGeom>
          <a:solidFill>
            <a:srgbClr val="0D1B2A"/>
          </a:solidFill>
          <a:ln w="12700">
            <a:solidFill>
              <a:srgbClr val="0D1B2A"/>
            </a:solidFill>
            <a:prstDash val="solid"/>
          </a:ln>
        </p:spPr>
        <p:txBody>
          <a:bodyPr/>
          <a:lstStyle/>
          <a:p>
            <a:endParaRPr lang="en-ZA"/>
          </a:p>
        </p:txBody>
      </p:sp>
      <p:sp>
        <p:nvSpPr>
          <p:cNvPr id="17" name="Text 15"/>
          <p:cNvSpPr/>
          <p:nvPr/>
        </p:nvSpPr>
        <p:spPr>
          <a:xfrm>
            <a:off x="365760" y="2651760"/>
            <a:ext cx="1005840" cy="1051560"/>
          </a:xfrm>
          <a:prstGeom prst="rect">
            <a:avLst/>
          </a:prstGeom>
          <a:noFill/>
          <a:ln/>
        </p:spPr>
        <p:txBody>
          <a:bodyPr wrap="square" lIns="0" tIns="0" rIns="0" bIns="0" rtlCol="0" anchor="ctr"/>
          <a:lstStyle/>
          <a:p>
            <a:pPr marL="0" indent="0" algn="ctr">
              <a:buNone/>
            </a:pPr>
            <a:endParaRPr lang="en-US" sz="1100" dirty="0"/>
          </a:p>
        </p:txBody>
      </p:sp>
      <p:sp>
        <p:nvSpPr>
          <p:cNvPr id="18" name="Text 16"/>
          <p:cNvSpPr/>
          <p:nvPr/>
        </p:nvSpPr>
        <p:spPr>
          <a:xfrm>
            <a:off x="1463040" y="2880360"/>
            <a:ext cx="2926080" cy="59436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Numerical computation for matrix operations and calibration maths</a:t>
            </a:r>
            <a:endParaRPr lang="en-US" sz="1200" dirty="0"/>
          </a:p>
        </p:txBody>
      </p:sp>
      <p:sp>
        <p:nvSpPr>
          <p:cNvPr id="19" name="Shape 17"/>
          <p:cNvSpPr/>
          <p:nvPr/>
        </p:nvSpPr>
        <p:spPr>
          <a:xfrm>
            <a:off x="4754880" y="2651760"/>
            <a:ext cx="4114800" cy="105156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0" name="Shape 18"/>
          <p:cNvSpPr/>
          <p:nvPr/>
        </p:nvSpPr>
        <p:spPr>
          <a:xfrm>
            <a:off x="4754880" y="2651760"/>
            <a:ext cx="1005840" cy="1051560"/>
          </a:xfrm>
          <a:prstGeom prst="rect">
            <a:avLst/>
          </a:prstGeom>
          <a:solidFill>
            <a:srgbClr val="27AE60"/>
          </a:solidFill>
          <a:ln w="12700">
            <a:solidFill>
              <a:srgbClr val="27AE60"/>
            </a:solidFill>
            <a:prstDash val="solid"/>
          </a:ln>
        </p:spPr>
        <p:txBody>
          <a:bodyPr/>
          <a:lstStyle/>
          <a:p>
            <a:endParaRPr lang="en-ZA"/>
          </a:p>
        </p:txBody>
      </p:sp>
      <p:sp>
        <p:nvSpPr>
          <p:cNvPr id="21" name="Text 19"/>
          <p:cNvSpPr/>
          <p:nvPr/>
        </p:nvSpPr>
        <p:spPr>
          <a:xfrm>
            <a:off x="4754880" y="2651760"/>
            <a:ext cx="1005840" cy="1051560"/>
          </a:xfrm>
          <a:prstGeom prst="rect">
            <a:avLst/>
          </a:prstGeom>
          <a:noFill/>
          <a:ln/>
        </p:spPr>
        <p:txBody>
          <a:bodyPr wrap="square" lIns="0" tIns="0" rIns="0" bIns="0" rtlCol="0" anchor="ctr"/>
          <a:lstStyle/>
          <a:p>
            <a:pPr marL="0" indent="0" algn="ctr">
              <a:buNone/>
            </a:pPr>
            <a:endParaRPr lang="en-US" sz="1100" dirty="0"/>
          </a:p>
        </p:txBody>
      </p:sp>
      <p:sp>
        <p:nvSpPr>
          <p:cNvPr id="22" name="Text 20"/>
          <p:cNvSpPr/>
          <p:nvPr/>
        </p:nvSpPr>
        <p:spPr>
          <a:xfrm>
            <a:off x="5852160" y="2880360"/>
            <a:ext cx="2926080" cy="59436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Image loading, resizing, and bounding box visualisation</a:t>
            </a:r>
            <a:endParaRPr lang="en-US" sz="1200" dirty="0"/>
          </a:p>
        </p:txBody>
      </p:sp>
      <p:sp>
        <p:nvSpPr>
          <p:cNvPr id="23" name="Shape 21"/>
          <p:cNvSpPr/>
          <p:nvPr/>
        </p:nvSpPr>
        <p:spPr>
          <a:xfrm>
            <a:off x="365760" y="3886200"/>
            <a:ext cx="4114800" cy="105156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4" name="Shape 22"/>
          <p:cNvSpPr/>
          <p:nvPr/>
        </p:nvSpPr>
        <p:spPr>
          <a:xfrm>
            <a:off x="365760" y="3886200"/>
            <a:ext cx="1005840" cy="1051560"/>
          </a:xfrm>
          <a:prstGeom prst="rect">
            <a:avLst/>
          </a:prstGeom>
          <a:solidFill>
            <a:srgbClr val="F6B93B"/>
          </a:solidFill>
          <a:ln w="12700">
            <a:solidFill>
              <a:srgbClr val="F6B93B"/>
            </a:solidFill>
            <a:prstDash val="solid"/>
          </a:ln>
        </p:spPr>
        <p:txBody>
          <a:bodyPr/>
          <a:lstStyle/>
          <a:p>
            <a:endParaRPr lang="en-ZA"/>
          </a:p>
        </p:txBody>
      </p:sp>
      <p:sp>
        <p:nvSpPr>
          <p:cNvPr id="25" name="Text 23"/>
          <p:cNvSpPr/>
          <p:nvPr/>
        </p:nvSpPr>
        <p:spPr>
          <a:xfrm>
            <a:off x="365760" y="3886200"/>
            <a:ext cx="1005840" cy="1051560"/>
          </a:xfrm>
          <a:prstGeom prst="rect">
            <a:avLst/>
          </a:prstGeom>
          <a:noFill/>
          <a:ln/>
        </p:spPr>
        <p:txBody>
          <a:bodyPr wrap="square" lIns="0" tIns="0" rIns="0" bIns="0" rtlCol="0" anchor="ctr"/>
          <a:lstStyle/>
          <a:p>
            <a:pPr marL="0" indent="0" algn="ctr">
              <a:buNone/>
            </a:pPr>
            <a:endParaRPr lang="en-US" sz="1100" dirty="0"/>
          </a:p>
        </p:txBody>
      </p:sp>
      <p:sp>
        <p:nvSpPr>
          <p:cNvPr id="26" name="Text 24"/>
          <p:cNvSpPr/>
          <p:nvPr/>
        </p:nvSpPr>
        <p:spPr>
          <a:xfrm>
            <a:off x="1463040" y="4114800"/>
            <a:ext cx="2926080" cy="59436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Evaluation metrics for precision, recall, confusion matrix</a:t>
            </a:r>
            <a:endParaRPr lang="en-US" sz="1200" dirty="0"/>
          </a:p>
        </p:txBody>
      </p:sp>
      <p:sp>
        <p:nvSpPr>
          <p:cNvPr id="27" name="Shape 25"/>
          <p:cNvSpPr/>
          <p:nvPr/>
        </p:nvSpPr>
        <p:spPr>
          <a:xfrm>
            <a:off x="4754880" y="3886200"/>
            <a:ext cx="4114800" cy="105156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8" name="Shape 26"/>
          <p:cNvSpPr/>
          <p:nvPr/>
        </p:nvSpPr>
        <p:spPr>
          <a:xfrm>
            <a:off x="4754880" y="3886200"/>
            <a:ext cx="1005840" cy="1051560"/>
          </a:xfrm>
          <a:prstGeom prst="rect">
            <a:avLst/>
          </a:prstGeom>
          <a:solidFill>
            <a:srgbClr val="4A5568"/>
          </a:solidFill>
          <a:ln w="12700">
            <a:solidFill>
              <a:srgbClr val="4A5568"/>
            </a:solidFill>
            <a:prstDash val="solid"/>
          </a:ln>
        </p:spPr>
        <p:txBody>
          <a:bodyPr/>
          <a:lstStyle/>
          <a:p>
            <a:endParaRPr lang="en-ZA"/>
          </a:p>
        </p:txBody>
      </p:sp>
      <p:sp>
        <p:nvSpPr>
          <p:cNvPr id="29" name="Text 27"/>
          <p:cNvSpPr/>
          <p:nvPr/>
        </p:nvSpPr>
        <p:spPr>
          <a:xfrm>
            <a:off x="4754880" y="3886200"/>
            <a:ext cx="1005840" cy="1051560"/>
          </a:xfrm>
          <a:prstGeom prst="rect">
            <a:avLst/>
          </a:prstGeom>
          <a:noFill/>
          <a:ln/>
        </p:spPr>
        <p:txBody>
          <a:bodyPr wrap="square" lIns="0" tIns="0" rIns="0" bIns="0" rtlCol="0" anchor="ctr"/>
          <a:lstStyle/>
          <a:p>
            <a:pPr marL="0" indent="0" algn="ctr">
              <a:buNone/>
            </a:pPr>
            <a:endParaRPr lang="en-US" sz="1100" dirty="0"/>
          </a:p>
        </p:txBody>
      </p:sp>
      <p:sp>
        <p:nvSpPr>
          <p:cNvPr id="30" name="Text 28"/>
          <p:cNvSpPr/>
          <p:nvPr/>
        </p:nvSpPr>
        <p:spPr>
          <a:xfrm>
            <a:off x="5852160" y="4114800"/>
            <a:ext cx="2926080" cy="59436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Plotting training curves, results, and visual outputs</a:t>
            </a:r>
            <a:endParaRPr lang="en-US" sz="1200" dirty="0"/>
          </a:p>
        </p:txBody>
      </p:sp>
      <p:sp>
        <p:nvSpPr>
          <p:cNvPr id="31" name="AutoShape 2" descr="pytorch icon and logo in SVG format">
            <a:extLst>
              <a:ext uri="{FF2B5EF4-FFF2-40B4-BE49-F238E27FC236}">
                <a16:creationId xmlns:a16="http://schemas.microsoft.com/office/drawing/2014/main" id="{48CC343C-D51D-A7F9-CD44-8DD53E4F9387}"/>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a:p>
        </p:txBody>
      </p:sp>
      <p:pic>
        <p:nvPicPr>
          <p:cNvPr id="33" name="Picture 32">
            <a:extLst>
              <a:ext uri="{FF2B5EF4-FFF2-40B4-BE49-F238E27FC236}">
                <a16:creationId xmlns:a16="http://schemas.microsoft.com/office/drawing/2014/main" id="{E44551CE-9BAC-E53E-E19E-4A8815DD2248}"/>
              </a:ext>
            </a:extLst>
          </p:cNvPr>
          <p:cNvPicPr>
            <a:picLocks noChangeAspect="1"/>
          </p:cNvPicPr>
          <p:nvPr/>
        </p:nvPicPr>
        <p:blipFill>
          <a:blip r:embed="rId3"/>
          <a:stretch>
            <a:fillRect/>
          </a:stretch>
        </p:blipFill>
        <p:spPr>
          <a:xfrm>
            <a:off x="447926" y="1870368"/>
            <a:ext cx="841508" cy="207011"/>
          </a:xfrm>
          <a:prstGeom prst="rect">
            <a:avLst/>
          </a:prstGeom>
        </p:spPr>
      </p:pic>
      <p:pic>
        <p:nvPicPr>
          <p:cNvPr id="35" name="Picture 34">
            <a:extLst>
              <a:ext uri="{FF2B5EF4-FFF2-40B4-BE49-F238E27FC236}">
                <a16:creationId xmlns:a16="http://schemas.microsoft.com/office/drawing/2014/main" id="{CAE97217-050B-77F5-5350-AFDA80B22F0A}"/>
              </a:ext>
            </a:extLst>
          </p:cNvPr>
          <p:cNvPicPr>
            <a:picLocks noChangeAspect="1"/>
          </p:cNvPicPr>
          <p:nvPr/>
        </p:nvPicPr>
        <p:blipFill>
          <a:blip r:embed="rId4"/>
          <a:stretch>
            <a:fillRect/>
          </a:stretch>
        </p:blipFill>
        <p:spPr>
          <a:xfrm>
            <a:off x="4889181" y="1500335"/>
            <a:ext cx="743586" cy="858098"/>
          </a:xfrm>
          <a:prstGeom prst="rect">
            <a:avLst/>
          </a:prstGeom>
        </p:spPr>
      </p:pic>
      <p:pic>
        <p:nvPicPr>
          <p:cNvPr id="37" name="Picture 36">
            <a:extLst>
              <a:ext uri="{FF2B5EF4-FFF2-40B4-BE49-F238E27FC236}">
                <a16:creationId xmlns:a16="http://schemas.microsoft.com/office/drawing/2014/main" id="{9E617105-0CEB-3A36-D7BF-8F8832A5DDA0}"/>
              </a:ext>
            </a:extLst>
          </p:cNvPr>
          <p:cNvPicPr>
            <a:picLocks noChangeAspect="1"/>
          </p:cNvPicPr>
          <p:nvPr/>
        </p:nvPicPr>
        <p:blipFill>
          <a:blip r:embed="rId5"/>
          <a:stretch>
            <a:fillRect/>
          </a:stretch>
        </p:blipFill>
        <p:spPr>
          <a:xfrm>
            <a:off x="447926" y="2724150"/>
            <a:ext cx="830922" cy="830922"/>
          </a:xfrm>
          <a:prstGeom prst="rect">
            <a:avLst/>
          </a:prstGeom>
        </p:spPr>
      </p:pic>
      <p:pic>
        <p:nvPicPr>
          <p:cNvPr id="39" name="Picture 38">
            <a:extLst>
              <a:ext uri="{FF2B5EF4-FFF2-40B4-BE49-F238E27FC236}">
                <a16:creationId xmlns:a16="http://schemas.microsoft.com/office/drawing/2014/main" id="{7A383E61-0AF7-EF39-517C-17F864823FFF}"/>
              </a:ext>
            </a:extLst>
          </p:cNvPr>
          <p:cNvPicPr>
            <a:picLocks noChangeAspect="1"/>
          </p:cNvPicPr>
          <p:nvPr/>
        </p:nvPicPr>
        <p:blipFill>
          <a:blip r:embed="rId6"/>
          <a:stretch>
            <a:fillRect/>
          </a:stretch>
        </p:blipFill>
        <p:spPr>
          <a:xfrm flipH="1">
            <a:off x="4873053" y="2795358"/>
            <a:ext cx="759714" cy="759714"/>
          </a:xfrm>
          <a:prstGeom prst="rect">
            <a:avLst/>
          </a:prstGeom>
        </p:spPr>
      </p:pic>
      <p:pic>
        <p:nvPicPr>
          <p:cNvPr id="41" name="Picture 40">
            <a:extLst>
              <a:ext uri="{FF2B5EF4-FFF2-40B4-BE49-F238E27FC236}">
                <a16:creationId xmlns:a16="http://schemas.microsoft.com/office/drawing/2014/main" id="{D7529E1A-EE68-3A1F-632B-CD556E15F395}"/>
              </a:ext>
            </a:extLst>
          </p:cNvPr>
          <p:cNvPicPr>
            <a:picLocks noChangeAspect="1"/>
          </p:cNvPicPr>
          <p:nvPr/>
        </p:nvPicPr>
        <p:blipFill>
          <a:blip r:embed="rId7"/>
          <a:stretch>
            <a:fillRect/>
          </a:stretch>
        </p:blipFill>
        <p:spPr>
          <a:xfrm>
            <a:off x="425999" y="3936492"/>
            <a:ext cx="874776" cy="874776"/>
          </a:xfrm>
          <a:prstGeom prst="rect">
            <a:avLst/>
          </a:prstGeom>
        </p:spPr>
      </p:pic>
      <p:pic>
        <p:nvPicPr>
          <p:cNvPr id="43" name="Picture 42">
            <a:extLst>
              <a:ext uri="{FF2B5EF4-FFF2-40B4-BE49-F238E27FC236}">
                <a16:creationId xmlns:a16="http://schemas.microsoft.com/office/drawing/2014/main" id="{6908CD90-24CB-5A70-44EA-30AFBECFD809}"/>
              </a:ext>
            </a:extLst>
          </p:cNvPr>
          <p:cNvPicPr>
            <a:picLocks noChangeAspect="1"/>
          </p:cNvPicPr>
          <p:nvPr/>
        </p:nvPicPr>
        <p:blipFill>
          <a:blip r:embed="rId8"/>
          <a:stretch>
            <a:fillRect/>
          </a:stretch>
        </p:blipFill>
        <p:spPr>
          <a:xfrm>
            <a:off x="4902072" y="4053078"/>
            <a:ext cx="717804" cy="71780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4 — PYTHON IMPLEMENTATION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Custom PyTorch Dataset</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16 / 35</a:t>
            </a:r>
            <a:endParaRPr lang="en-US" sz="900" dirty="0"/>
          </a:p>
        </p:txBody>
      </p:sp>
      <p:sp>
        <p:nvSpPr>
          <p:cNvPr id="7" name="Text 5"/>
          <p:cNvSpPr/>
          <p:nvPr/>
        </p:nvSpPr>
        <p:spPr>
          <a:xfrm>
            <a:off x="457200" y="1371600"/>
            <a:ext cx="8229600" cy="41148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We built a custom Dataset class to manage KITTI data loading — the foundation of our training pipeline.</a:t>
            </a:r>
            <a:endParaRPr lang="en-US" sz="1400" dirty="0"/>
          </a:p>
        </p:txBody>
      </p:sp>
      <p:sp>
        <p:nvSpPr>
          <p:cNvPr id="10" name="Text 8"/>
          <p:cNvSpPr/>
          <p:nvPr/>
        </p:nvSpPr>
        <p:spPr>
          <a:xfrm>
            <a:off x="5669280" y="1920240"/>
            <a:ext cx="3108960" cy="320040"/>
          </a:xfrm>
          <a:prstGeom prst="rect">
            <a:avLst/>
          </a:prstGeom>
          <a:noFill/>
          <a:ln/>
        </p:spPr>
        <p:txBody>
          <a:bodyPr wrap="square" lIns="0" tIns="0" rIns="0" bIns="0" rtlCol="0" anchor="ctr"/>
          <a:lstStyle/>
          <a:p>
            <a:pPr marL="0" indent="0">
              <a:buNone/>
            </a:pPr>
            <a:r>
              <a:rPr lang="en-US" sz="1300" b="1" dirty="0">
                <a:solidFill>
                  <a:srgbClr val="1B7A8C"/>
                </a:solidFill>
                <a:latin typeface="Cambria" pitchFamily="34" charset="0"/>
                <a:ea typeface="Cambria" pitchFamily="34" charset="-122"/>
                <a:cs typeface="Cambria" pitchFamily="34" charset="-120"/>
              </a:rPr>
              <a:t>Three Key Methods</a:t>
            </a:r>
            <a:endParaRPr lang="en-US" sz="1300" dirty="0"/>
          </a:p>
        </p:txBody>
      </p:sp>
      <p:sp>
        <p:nvSpPr>
          <p:cNvPr id="11" name="Shape 9"/>
          <p:cNvSpPr/>
          <p:nvPr/>
        </p:nvSpPr>
        <p:spPr>
          <a:xfrm>
            <a:off x="5669280" y="2331720"/>
            <a:ext cx="3108960" cy="77724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2" name="Shape 10"/>
          <p:cNvSpPr/>
          <p:nvPr/>
        </p:nvSpPr>
        <p:spPr>
          <a:xfrm>
            <a:off x="5669280" y="2331720"/>
            <a:ext cx="64008" cy="777240"/>
          </a:xfrm>
          <a:prstGeom prst="rect">
            <a:avLst/>
          </a:prstGeom>
          <a:solidFill>
            <a:srgbClr val="1B7A8C"/>
          </a:solidFill>
          <a:ln w="12700">
            <a:solidFill>
              <a:srgbClr val="1B7A8C"/>
            </a:solidFill>
            <a:prstDash val="solid"/>
          </a:ln>
        </p:spPr>
        <p:txBody>
          <a:bodyPr/>
          <a:lstStyle/>
          <a:p>
            <a:endParaRPr lang="en-ZA"/>
          </a:p>
        </p:txBody>
      </p:sp>
      <p:sp>
        <p:nvSpPr>
          <p:cNvPr id="13" name="Text 11"/>
          <p:cNvSpPr/>
          <p:nvPr/>
        </p:nvSpPr>
        <p:spPr>
          <a:xfrm>
            <a:off x="5833872" y="2404872"/>
            <a:ext cx="285292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__init__</a:t>
            </a:r>
            <a:endParaRPr lang="en-US" sz="1200" dirty="0"/>
          </a:p>
        </p:txBody>
      </p:sp>
      <p:sp>
        <p:nvSpPr>
          <p:cNvPr id="14" name="Text 12"/>
          <p:cNvSpPr/>
          <p:nvPr/>
        </p:nvSpPr>
        <p:spPr>
          <a:xfrm>
            <a:off x="5833872" y="2697480"/>
            <a:ext cx="2852928" cy="32004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Parses XML tracklets and sets up data paths</a:t>
            </a:r>
            <a:endParaRPr lang="en-US" sz="1200" dirty="0"/>
          </a:p>
        </p:txBody>
      </p:sp>
      <p:sp>
        <p:nvSpPr>
          <p:cNvPr id="15" name="Shape 13"/>
          <p:cNvSpPr/>
          <p:nvPr/>
        </p:nvSpPr>
        <p:spPr>
          <a:xfrm>
            <a:off x="5669280" y="3246120"/>
            <a:ext cx="3108960" cy="77724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6" name="Shape 14"/>
          <p:cNvSpPr/>
          <p:nvPr/>
        </p:nvSpPr>
        <p:spPr>
          <a:xfrm>
            <a:off x="5669280" y="3246120"/>
            <a:ext cx="64008" cy="777240"/>
          </a:xfrm>
          <a:prstGeom prst="rect">
            <a:avLst/>
          </a:prstGeom>
          <a:solidFill>
            <a:srgbClr val="1B7A8C"/>
          </a:solidFill>
          <a:ln w="12700">
            <a:solidFill>
              <a:srgbClr val="1B7A8C"/>
            </a:solidFill>
            <a:prstDash val="solid"/>
          </a:ln>
        </p:spPr>
        <p:txBody>
          <a:bodyPr/>
          <a:lstStyle/>
          <a:p>
            <a:endParaRPr lang="en-ZA"/>
          </a:p>
        </p:txBody>
      </p:sp>
      <p:sp>
        <p:nvSpPr>
          <p:cNvPr id="17" name="Text 15"/>
          <p:cNvSpPr/>
          <p:nvPr/>
        </p:nvSpPr>
        <p:spPr>
          <a:xfrm>
            <a:off x="5833872" y="3319272"/>
            <a:ext cx="285292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__len__</a:t>
            </a:r>
            <a:endParaRPr lang="en-US" sz="1200" dirty="0"/>
          </a:p>
        </p:txBody>
      </p:sp>
      <p:sp>
        <p:nvSpPr>
          <p:cNvPr id="18" name="Text 16"/>
          <p:cNvSpPr/>
          <p:nvPr/>
        </p:nvSpPr>
        <p:spPr>
          <a:xfrm>
            <a:off x="5833872" y="3611880"/>
            <a:ext cx="2852928" cy="32004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Returns total number of samples available</a:t>
            </a:r>
            <a:endParaRPr lang="en-US" sz="1200" dirty="0"/>
          </a:p>
        </p:txBody>
      </p:sp>
      <p:sp>
        <p:nvSpPr>
          <p:cNvPr id="19" name="Shape 17"/>
          <p:cNvSpPr/>
          <p:nvPr/>
        </p:nvSpPr>
        <p:spPr>
          <a:xfrm>
            <a:off x="5669280" y="4160520"/>
            <a:ext cx="3108960" cy="77724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0" name="Shape 18"/>
          <p:cNvSpPr/>
          <p:nvPr/>
        </p:nvSpPr>
        <p:spPr>
          <a:xfrm>
            <a:off x="5669280" y="4160520"/>
            <a:ext cx="64008" cy="777240"/>
          </a:xfrm>
          <a:prstGeom prst="rect">
            <a:avLst/>
          </a:prstGeom>
          <a:solidFill>
            <a:srgbClr val="1B7A8C"/>
          </a:solidFill>
          <a:ln w="12700">
            <a:solidFill>
              <a:srgbClr val="1B7A8C"/>
            </a:solidFill>
            <a:prstDash val="solid"/>
          </a:ln>
        </p:spPr>
        <p:txBody>
          <a:bodyPr/>
          <a:lstStyle/>
          <a:p>
            <a:endParaRPr lang="en-ZA"/>
          </a:p>
        </p:txBody>
      </p:sp>
      <p:sp>
        <p:nvSpPr>
          <p:cNvPr id="21" name="Text 19"/>
          <p:cNvSpPr/>
          <p:nvPr/>
        </p:nvSpPr>
        <p:spPr>
          <a:xfrm>
            <a:off x="5833872" y="4233672"/>
            <a:ext cx="285292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__build</a:t>
            </a:r>
            <a:endParaRPr lang="en-US" sz="1200" dirty="0"/>
          </a:p>
        </p:txBody>
      </p:sp>
      <p:sp>
        <p:nvSpPr>
          <p:cNvPr id="22" name="Text 20"/>
          <p:cNvSpPr/>
          <p:nvPr/>
        </p:nvSpPr>
        <p:spPr>
          <a:xfrm>
            <a:off x="5833872" y="4526280"/>
            <a:ext cx="2852928" cy="32004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Creates and stores sequences in </a:t>
            </a:r>
            <a:r>
              <a:rPr lang="en-US" sz="1200" dirty="0" err="1">
                <a:solidFill>
                  <a:srgbClr val="4A5568"/>
                </a:solidFill>
                <a:latin typeface="Calibri" pitchFamily="34" charset="0"/>
                <a:ea typeface="Calibri" pitchFamily="34" charset="-122"/>
                <a:cs typeface="Calibri" pitchFamily="34" charset="-120"/>
              </a:rPr>
              <a:t>numpy</a:t>
            </a:r>
            <a:r>
              <a:rPr lang="en-US" sz="1200" dirty="0">
                <a:solidFill>
                  <a:srgbClr val="4A5568"/>
                </a:solidFill>
                <a:latin typeface="Calibri" pitchFamily="34" charset="0"/>
                <a:ea typeface="Calibri" pitchFamily="34" charset="-122"/>
                <a:cs typeface="Calibri" pitchFamily="34" charset="-120"/>
              </a:rPr>
              <a:t> files</a:t>
            </a:r>
            <a:endParaRPr lang="en-US" sz="1200" dirty="0"/>
          </a:p>
        </p:txBody>
      </p:sp>
      <p:pic>
        <p:nvPicPr>
          <p:cNvPr id="24" name="Picture 23">
            <a:extLst>
              <a:ext uri="{FF2B5EF4-FFF2-40B4-BE49-F238E27FC236}">
                <a16:creationId xmlns:a16="http://schemas.microsoft.com/office/drawing/2014/main" id="{2E72B5B3-CA23-6A1F-6569-8FA7E59307D6}"/>
              </a:ext>
            </a:extLst>
          </p:cNvPr>
          <p:cNvPicPr>
            <a:picLocks noChangeAspect="1"/>
          </p:cNvPicPr>
          <p:nvPr/>
        </p:nvPicPr>
        <p:blipFill>
          <a:blip r:embed="rId3"/>
          <a:stretch>
            <a:fillRect/>
          </a:stretch>
        </p:blipFill>
        <p:spPr>
          <a:xfrm>
            <a:off x="457200" y="1783080"/>
            <a:ext cx="3170520" cy="332384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4 — PYTHON IMPLEMENTATION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Feature Extraction Pipeline</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18 / 35</a:t>
            </a:r>
            <a:endParaRPr lang="en-US" sz="900" dirty="0"/>
          </a:p>
        </p:txBody>
      </p:sp>
      <p:sp>
        <p:nvSpPr>
          <p:cNvPr id="7" name="Text 5"/>
          <p:cNvSpPr/>
          <p:nvPr/>
        </p:nvSpPr>
        <p:spPr>
          <a:xfrm>
            <a:off x="457200" y="1371600"/>
            <a:ext cx="8229600" cy="36576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We use two parallel branches to extract complementary information from each frame.</a:t>
            </a:r>
            <a:endParaRPr lang="en-US" sz="1400" dirty="0"/>
          </a:p>
        </p:txBody>
      </p:sp>
      <p:sp>
        <p:nvSpPr>
          <p:cNvPr id="8" name="Shape 6"/>
          <p:cNvSpPr/>
          <p:nvPr/>
        </p:nvSpPr>
        <p:spPr>
          <a:xfrm>
            <a:off x="365760" y="1828800"/>
            <a:ext cx="3931920" cy="256032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9" name="Shape 7"/>
          <p:cNvSpPr/>
          <p:nvPr/>
        </p:nvSpPr>
        <p:spPr>
          <a:xfrm>
            <a:off x="365760" y="1828800"/>
            <a:ext cx="3931919" cy="457200"/>
          </a:xfrm>
          <a:prstGeom prst="rect">
            <a:avLst/>
          </a:prstGeom>
          <a:solidFill>
            <a:srgbClr val="1B7A8C"/>
          </a:solidFill>
          <a:ln w="12700">
            <a:solidFill>
              <a:srgbClr val="1B7A8C"/>
            </a:solidFill>
            <a:prstDash val="solid"/>
          </a:ln>
        </p:spPr>
        <p:txBody>
          <a:bodyPr/>
          <a:lstStyle/>
          <a:p>
            <a:endParaRPr lang="en-ZA"/>
          </a:p>
        </p:txBody>
      </p:sp>
      <p:sp>
        <p:nvSpPr>
          <p:cNvPr id="10" name="Text 8"/>
          <p:cNvSpPr/>
          <p:nvPr/>
        </p:nvSpPr>
        <p:spPr>
          <a:xfrm>
            <a:off x="365760" y="1828800"/>
            <a:ext cx="3931920" cy="457200"/>
          </a:xfrm>
          <a:prstGeom prst="rect">
            <a:avLst/>
          </a:prstGeom>
          <a:noFill/>
          <a:ln/>
        </p:spPr>
        <p:txBody>
          <a:bodyPr wrap="square" lIns="0" tIns="0" rIns="0" bIns="0" rtlCol="0" anchor="ctr"/>
          <a:lstStyle/>
          <a:p>
            <a:pPr marL="0" indent="0" algn="ctr">
              <a:buNone/>
            </a:pPr>
            <a:r>
              <a:rPr lang="en-US" sz="1300" b="1" dirty="0">
                <a:solidFill>
                  <a:srgbClr val="FFFFFF"/>
                </a:solidFill>
              </a:rPr>
              <a:t>Visual Branch (Camera)</a:t>
            </a:r>
            <a:endParaRPr lang="en-US" sz="1300" dirty="0"/>
          </a:p>
        </p:txBody>
      </p:sp>
      <p:sp>
        <p:nvSpPr>
          <p:cNvPr id="12" name="Shape 10"/>
          <p:cNvSpPr/>
          <p:nvPr/>
        </p:nvSpPr>
        <p:spPr>
          <a:xfrm>
            <a:off x="4846320" y="1828800"/>
            <a:ext cx="3931920" cy="256032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3" name="Shape 11"/>
          <p:cNvSpPr/>
          <p:nvPr/>
        </p:nvSpPr>
        <p:spPr>
          <a:xfrm>
            <a:off x="4846320" y="1828800"/>
            <a:ext cx="3931920" cy="457200"/>
          </a:xfrm>
          <a:prstGeom prst="rect">
            <a:avLst/>
          </a:prstGeom>
          <a:solidFill>
            <a:srgbClr val="0D1B2A"/>
          </a:solidFill>
          <a:ln w="12700">
            <a:solidFill>
              <a:srgbClr val="0D1B2A"/>
            </a:solidFill>
            <a:prstDash val="solid"/>
          </a:ln>
        </p:spPr>
        <p:txBody>
          <a:bodyPr/>
          <a:lstStyle/>
          <a:p>
            <a:endParaRPr lang="en-ZA"/>
          </a:p>
        </p:txBody>
      </p:sp>
      <p:sp>
        <p:nvSpPr>
          <p:cNvPr id="14" name="Text 12"/>
          <p:cNvSpPr/>
          <p:nvPr/>
        </p:nvSpPr>
        <p:spPr>
          <a:xfrm>
            <a:off x="4846320" y="1828800"/>
            <a:ext cx="3931920" cy="457200"/>
          </a:xfrm>
          <a:prstGeom prst="rect">
            <a:avLst/>
          </a:prstGeom>
          <a:noFill/>
          <a:ln/>
        </p:spPr>
        <p:txBody>
          <a:bodyPr wrap="square" lIns="0" tIns="0" rIns="0" bIns="0" rtlCol="0" anchor="ctr"/>
          <a:lstStyle/>
          <a:p>
            <a:pPr marL="0" indent="0" algn="ctr">
              <a:buNone/>
            </a:pPr>
            <a:r>
              <a:rPr lang="en-US" sz="1300" b="1" dirty="0">
                <a:solidFill>
                  <a:srgbClr val="FFFFFF"/>
                </a:solidFill>
              </a:rPr>
              <a:t>Spatial Branch (LiDAR)</a:t>
            </a:r>
            <a:endParaRPr lang="en-US" sz="1300" dirty="0"/>
          </a:p>
        </p:txBody>
      </p:sp>
      <p:sp>
        <p:nvSpPr>
          <p:cNvPr id="15" name="Text 13"/>
          <p:cNvSpPr/>
          <p:nvPr/>
        </p:nvSpPr>
        <p:spPr>
          <a:xfrm>
            <a:off x="5029200" y="2377440"/>
            <a:ext cx="3566160" cy="1828800"/>
          </a:xfrm>
          <a:prstGeom prst="rect">
            <a:avLst/>
          </a:prstGeom>
          <a:noFill/>
          <a:ln/>
        </p:spPr>
        <p:txBody>
          <a:bodyPr wrap="square" rtlCol="0" anchor="ctr"/>
          <a:lstStyle/>
          <a:p>
            <a:pPr marL="0" indent="0">
              <a:buNone/>
            </a:pPr>
            <a:endParaRPr lang="en-US" sz="1200" dirty="0"/>
          </a:p>
        </p:txBody>
      </p:sp>
      <p:sp>
        <p:nvSpPr>
          <p:cNvPr id="16" name="Text 14"/>
          <p:cNvSpPr/>
          <p:nvPr/>
        </p:nvSpPr>
        <p:spPr>
          <a:xfrm>
            <a:off x="365760" y="4572000"/>
            <a:ext cx="8412480" cy="365760"/>
          </a:xfrm>
          <a:prstGeom prst="rect">
            <a:avLst/>
          </a:prstGeom>
          <a:noFill/>
          <a:ln/>
        </p:spPr>
        <p:txBody>
          <a:bodyPr wrap="square" lIns="0" tIns="0" rIns="0" bIns="0" rtlCol="0" anchor="ctr"/>
          <a:lstStyle/>
          <a:p>
            <a:pPr marL="0" indent="0" algn="ctr">
              <a:buNone/>
            </a:pPr>
            <a:r>
              <a:rPr lang="en-US" sz="1300" b="1" dirty="0">
                <a:solidFill>
                  <a:srgbClr val="1B7A8C"/>
                </a:solidFill>
                <a:latin typeface="Cambria" pitchFamily="34" charset="0"/>
                <a:ea typeface="Cambria" pitchFamily="34" charset="-122"/>
                <a:cs typeface="Cambria" pitchFamily="34" charset="-120"/>
              </a:rPr>
              <a:t>→ Both branches are concatenated → 265-dim fused vector per frame</a:t>
            </a:r>
            <a:endParaRPr lang="en-US" sz="1300" dirty="0"/>
          </a:p>
        </p:txBody>
      </p:sp>
      <p:pic>
        <p:nvPicPr>
          <p:cNvPr id="18" name="Picture 17">
            <a:extLst>
              <a:ext uri="{FF2B5EF4-FFF2-40B4-BE49-F238E27FC236}">
                <a16:creationId xmlns:a16="http://schemas.microsoft.com/office/drawing/2014/main" id="{8C03BBC3-5425-74F2-2AD5-8CD4B00F5AA7}"/>
              </a:ext>
            </a:extLst>
          </p:cNvPr>
          <p:cNvPicPr>
            <a:picLocks noChangeAspect="1"/>
          </p:cNvPicPr>
          <p:nvPr/>
        </p:nvPicPr>
        <p:blipFill>
          <a:blip r:embed="rId3"/>
          <a:stretch>
            <a:fillRect/>
          </a:stretch>
        </p:blipFill>
        <p:spPr>
          <a:xfrm>
            <a:off x="4846320" y="2286000"/>
            <a:ext cx="3931921" cy="2103120"/>
          </a:xfrm>
          <a:prstGeom prst="rect">
            <a:avLst/>
          </a:prstGeom>
        </p:spPr>
      </p:pic>
      <p:pic>
        <p:nvPicPr>
          <p:cNvPr id="20" name="Picture 19">
            <a:extLst>
              <a:ext uri="{FF2B5EF4-FFF2-40B4-BE49-F238E27FC236}">
                <a16:creationId xmlns:a16="http://schemas.microsoft.com/office/drawing/2014/main" id="{954F23AB-8C58-261D-68CB-841C44DA41AB}"/>
              </a:ext>
            </a:extLst>
          </p:cNvPr>
          <p:cNvPicPr>
            <a:picLocks noChangeAspect="1"/>
          </p:cNvPicPr>
          <p:nvPr/>
        </p:nvPicPr>
        <p:blipFill>
          <a:blip r:embed="rId4"/>
          <a:stretch>
            <a:fillRect/>
          </a:stretch>
        </p:blipFill>
        <p:spPr>
          <a:xfrm>
            <a:off x="365759" y="2286000"/>
            <a:ext cx="3931920" cy="210312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6A74B792-D8E3-AAA5-554C-4856F514A63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A8C9A9E-40FF-08FE-F4FF-B613568FAA09}"/>
              </a:ext>
            </a:extLst>
          </p:cNvPr>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a:extLst>
              <a:ext uri="{FF2B5EF4-FFF2-40B4-BE49-F238E27FC236}">
                <a16:creationId xmlns:a16="http://schemas.microsoft.com/office/drawing/2014/main" id="{2C0600CF-06DF-D61B-FD62-F811EAE0A67D}"/>
              </a:ext>
            </a:extLst>
          </p:cNvPr>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4 — PYTHON IMPLEMENTATION</a:t>
            </a:r>
            <a:endParaRPr lang="en-US" sz="900" dirty="0"/>
          </a:p>
        </p:txBody>
      </p:sp>
      <p:sp>
        <p:nvSpPr>
          <p:cNvPr id="4" name="Text 2">
            <a:extLst>
              <a:ext uri="{FF2B5EF4-FFF2-40B4-BE49-F238E27FC236}">
                <a16:creationId xmlns:a16="http://schemas.microsoft.com/office/drawing/2014/main" id="{CAA4C5C0-2EC0-E6B3-F01E-F0D2A67E4B4C}"/>
              </a:ext>
            </a:extLst>
          </p:cNvPr>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Temporal Modelling in Python</a:t>
            </a:r>
            <a:endParaRPr lang="en-US" sz="2800" dirty="0"/>
          </a:p>
        </p:txBody>
      </p:sp>
      <p:sp>
        <p:nvSpPr>
          <p:cNvPr id="5" name="Shape 3">
            <a:extLst>
              <a:ext uri="{FF2B5EF4-FFF2-40B4-BE49-F238E27FC236}">
                <a16:creationId xmlns:a16="http://schemas.microsoft.com/office/drawing/2014/main" id="{0381C3C6-6982-BA59-7765-825794091263}"/>
              </a:ext>
            </a:extLst>
          </p:cNvPr>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a:extLst>
              <a:ext uri="{FF2B5EF4-FFF2-40B4-BE49-F238E27FC236}">
                <a16:creationId xmlns:a16="http://schemas.microsoft.com/office/drawing/2014/main" id="{264438A5-667B-2A52-ED67-12BA1DAB0EFE}"/>
              </a:ext>
            </a:extLst>
          </p:cNvPr>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19 / 35</a:t>
            </a:r>
            <a:endParaRPr lang="en-US" sz="900" dirty="0"/>
          </a:p>
        </p:txBody>
      </p:sp>
      <p:sp>
        <p:nvSpPr>
          <p:cNvPr id="7" name="Text 5">
            <a:extLst>
              <a:ext uri="{FF2B5EF4-FFF2-40B4-BE49-F238E27FC236}">
                <a16:creationId xmlns:a16="http://schemas.microsoft.com/office/drawing/2014/main" id="{9BC3BB57-6575-4C8A-6E0F-1FCD82FFDA59}"/>
              </a:ext>
            </a:extLst>
          </p:cNvPr>
          <p:cNvSpPr/>
          <p:nvPr/>
        </p:nvSpPr>
        <p:spPr>
          <a:xfrm>
            <a:off x="457200" y="1371600"/>
            <a:ext cx="8229600" cy="36576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The Temporal FPN + Bi-LSTM architecture processes 32 consecutive frames at once.</a:t>
            </a:r>
            <a:endParaRPr lang="en-US" sz="1400" dirty="0"/>
          </a:p>
        </p:txBody>
      </p:sp>
      <p:sp>
        <p:nvSpPr>
          <p:cNvPr id="9" name="Text 7">
            <a:extLst>
              <a:ext uri="{FF2B5EF4-FFF2-40B4-BE49-F238E27FC236}">
                <a16:creationId xmlns:a16="http://schemas.microsoft.com/office/drawing/2014/main" id="{70F9395F-2933-9A06-CB78-700615313310}"/>
              </a:ext>
            </a:extLst>
          </p:cNvPr>
          <p:cNvSpPr/>
          <p:nvPr/>
        </p:nvSpPr>
        <p:spPr>
          <a:xfrm>
            <a:off x="548640" y="2011680"/>
            <a:ext cx="4572000" cy="2286000"/>
          </a:xfrm>
          <a:prstGeom prst="rect">
            <a:avLst/>
          </a:prstGeom>
          <a:noFill/>
          <a:ln/>
        </p:spPr>
        <p:txBody>
          <a:bodyPr wrap="square" rtlCol="0" anchor="ctr"/>
          <a:lstStyle/>
          <a:p>
            <a:pPr marL="0" indent="0">
              <a:buNone/>
            </a:pPr>
            <a:endParaRPr lang="en-US" sz="1100" dirty="0"/>
          </a:p>
        </p:txBody>
      </p:sp>
      <p:sp>
        <p:nvSpPr>
          <p:cNvPr id="10" name="Shape 8">
            <a:extLst>
              <a:ext uri="{FF2B5EF4-FFF2-40B4-BE49-F238E27FC236}">
                <a16:creationId xmlns:a16="http://schemas.microsoft.com/office/drawing/2014/main" id="{E531BAF6-0192-3AED-614C-F7EC3E603A80}"/>
              </a:ext>
            </a:extLst>
          </p:cNvPr>
          <p:cNvSpPr/>
          <p:nvPr/>
        </p:nvSpPr>
        <p:spPr>
          <a:xfrm>
            <a:off x="5577840" y="1874520"/>
            <a:ext cx="3200400" cy="109728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1" name="Shape 9">
            <a:extLst>
              <a:ext uri="{FF2B5EF4-FFF2-40B4-BE49-F238E27FC236}">
                <a16:creationId xmlns:a16="http://schemas.microsoft.com/office/drawing/2014/main" id="{FBD04C5E-8C3F-837A-42B0-B54F72EE8286}"/>
              </a:ext>
            </a:extLst>
          </p:cNvPr>
          <p:cNvSpPr/>
          <p:nvPr/>
        </p:nvSpPr>
        <p:spPr>
          <a:xfrm>
            <a:off x="5577840" y="1874520"/>
            <a:ext cx="64008" cy="1097280"/>
          </a:xfrm>
          <a:prstGeom prst="rect">
            <a:avLst/>
          </a:prstGeom>
          <a:solidFill>
            <a:srgbClr val="1B7A8C"/>
          </a:solidFill>
          <a:ln w="12700">
            <a:solidFill>
              <a:srgbClr val="1B7A8C"/>
            </a:solidFill>
            <a:prstDash val="solid"/>
          </a:ln>
        </p:spPr>
        <p:txBody>
          <a:bodyPr/>
          <a:lstStyle/>
          <a:p>
            <a:endParaRPr lang="en-ZA"/>
          </a:p>
        </p:txBody>
      </p:sp>
      <p:sp>
        <p:nvSpPr>
          <p:cNvPr id="12" name="Text 10">
            <a:extLst>
              <a:ext uri="{FF2B5EF4-FFF2-40B4-BE49-F238E27FC236}">
                <a16:creationId xmlns:a16="http://schemas.microsoft.com/office/drawing/2014/main" id="{76FB875B-9D17-C6C3-AFF8-68D4B7297CCD}"/>
              </a:ext>
            </a:extLst>
          </p:cNvPr>
          <p:cNvSpPr/>
          <p:nvPr/>
        </p:nvSpPr>
        <p:spPr>
          <a:xfrm>
            <a:off x="5742432" y="1947672"/>
            <a:ext cx="294436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Temporal FPN</a:t>
            </a:r>
            <a:endParaRPr lang="en-US" sz="1200" dirty="0"/>
          </a:p>
        </p:txBody>
      </p:sp>
      <p:sp>
        <p:nvSpPr>
          <p:cNvPr id="13" name="Text 11">
            <a:extLst>
              <a:ext uri="{FF2B5EF4-FFF2-40B4-BE49-F238E27FC236}">
                <a16:creationId xmlns:a16="http://schemas.microsoft.com/office/drawing/2014/main" id="{E0FB5CD1-0FB4-C8A2-0C24-E63443969B63}"/>
              </a:ext>
            </a:extLst>
          </p:cNvPr>
          <p:cNvSpPr/>
          <p:nvPr/>
        </p:nvSpPr>
        <p:spPr>
          <a:xfrm>
            <a:off x="5742432" y="2240280"/>
            <a:ext cx="2944368" cy="64008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Multi-scale 1D convolutions (P3/P4/P5) capture patterns at different time scales for short bursts and longer motion trends.</a:t>
            </a:r>
            <a:endParaRPr lang="en-US" sz="1200" dirty="0"/>
          </a:p>
        </p:txBody>
      </p:sp>
      <p:sp>
        <p:nvSpPr>
          <p:cNvPr id="14" name="Shape 12">
            <a:extLst>
              <a:ext uri="{FF2B5EF4-FFF2-40B4-BE49-F238E27FC236}">
                <a16:creationId xmlns:a16="http://schemas.microsoft.com/office/drawing/2014/main" id="{9380260B-7E4F-B058-1D92-CDC61E6EE4CF}"/>
              </a:ext>
            </a:extLst>
          </p:cNvPr>
          <p:cNvSpPr/>
          <p:nvPr/>
        </p:nvSpPr>
        <p:spPr>
          <a:xfrm>
            <a:off x="5577840" y="3108960"/>
            <a:ext cx="3200400" cy="132588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5" name="Shape 13">
            <a:extLst>
              <a:ext uri="{FF2B5EF4-FFF2-40B4-BE49-F238E27FC236}">
                <a16:creationId xmlns:a16="http://schemas.microsoft.com/office/drawing/2014/main" id="{580D0416-2D86-BD56-67F2-022ED24986AB}"/>
              </a:ext>
            </a:extLst>
          </p:cNvPr>
          <p:cNvSpPr/>
          <p:nvPr/>
        </p:nvSpPr>
        <p:spPr>
          <a:xfrm>
            <a:off x="5577840" y="3108960"/>
            <a:ext cx="64008" cy="1325880"/>
          </a:xfrm>
          <a:prstGeom prst="rect">
            <a:avLst/>
          </a:prstGeom>
          <a:solidFill>
            <a:srgbClr val="1B7A8C"/>
          </a:solidFill>
          <a:ln w="12700">
            <a:solidFill>
              <a:srgbClr val="1B7A8C"/>
            </a:solidFill>
            <a:prstDash val="solid"/>
          </a:ln>
        </p:spPr>
        <p:txBody>
          <a:bodyPr/>
          <a:lstStyle/>
          <a:p>
            <a:endParaRPr lang="en-ZA"/>
          </a:p>
        </p:txBody>
      </p:sp>
      <p:sp>
        <p:nvSpPr>
          <p:cNvPr id="16" name="Text 14">
            <a:extLst>
              <a:ext uri="{FF2B5EF4-FFF2-40B4-BE49-F238E27FC236}">
                <a16:creationId xmlns:a16="http://schemas.microsoft.com/office/drawing/2014/main" id="{CC4CA71C-40F4-C67E-E727-99D18A4C7C24}"/>
              </a:ext>
            </a:extLst>
          </p:cNvPr>
          <p:cNvSpPr/>
          <p:nvPr/>
        </p:nvSpPr>
        <p:spPr>
          <a:xfrm>
            <a:off x="5742432" y="3182112"/>
            <a:ext cx="294436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Bi-LSTM</a:t>
            </a:r>
            <a:endParaRPr lang="en-US" sz="1200" dirty="0"/>
          </a:p>
        </p:txBody>
      </p:sp>
      <p:sp>
        <p:nvSpPr>
          <p:cNvPr id="17" name="Text 15">
            <a:extLst>
              <a:ext uri="{FF2B5EF4-FFF2-40B4-BE49-F238E27FC236}">
                <a16:creationId xmlns:a16="http://schemas.microsoft.com/office/drawing/2014/main" id="{AB123BA7-4E7E-BA6D-3B31-68873B66D3D7}"/>
              </a:ext>
            </a:extLst>
          </p:cNvPr>
          <p:cNvSpPr/>
          <p:nvPr/>
        </p:nvSpPr>
        <p:spPr>
          <a:xfrm>
            <a:off x="5742432" y="3474720"/>
            <a:ext cx="2944368" cy="86868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Processes the sequence both forward and backward, then outputs a single class prediction for the full 32-frame window.</a:t>
            </a:r>
            <a:endParaRPr lang="en-US" sz="1200" dirty="0"/>
          </a:p>
        </p:txBody>
      </p:sp>
      <p:pic>
        <p:nvPicPr>
          <p:cNvPr id="18" name="Picture 17">
            <a:extLst>
              <a:ext uri="{FF2B5EF4-FFF2-40B4-BE49-F238E27FC236}">
                <a16:creationId xmlns:a16="http://schemas.microsoft.com/office/drawing/2014/main" id="{BEE4DE8C-5C30-1E59-F175-02F709487946}"/>
              </a:ext>
            </a:extLst>
          </p:cNvPr>
          <p:cNvPicPr>
            <a:picLocks noChangeAspect="1"/>
          </p:cNvPicPr>
          <p:nvPr/>
        </p:nvPicPr>
        <p:blipFill>
          <a:blip r:embed="rId3"/>
          <a:stretch>
            <a:fillRect/>
          </a:stretch>
        </p:blipFill>
        <p:spPr>
          <a:xfrm>
            <a:off x="477048" y="1876806"/>
            <a:ext cx="4643592" cy="2883110"/>
          </a:xfrm>
          <a:prstGeom prst="rect">
            <a:avLst/>
          </a:prstGeom>
        </p:spPr>
      </p:pic>
    </p:spTree>
    <p:extLst>
      <p:ext uri="{BB962C8B-B14F-4D97-AF65-F5344CB8AC3E}">
        <p14:creationId xmlns:p14="http://schemas.microsoft.com/office/powerpoint/2010/main" val="38699179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4 — PYTHON IMPLEMENTATION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Temporal Modelling in Python</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19 / 35</a:t>
            </a:r>
            <a:endParaRPr lang="en-US" sz="900" dirty="0"/>
          </a:p>
        </p:txBody>
      </p:sp>
      <p:sp>
        <p:nvSpPr>
          <p:cNvPr id="7" name="Text 5"/>
          <p:cNvSpPr/>
          <p:nvPr/>
        </p:nvSpPr>
        <p:spPr>
          <a:xfrm>
            <a:off x="457200" y="1371600"/>
            <a:ext cx="8229600" cy="36576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The Temporal FPN + Bi-LSTM architecture processes 32 consecutive frames at once.</a:t>
            </a:r>
            <a:endParaRPr lang="en-US" sz="1400" dirty="0"/>
          </a:p>
        </p:txBody>
      </p:sp>
      <p:sp>
        <p:nvSpPr>
          <p:cNvPr id="9" name="Text 7"/>
          <p:cNvSpPr/>
          <p:nvPr/>
        </p:nvSpPr>
        <p:spPr>
          <a:xfrm>
            <a:off x="548640" y="2011680"/>
            <a:ext cx="4572000" cy="2286000"/>
          </a:xfrm>
          <a:prstGeom prst="rect">
            <a:avLst/>
          </a:prstGeom>
          <a:noFill/>
          <a:ln/>
        </p:spPr>
        <p:txBody>
          <a:bodyPr wrap="square" rtlCol="0" anchor="ctr"/>
          <a:lstStyle/>
          <a:p>
            <a:pPr marL="0" indent="0">
              <a:buNone/>
            </a:pPr>
            <a:endParaRPr lang="en-US" sz="1100" dirty="0"/>
          </a:p>
        </p:txBody>
      </p:sp>
      <p:sp>
        <p:nvSpPr>
          <p:cNvPr id="10" name="Shape 8"/>
          <p:cNvSpPr/>
          <p:nvPr/>
        </p:nvSpPr>
        <p:spPr>
          <a:xfrm>
            <a:off x="5577840" y="1874520"/>
            <a:ext cx="3200400" cy="109728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1" name="Shape 9"/>
          <p:cNvSpPr/>
          <p:nvPr/>
        </p:nvSpPr>
        <p:spPr>
          <a:xfrm>
            <a:off x="5577840" y="1874520"/>
            <a:ext cx="64008" cy="1097280"/>
          </a:xfrm>
          <a:prstGeom prst="rect">
            <a:avLst/>
          </a:prstGeom>
          <a:solidFill>
            <a:srgbClr val="1B7A8C"/>
          </a:solidFill>
          <a:ln w="12700">
            <a:solidFill>
              <a:srgbClr val="1B7A8C"/>
            </a:solidFill>
            <a:prstDash val="solid"/>
          </a:ln>
        </p:spPr>
        <p:txBody>
          <a:bodyPr/>
          <a:lstStyle/>
          <a:p>
            <a:endParaRPr lang="en-ZA"/>
          </a:p>
        </p:txBody>
      </p:sp>
      <p:sp>
        <p:nvSpPr>
          <p:cNvPr id="12" name="Text 10"/>
          <p:cNvSpPr/>
          <p:nvPr/>
        </p:nvSpPr>
        <p:spPr>
          <a:xfrm>
            <a:off x="5742432" y="1947672"/>
            <a:ext cx="294436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Temporal FPN</a:t>
            </a:r>
            <a:endParaRPr lang="en-US" sz="1200" dirty="0"/>
          </a:p>
        </p:txBody>
      </p:sp>
      <p:sp>
        <p:nvSpPr>
          <p:cNvPr id="13" name="Text 11"/>
          <p:cNvSpPr/>
          <p:nvPr/>
        </p:nvSpPr>
        <p:spPr>
          <a:xfrm>
            <a:off x="5742432" y="2240280"/>
            <a:ext cx="2944368" cy="64008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Multi-scale 1D convolutions (P3/P4/P5) capture patterns at different time scales for short bursts and longer motion trends.</a:t>
            </a:r>
            <a:endParaRPr lang="en-US" sz="1200" dirty="0"/>
          </a:p>
        </p:txBody>
      </p:sp>
      <p:sp>
        <p:nvSpPr>
          <p:cNvPr id="14" name="Shape 12"/>
          <p:cNvSpPr/>
          <p:nvPr/>
        </p:nvSpPr>
        <p:spPr>
          <a:xfrm>
            <a:off x="5577840" y="3108960"/>
            <a:ext cx="3200400" cy="132588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5" name="Shape 13"/>
          <p:cNvSpPr/>
          <p:nvPr/>
        </p:nvSpPr>
        <p:spPr>
          <a:xfrm>
            <a:off x="5577840" y="3108960"/>
            <a:ext cx="64008" cy="1325880"/>
          </a:xfrm>
          <a:prstGeom prst="rect">
            <a:avLst/>
          </a:prstGeom>
          <a:solidFill>
            <a:srgbClr val="1B7A8C"/>
          </a:solidFill>
          <a:ln w="12700">
            <a:solidFill>
              <a:srgbClr val="1B7A8C"/>
            </a:solidFill>
            <a:prstDash val="solid"/>
          </a:ln>
        </p:spPr>
        <p:txBody>
          <a:bodyPr/>
          <a:lstStyle/>
          <a:p>
            <a:endParaRPr lang="en-ZA"/>
          </a:p>
        </p:txBody>
      </p:sp>
      <p:sp>
        <p:nvSpPr>
          <p:cNvPr id="16" name="Text 14"/>
          <p:cNvSpPr/>
          <p:nvPr/>
        </p:nvSpPr>
        <p:spPr>
          <a:xfrm>
            <a:off x="5742432" y="3182112"/>
            <a:ext cx="294436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Bi-LSTM</a:t>
            </a:r>
            <a:endParaRPr lang="en-US" sz="1200" dirty="0"/>
          </a:p>
        </p:txBody>
      </p:sp>
      <p:sp>
        <p:nvSpPr>
          <p:cNvPr id="17" name="Text 15"/>
          <p:cNvSpPr/>
          <p:nvPr/>
        </p:nvSpPr>
        <p:spPr>
          <a:xfrm>
            <a:off x="5742432" y="3474720"/>
            <a:ext cx="2944368" cy="86868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Processes the sequence both forward and backward, then outputs a single class prediction for the full 32-frame window.</a:t>
            </a:r>
            <a:endParaRPr lang="en-US" sz="1200" dirty="0"/>
          </a:p>
        </p:txBody>
      </p:sp>
      <p:pic>
        <p:nvPicPr>
          <p:cNvPr id="21" name="Picture 20">
            <a:extLst>
              <a:ext uri="{FF2B5EF4-FFF2-40B4-BE49-F238E27FC236}">
                <a16:creationId xmlns:a16="http://schemas.microsoft.com/office/drawing/2014/main" id="{492F8521-05D8-CD12-E472-610CA8F7922D}"/>
              </a:ext>
            </a:extLst>
          </p:cNvPr>
          <p:cNvPicPr>
            <a:picLocks noChangeAspect="1"/>
          </p:cNvPicPr>
          <p:nvPr/>
        </p:nvPicPr>
        <p:blipFill>
          <a:blip r:embed="rId3"/>
          <a:stretch>
            <a:fillRect/>
          </a:stretch>
        </p:blipFill>
        <p:spPr>
          <a:xfrm>
            <a:off x="457200" y="1853496"/>
            <a:ext cx="3513827" cy="317570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4 — PYTHON IMPLEMENTATION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Training Workflow</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20 / 35</a:t>
            </a:r>
            <a:endParaRPr lang="en-US" sz="900" dirty="0"/>
          </a:p>
        </p:txBody>
      </p:sp>
      <p:sp>
        <p:nvSpPr>
          <p:cNvPr id="7" name="Shape 5"/>
          <p:cNvSpPr/>
          <p:nvPr/>
        </p:nvSpPr>
        <p:spPr>
          <a:xfrm>
            <a:off x="365760" y="1371600"/>
            <a:ext cx="8412480" cy="658368"/>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8" name="Shape 6"/>
          <p:cNvSpPr/>
          <p:nvPr/>
        </p:nvSpPr>
        <p:spPr>
          <a:xfrm>
            <a:off x="365760" y="1371600"/>
            <a:ext cx="640080" cy="658368"/>
          </a:xfrm>
          <a:prstGeom prst="rect">
            <a:avLst/>
          </a:prstGeom>
          <a:solidFill>
            <a:srgbClr val="1B7A8C"/>
          </a:solidFill>
          <a:ln w="12700">
            <a:solidFill>
              <a:srgbClr val="1B7A8C"/>
            </a:solidFill>
            <a:prstDash val="solid"/>
          </a:ln>
        </p:spPr>
        <p:txBody>
          <a:bodyPr/>
          <a:lstStyle/>
          <a:p>
            <a:endParaRPr lang="en-ZA"/>
          </a:p>
        </p:txBody>
      </p:sp>
      <p:sp>
        <p:nvSpPr>
          <p:cNvPr id="9" name="Text 7"/>
          <p:cNvSpPr/>
          <p:nvPr/>
        </p:nvSpPr>
        <p:spPr>
          <a:xfrm>
            <a:off x="365760" y="1371600"/>
            <a:ext cx="640080" cy="658368"/>
          </a:xfrm>
          <a:prstGeom prst="rect">
            <a:avLst/>
          </a:prstGeom>
          <a:noFill/>
          <a:ln/>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10" name="Text 8"/>
          <p:cNvSpPr/>
          <p:nvPr/>
        </p:nvSpPr>
        <p:spPr>
          <a:xfrm>
            <a:off x="1077686" y="1417320"/>
            <a:ext cx="1645920" cy="320040"/>
          </a:xfrm>
          <a:prstGeom prst="rect">
            <a:avLst/>
          </a:prstGeom>
          <a:noFill/>
          <a:ln/>
        </p:spPr>
        <p:txBody>
          <a:bodyPr wrap="square" lIns="0" tIns="0" rIns="0" bIns="0" rtlCol="0" anchor="ctr"/>
          <a:lstStyle/>
          <a:p>
            <a:pPr marL="0" indent="0">
              <a:buNone/>
            </a:pPr>
            <a:r>
              <a:rPr lang="en-US" sz="1300" b="1" dirty="0">
                <a:solidFill>
                  <a:srgbClr val="1B7A8C"/>
                </a:solidFill>
              </a:rPr>
              <a:t>Initialise</a:t>
            </a:r>
            <a:endParaRPr lang="en-US" sz="1300" dirty="0"/>
          </a:p>
        </p:txBody>
      </p:sp>
      <p:sp>
        <p:nvSpPr>
          <p:cNvPr id="11" name="Text 9"/>
          <p:cNvSpPr/>
          <p:nvPr/>
        </p:nvSpPr>
        <p:spPr>
          <a:xfrm>
            <a:off x="1077686" y="1714500"/>
            <a:ext cx="7772400" cy="274320"/>
          </a:xfrm>
          <a:prstGeom prst="rect">
            <a:avLst/>
          </a:prstGeom>
          <a:noFill/>
          <a:ln/>
        </p:spPr>
        <p:txBody>
          <a:bodyPr wrap="square" lIns="0" tIns="0" rIns="0" bIns="0" rtlCol="0" anchor="ctr"/>
          <a:lstStyle/>
          <a:p>
            <a:pPr marL="0" indent="0">
              <a:buNone/>
            </a:pPr>
            <a:r>
              <a:rPr lang="en-US" sz="1100" dirty="0">
                <a:solidFill>
                  <a:srgbClr val="1A202C"/>
                </a:solidFill>
              </a:rPr>
              <a:t>Load pre-trained ResNet-50 weights, set up optimiser (Adam) and loss function (Cross-Entropy)</a:t>
            </a:r>
            <a:endParaRPr lang="en-US" sz="1100" dirty="0"/>
          </a:p>
        </p:txBody>
      </p:sp>
      <p:sp>
        <p:nvSpPr>
          <p:cNvPr id="12" name="Shape 10"/>
          <p:cNvSpPr/>
          <p:nvPr/>
        </p:nvSpPr>
        <p:spPr>
          <a:xfrm>
            <a:off x="365760" y="2103120"/>
            <a:ext cx="8412480" cy="658368"/>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3" name="Shape 11"/>
          <p:cNvSpPr/>
          <p:nvPr/>
        </p:nvSpPr>
        <p:spPr>
          <a:xfrm>
            <a:off x="365760" y="2103120"/>
            <a:ext cx="640080" cy="658368"/>
          </a:xfrm>
          <a:prstGeom prst="rect">
            <a:avLst/>
          </a:prstGeom>
          <a:solidFill>
            <a:srgbClr val="1B7A8C"/>
          </a:solidFill>
          <a:ln w="12700">
            <a:solidFill>
              <a:srgbClr val="1B7A8C"/>
            </a:solidFill>
            <a:prstDash val="solid"/>
          </a:ln>
        </p:spPr>
        <p:txBody>
          <a:bodyPr/>
          <a:lstStyle/>
          <a:p>
            <a:endParaRPr lang="en-ZA"/>
          </a:p>
        </p:txBody>
      </p:sp>
      <p:sp>
        <p:nvSpPr>
          <p:cNvPr id="14" name="Text 12"/>
          <p:cNvSpPr/>
          <p:nvPr/>
        </p:nvSpPr>
        <p:spPr>
          <a:xfrm>
            <a:off x="365760" y="2103120"/>
            <a:ext cx="640080" cy="658368"/>
          </a:xfrm>
          <a:prstGeom prst="rect">
            <a:avLst/>
          </a:prstGeom>
          <a:noFill/>
          <a:ln/>
        </p:spPr>
        <p:txBody>
          <a:bodyPr wrap="square" lIns="0" tIns="0" rIns="0" bIns="0" rtlCol="0" anchor="ctr"/>
          <a:lstStyle/>
          <a:p>
            <a:pPr marL="0" indent="0" algn="ctr">
              <a:buNone/>
            </a:pPr>
            <a:r>
              <a:rPr lang="en-US" sz="1800" b="1" dirty="0">
                <a:solidFill>
                  <a:srgbClr val="FFFFFF"/>
                </a:solidFill>
              </a:rPr>
              <a:t>2</a:t>
            </a:r>
            <a:endParaRPr lang="en-US" sz="1800" dirty="0"/>
          </a:p>
        </p:txBody>
      </p:sp>
      <p:sp>
        <p:nvSpPr>
          <p:cNvPr id="15" name="Text 13"/>
          <p:cNvSpPr/>
          <p:nvPr/>
        </p:nvSpPr>
        <p:spPr>
          <a:xfrm>
            <a:off x="1077686" y="2173659"/>
            <a:ext cx="1645920" cy="320040"/>
          </a:xfrm>
          <a:prstGeom prst="rect">
            <a:avLst/>
          </a:prstGeom>
          <a:noFill/>
          <a:ln/>
        </p:spPr>
        <p:txBody>
          <a:bodyPr wrap="square" lIns="0" tIns="0" rIns="0" bIns="0" rtlCol="0" anchor="ctr"/>
          <a:lstStyle/>
          <a:p>
            <a:pPr marL="0" indent="0">
              <a:buNone/>
            </a:pPr>
            <a:r>
              <a:rPr lang="en-US" sz="1300" b="1" dirty="0">
                <a:solidFill>
                  <a:srgbClr val="1B7A8C"/>
                </a:solidFill>
              </a:rPr>
              <a:t>Forward Pass</a:t>
            </a:r>
            <a:endParaRPr lang="en-US" sz="1300" dirty="0"/>
          </a:p>
        </p:txBody>
      </p:sp>
      <p:sp>
        <p:nvSpPr>
          <p:cNvPr id="16" name="Text 14"/>
          <p:cNvSpPr/>
          <p:nvPr/>
        </p:nvSpPr>
        <p:spPr>
          <a:xfrm>
            <a:off x="1077686" y="2450592"/>
            <a:ext cx="7772400" cy="274320"/>
          </a:xfrm>
          <a:prstGeom prst="rect">
            <a:avLst/>
          </a:prstGeom>
          <a:noFill/>
          <a:ln/>
        </p:spPr>
        <p:txBody>
          <a:bodyPr wrap="square" lIns="0" tIns="0" rIns="0" bIns="0" rtlCol="0" anchor="ctr"/>
          <a:lstStyle/>
          <a:p>
            <a:pPr marL="0" indent="0">
              <a:buNone/>
            </a:pPr>
            <a:r>
              <a:rPr lang="en-US" sz="1100" dirty="0">
                <a:solidFill>
                  <a:srgbClr val="1A202C"/>
                </a:solidFill>
              </a:rPr>
              <a:t>Run a batch of sequences through the full pipeline, generating class probability predictions</a:t>
            </a:r>
            <a:endParaRPr lang="en-US" sz="1100" dirty="0"/>
          </a:p>
        </p:txBody>
      </p:sp>
      <p:sp>
        <p:nvSpPr>
          <p:cNvPr id="17" name="Shape 15"/>
          <p:cNvSpPr/>
          <p:nvPr/>
        </p:nvSpPr>
        <p:spPr>
          <a:xfrm>
            <a:off x="365760" y="2834640"/>
            <a:ext cx="8412480" cy="658368"/>
          </a:xfrm>
          <a:prstGeom prst="rect">
            <a:avLst/>
          </a:prstGeom>
          <a:solidFill>
            <a:srgbClr val="1B7A8C"/>
          </a:solidFill>
          <a:ln w="6350">
            <a:solidFill>
              <a:srgbClr val="1B7A8C"/>
            </a:solidFill>
            <a:prstDash val="solid"/>
          </a:ln>
          <a:effectLst>
            <a:outerShdw blurRad="101600" dist="38100" dir="8100000" algn="bl" rotWithShape="0">
              <a:srgbClr val="000000">
                <a:alpha val="18000"/>
              </a:srgbClr>
            </a:outerShdw>
          </a:effectLst>
        </p:spPr>
        <p:txBody>
          <a:bodyPr/>
          <a:lstStyle/>
          <a:p>
            <a:endParaRPr lang="en-ZA"/>
          </a:p>
        </p:txBody>
      </p:sp>
      <p:sp>
        <p:nvSpPr>
          <p:cNvPr id="18" name="Shape 16"/>
          <p:cNvSpPr/>
          <p:nvPr/>
        </p:nvSpPr>
        <p:spPr>
          <a:xfrm>
            <a:off x="365760" y="2834640"/>
            <a:ext cx="640080" cy="658368"/>
          </a:xfrm>
          <a:prstGeom prst="rect">
            <a:avLst/>
          </a:prstGeom>
          <a:solidFill>
            <a:srgbClr val="1B7A8C"/>
          </a:solidFill>
          <a:ln w="12700">
            <a:solidFill>
              <a:srgbClr val="1B7A8C"/>
            </a:solidFill>
            <a:prstDash val="solid"/>
          </a:ln>
        </p:spPr>
        <p:txBody>
          <a:bodyPr/>
          <a:lstStyle/>
          <a:p>
            <a:endParaRPr lang="en-ZA"/>
          </a:p>
        </p:txBody>
      </p:sp>
      <p:sp>
        <p:nvSpPr>
          <p:cNvPr id="19" name="Text 17"/>
          <p:cNvSpPr/>
          <p:nvPr/>
        </p:nvSpPr>
        <p:spPr>
          <a:xfrm>
            <a:off x="365760" y="2834640"/>
            <a:ext cx="640080" cy="658368"/>
          </a:xfrm>
          <a:prstGeom prst="rect">
            <a:avLst/>
          </a:prstGeom>
          <a:noFill/>
          <a:ln/>
        </p:spPr>
        <p:txBody>
          <a:bodyPr wrap="square" lIns="0" tIns="0" rIns="0" bIns="0" rtlCol="0" anchor="ctr"/>
          <a:lstStyle/>
          <a:p>
            <a:pPr marL="0" indent="0" algn="ctr">
              <a:buNone/>
            </a:pPr>
            <a:r>
              <a:rPr lang="en-US" sz="1800" b="1" dirty="0">
                <a:solidFill>
                  <a:srgbClr val="FFFFFF"/>
                </a:solidFill>
              </a:rPr>
              <a:t>3</a:t>
            </a:r>
            <a:endParaRPr lang="en-US" sz="1800" dirty="0"/>
          </a:p>
        </p:txBody>
      </p:sp>
      <p:sp>
        <p:nvSpPr>
          <p:cNvPr id="20" name="Text 18"/>
          <p:cNvSpPr/>
          <p:nvPr/>
        </p:nvSpPr>
        <p:spPr>
          <a:xfrm>
            <a:off x="1077686" y="2878401"/>
            <a:ext cx="1645920" cy="320040"/>
          </a:xfrm>
          <a:prstGeom prst="rect">
            <a:avLst/>
          </a:prstGeom>
          <a:noFill/>
          <a:ln/>
        </p:spPr>
        <p:txBody>
          <a:bodyPr wrap="square" lIns="0" tIns="0" rIns="0" bIns="0" rtlCol="0" anchor="ctr"/>
          <a:lstStyle/>
          <a:p>
            <a:pPr marL="0" indent="0">
              <a:buNone/>
            </a:pPr>
            <a:r>
              <a:rPr lang="en-US" sz="1300" b="1" dirty="0">
                <a:solidFill>
                  <a:srgbClr val="F6B93B"/>
                </a:solidFill>
              </a:rPr>
              <a:t>Compute Loss</a:t>
            </a:r>
            <a:endParaRPr lang="en-US" sz="1300" dirty="0"/>
          </a:p>
        </p:txBody>
      </p:sp>
      <p:sp>
        <p:nvSpPr>
          <p:cNvPr id="21" name="Text 19"/>
          <p:cNvSpPr/>
          <p:nvPr/>
        </p:nvSpPr>
        <p:spPr>
          <a:xfrm>
            <a:off x="1077686" y="3172968"/>
            <a:ext cx="7772400" cy="274320"/>
          </a:xfrm>
          <a:prstGeom prst="rect">
            <a:avLst/>
          </a:prstGeom>
          <a:noFill/>
          <a:ln/>
        </p:spPr>
        <p:txBody>
          <a:bodyPr wrap="square" lIns="0" tIns="0" rIns="0" bIns="0" rtlCol="0" anchor="ctr"/>
          <a:lstStyle/>
          <a:p>
            <a:pPr marL="0" indent="0">
              <a:buNone/>
            </a:pPr>
            <a:r>
              <a:rPr lang="en-US" sz="1100" dirty="0">
                <a:solidFill>
                  <a:srgbClr val="FFFFFF"/>
                </a:solidFill>
              </a:rPr>
              <a:t>Measure how wrong the predictions are compared to the true labels</a:t>
            </a:r>
            <a:endParaRPr lang="en-US" sz="1100" dirty="0"/>
          </a:p>
        </p:txBody>
      </p:sp>
      <p:sp>
        <p:nvSpPr>
          <p:cNvPr id="22" name="Shape 20"/>
          <p:cNvSpPr/>
          <p:nvPr/>
        </p:nvSpPr>
        <p:spPr>
          <a:xfrm>
            <a:off x="365760" y="3566160"/>
            <a:ext cx="8412480" cy="658368"/>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3" name="Shape 21"/>
          <p:cNvSpPr/>
          <p:nvPr/>
        </p:nvSpPr>
        <p:spPr>
          <a:xfrm>
            <a:off x="365760" y="3566160"/>
            <a:ext cx="640080" cy="658368"/>
          </a:xfrm>
          <a:prstGeom prst="rect">
            <a:avLst/>
          </a:prstGeom>
          <a:solidFill>
            <a:srgbClr val="1B7A8C"/>
          </a:solidFill>
          <a:ln w="12700">
            <a:solidFill>
              <a:srgbClr val="1B7A8C"/>
            </a:solidFill>
            <a:prstDash val="solid"/>
          </a:ln>
        </p:spPr>
        <p:txBody>
          <a:bodyPr/>
          <a:lstStyle/>
          <a:p>
            <a:endParaRPr lang="en-ZA"/>
          </a:p>
        </p:txBody>
      </p:sp>
      <p:sp>
        <p:nvSpPr>
          <p:cNvPr id="24" name="Text 22"/>
          <p:cNvSpPr/>
          <p:nvPr/>
        </p:nvSpPr>
        <p:spPr>
          <a:xfrm>
            <a:off x="365760" y="3566160"/>
            <a:ext cx="640080" cy="658368"/>
          </a:xfrm>
          <a:prstGeom prst="rect">
            <a:avLst/>
          </a:prstGeom>
          <a:noFill/>
          <a:ln/>
        </p:spPr>
        <p:txBody>
          <a:bodyPr wrap="square" lIns="0" tIns="0" rIns="0" bIns="0" rtlCol="0" anchor="ctr"/>
          <a:lstStyle/>
          <a:p>
            <a:pPr marL="0" indent="0" algn="ctr">
              <a:buNone/>
            </a:pPr>
            <a:r>
              <a:rPr lang="en-US" sz="1800" b="1" dirty="0">
                <a:solidFill>
                  <a:srgbClr val="FFFFFF"/>
                </a:solidFill>
              </a:rPr>
              <a:t>4</a:t>
            </a:r>
            <a:endParaRPr lang="en-US" sz="1800" dirty="0"/>
          </a:p>
        </p:txBody>
      </p:sp>
      <p:sp>
        <p:nvSpPr>
          <p:cNvPr id="25" name="Text 23"/>
          <p:cNvSpPr/>
          <p:nvPr/>
        </p:nvSpPr>
        <p:spPr>
          <a:xfrm>
            <a:off x="1077686" y="3611880"/>
            <a:ext cx="1645920" cy="320040"/>
          </a:xfrm>
          <a:prstGeom prst="rect">
            <a:avLst/>
          </a:prstGeom>
          <a:noFill/>
          <a:ln/>
        </p:spPr>
        <p:txBody>
          <a:bodyPr wrap="square" lIns="0" tIns="0" rIns="0" bIns="0" rtlCol="0" anchor="ctr"/>
          <a:lstStyle/>
          <a:p>
            <a:pPr marL="0" indent="0">
              <a:buNone/>
            </a:pPr>
            <a:r>
              <a:rPr lang="en-US" sz="1300" b="1" dirty="0">
                <a:solidFill>
                  <a:srgbClr val="1B7A8C"/>
                </a:solidFill>
              </a:rPr>
              <a:t>Backpropagation</a:t>
            </a:r>
            <a:endParaRPr lang="en-US" sz="1300" dirty="0"/>
          </a:p>
        </p:txBody>
      </p:sp>
      <p:sp>
        <p:nvSpPr>
          <p:cNvPr id="26" name="Text 24"/>
          <p:cNvSpPr/>
          <p:nvPr/>
        </p:nvSpPr>
        <p:spPr>
          <a:xfrm>
            <a:off x="1077686" y="3895344"/>
            <a:ext cx="7772400" cy="274320"/>
          </a:xfrm>
          <a:prstGeom prst="rect">
            <a:avLst/>
          </a:prstGeom>
          <a:noFill/>
          <a:ln/>
        </p:spPr>
        <p:txBody>
          <a:bodyPr wrap="square" lIns="0" tIns="0" rIns="0" bIns="0" rtlCol="0" anchor="ctr"/>
          <a:lstStyle/>
          <a:p>
            <a:pPr marL="0" indent="0">
              <a:buNone/>
            </a:pPr>
            <a:r>
              <a:rPr lang="en-US" sz="1100" dirty="0">
                <a:solidFill>
                  <a:srgbClr val="1A202C"/>
                </a:solidFill>
              </a:rPr>
              <a:t>Calculate gradients and how much each weight contributed to the error</a:t>
            </a:r>
            <a:endParaRPr lang="en-US" sz="1100" dirty="0"/>
          </a:p>
        </p:txBody>
      </p:sp>
      <p:sp>
        <p:nvSpPr>
          <p:cNvPr id="27" name="Shape 25"/>
          <p:cNvSpPr/>
          <p:nvPr/>
        </p:nvSpPr>
        <p:spPr>
          <a:xfrm>
            <a:off x="365760" y="4297680"/>
            <a:ext cx="8412480" cy="658368"/>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8" name="Shape 26"/>
          <p:cNvSpPr/>
          <p:nvPr/>
        </p:nvSpPr>
        <p:spPr>
          <a:xfrm>
            <a:off x="365760" y="4297680"/>
            <a:ext cx="640080" cy="658368"/>
          </a:xfrm>
          <a:prstGeom prst="rect">
            <a:avLst/>
          </a:prstGeom>
          <a:solidFill>
            <a:srgbClr val="1B7A8C"/>
          </a:solidFill>
          <a:ln w="12700">
            <a:solidFill>
              <a:srgbClr val="1B7A8C"/>
            </a:solidFill>
            <a:prstDash val="solid"/>
          </a:ln>
        </p:spPr>
        <p:txBody>
          <a:bodyPr/>
          <a:lstStyle/>
          <a:p>
            <a:endParaRPr lang="en-ZA"/>
          </a:p>
        </p:txBody>
      </p:sp>
      <p:sp>
        <p:nvSpPr>
          <p:cNvPr id="29" name="Text 27"/>
          <p:cNvSpPr/>
          <p:nvPr/>
        </p:nvSpPr>
        <p:spPr>
          <a:xfrm>
            <a:off x="365760" y="4297680"/>
            <a:ext cx="640080" cy="658368"/>
          </a:xfrm>
          <a:prstGeom prst="rect">
            <a:avLst/>
          </a:prstGeom>
          <a:noFill/>
          <a:ln/>
        </p:spPr>
        <p:txBody>
          <a:bodyPr wrap="square" lIns="0" tIns="0" rIns="0" bIns="0" rtlCol="0" anchor="ctr"/>
          <a:lstStyle/>
          <a:p>
            <a:pPr marL="0" indent="0" algn="ctr">
              <a:buNone/>
            </a:pPr>
            <a:r>
              <a:rPr lang="en-US" sz="1800" b="1" dirty="0">
                <a:solidFill>
                  <a:srgbClr val="FFFFFF"/>
                </a:solidFill>
              </a:rPr>
              <a:t>5</a:t>
            </a:r>
            <a:endParaRPr lang="en-US" sz="1800" dirty="0"/>
          </a:p>
        </p:txBody>
      </p:sp>
      <p:sp>
        <p:nvSpPr>
          <p:cNvPr id="30" name="Text 28"/>
          <p:cNvSpPr/>
          <p:nvPr/>
        </p:nvSpPr>
        <p:spPr>
          <a:xfrm>
            <a:off x="1077686" y="4343400"/>
            <a:ext cx="1645920" cy="320040"/>
          </a:xfrm>
          <a:prstGeom prst="rect">
            <a:avLst/>
          </a:prstGeom>
          <a:noFill/>
          <a:ln/>
        </p:spPr>
        <p:txBody>
          <a:bodyPr wrap="square" lIns="0" tIns="0" rIns="0" bIns="0" rtlCol="0" anchor="ctr"/>
          <a:lstStyle/>
          <a:p>
            <a:pPr marL="0" indent="0">
              <a:buNone/>
            </a:pPr>
            <a:r>
              <a:rPr lang="en-US" sz="1300" b="1" dirty="0">
                <a:solidFill>
                  <a:srgbClr val="1B7A8C"/>
                </a:solidFill>
              </a:rPr>
              <a:t>Update Weights</a:t>
            </a:r>
            <a:endParaRPr lang="en-US" sz="1300" dirty="0"/>
          </a:p>
        </p:txBody>
      </p:sp>
      <p:sp>
        <p:nvSpPr>
          <p:cNvPr id="31" name="Text 29"/>
          <p:cNvSpPr/>
          <p:nvPr/>
        </p:nvSpPr>
        <p:spPr>
          <a:xfrm>
            <a:off x="1097280" y="4608576"/>
            <a:ext cx="7772400" cy="274320"/>
          </a:xfrm>
          <a:prstGeom prst="rect">
            <a:avLst/>
          </a:prstGeom>
          <a:noFill/>
          <a:ln/>
        </p:spPr>
        <p:txBody>
          <a:bodyPr wrap="square" lIns="0" tIns="0" rIns="0" bIns="0" rtlCol="0" anchor="ctr"/>
          <a:lstStyle/>
          <a:p>
            <a:pPr marL="0" indent="0">
              <a:buNone/>
            </a:pPr>
            <a:r>
              <a:rPr lang="en-US" sz="1100" dirty="0">
                <a:solidFill>
                  <a:srgbClr val="1A202C"/>
                </a:solidFill>
              </a:rPr>
              <a:t>Adjust model weights to reduce the error. Repeat for every batch, every epoch.</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4 — PYTHON IMPLEMENTATION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Python Visualisations</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21 / 35</a:t>
            </a:r>
            <a:endParaRPr lang="en-US" sz="900" dirty="0"/>
          </a:p>
        </p:txBody>
      </p:sp>
      <p:sp>
        <p:nvSpPr>
          <p:cNvPr id="7" name="Text 5"/>
          <p:cNvSpPr/>
          <p:nvPr/>
        </p:nvSpPr>
        <p:spPr>
          <a:xfrm>
            <a:off x="457200" y="1371600"/>
            <a:ext cx="8229600" cy="36576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Our pipeline generates multiple diagnostic charts to understand model behaviour.</a:t>
            </a:r>
            <a:endParaRPr lang="en-US" sz="1400" dirty="0"/>
          </a:p>
        </p:txBody>
      </p:sp>
      <p:sp>
        <p:nvSpPr>
          <p:cNvPr id="9" name="Shape 6"/>
          <p:cNvSpPr/>
          <p:nvPr/>
        </p:nvSpPr>
        <p:spPr>
          <a:xfrm>
            <a:off x="5852160" y="256032"/>
            <a:ext cx="3108960" cy="996696"/>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0" name="Shape 7"/>
          <p:cNvSpPr/>
          <p:nvPr/>
        </p:nvSpPr>
        <p:spPr>
          <a:xfrm>
            <a:off x="5833872" y="256032"/>
            <a:ext cx="64007" cy="996696"/>
          </a:xfrm>
          <a:prstGeom prst="rect">
            <a:avLst/>
          </a:prstGeom>
          <a:solidFill>
            <a:srgbClr val="1B7A8C"/>
          </a:solidFill>
          <a:ln w="12700">
            <a:solidFill>
              <a:srgbClr val="1B7A8C"/>
            </a:solidFill>
            <a:prstDash val="solid"/>
          </a:ln>
        </p:spPr>
        <p:txBody>
          <a:bodyPr/>
          <a:lstStyle/>
          <a:p>
            <a:endParaRPr lang="en-ZA"/>
          </a:p>
        </p:txBody>
      </p:sp>
      <p:sp>
        <p:nvSpPr>
          <p:cNvPr id="11" name="Text 8"/>
          <p:cNvSpPr/>
          <p:nvPr/>
        </p:nvSpPr>
        <p:spPr>
          <a:xfrm>
            <a:off x="6016752" y="317754"/>
            <a:ext cx="285292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Loss Curves</a:t>
            </a:r>
            <a:endParaRPr lang="en-US" sz="1200" dirty="0"/>
          </a:p>
        </p:txBody>
      </p:sp>
      <p:sp>
        <p:nvSpPr>
          <p:cNvPr id="12" name="Text 9"/>
          <p:cNvSpPr/>
          <p:nvPr/>
        </p:nvSpPr>
        <p:spPr>
          <a:xfrm>
            <a:off x="6016752" y="480060"/>
            <a:ext cx="2852928" cy="82296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Training and validation loss decreasing steadily, confirming stable learning without overfitting.</a:t>
            </a:r>
            <a:endParaRPr lang="en-US" sz="1200" dirty="0"/>
          </a:p>
        </p:txBody>
      </p:sp>
      <p:pic>
        <p:nvPicPr>
          <p:cNvPr id="18" name="Picture 17">
            <a:extLst>
              <a:ext uri="{FF2B5EF4-FFF2-40B4-BE49-F238E27FC236}">
                <a16:creationId xmlns:a16="http://schemas.microsoft.com/office/drawing/2014/main" id="{201F0F32-61FC-9CBA-2F5C-C5BA4DE8557C}"/>
              </a:ext>
            </a:extLst>
          </p:cNvPr>
          <p:cNvPicPr>
            <a:picLocks noChangeAspect="1"/>
          </p:cNvPicPr>
          <p:nvPr/>
        </p:nvPicPr>
        <p:blipFill>
          <a:blip r:embed="rId3"/>
          <a:stretch>
            <a:fillRect/>
          </a:stretch>
        </p:blipFill>
        <p:spPr>
          <a:xfrm>
            <a:off x="365760" y="1901952"/>
            <a:ext cx="8321040" cy="273828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5 — RESULTS &amp; DISCUSSION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Training Performance</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22 / 35</a:t>
            </a:r>
            <a:endParaRPr lang="en-US" sz="900" dirty="0"/>
          </a:p>
        </p:txBody>
      </p:sp>
      <p:sp>
        <p:nvSpPr>
          <p:cNvPr id="7" name="Shape 5"/>
          <p:cNvSpPr/>
          <p:nvPr/>
        </p:nvSpPr>
        <p:spPr>
          <a:xfrm>
            <a:off x="457200" y="1417320"/>
            <a:ext cx="2560320" cy="1645920"/>
          </a:xfrm>
          <a:prstGeom prst="rect">
            <a:avLst/>
          </a:prstGeom>
          <a:solidFill>
            <a:srgbClr val="1B7A8C"/>
          </a:solidFill>
          <a:ln w="12700">
            <a:solidFill>
              <a:srgbClr val="1B7A8C"/>
            </a:solidFill>
            <a:prstDash val="solid"/>
          </a:ln>
          <a:effectLst>
            <a:outerShdw blurRad="101600" dist="38100" dir="8100000" algn="bl" rotWithShape="0">
              <a:srgbClr val="000000">
                <a:alpha val="18000"/>
              </a:srgbClr>
            </a:outerShdw>
          </a:effectLst>
        </p:spPr>
        <p:txBody>
          <a:bodyPr/>
          <a:lstStyle/>
          <a:p>
            <a:endParaRPr lang="en-ZA"/>
          </a:p>
        </p:txBody>
      </p:sp>
      <p:sp>
        <p:nvSpPr>
          <p:cNvPr id="8" name="Text 6"/>
          <p:cNvSpPr/>
          <p:nvPr/>
        </p:nvSpPr>
        <p:spPr>
          <a:xfrm>
            <a:off x="457200" y="1527048"/>
            <a:ext cx="2560320" cy="905256"/>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97.48%</a:t>
            </a:r>
            <a:endParaRPr lang="en-US" sz="3400" dirty="0"/>
          </a:p>
        </p:txBody>
      </p:sp>
      <p:sp>
        <p:nvSpPr>
          <p:cNvPr id="9" name="Text 7"/>
          <p:cNvSpPr/>
          <p:nvPr/>
        </p:nvSpPr>
        <p:spPr>
          <a:xfrm>
            <a:off x="457200" y="2404872"/>
            <a:ext cx="2560320" cy="592531"/>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Average Accuracy</a:t>
            </a:r>
            <a:endParaRPr lang="en-US" sz="1200" dirty="0"/>
          </a:p>
        </p:txBody>
      </p:sp>
      <p:sp>
        <p:nvSpPr>
          <p:cNvPr id="10" name="Shape 8"/>
          <p:cNvSpPr/>
          <p:nvPr/>
        </p:nvSpPr>
        <p:spPr>
          <a:xfrm>
            <a:off x="3291840" y="1417320"/>
            <a:ext cx="2560320" cy="1645920"/>
          </a:xfrm>
          <a:prstGeom prst="rect">
            <a:avLst/>
          </a:prstGeom>
          <a:solidFill>
            <a:srgbClr val="0D1B2A"/>
          </a:solidFill>
          <a:ln w="12700">
            <a:solidFill>
              <a:srgbClr val="0D1B2A"/>
            </a:solidFill>
            <a:prstDash val="solid"/>
          </a:ln>
          <a:effectLst>
            <a:outerShdw blurRad="101600" dist="38100" dir="8100000" algn="bl" rotWithShape="0">
              <a:srgbClr val="000000">
                <a:alpha val="18000"/>
              </a:srgbClr>
            </a:outerShdw>
          </a:effectLst>
        </p:spPr>
        <p:txBody>
          <a:bodyPr/>
          <a:lstStyle/>
          <a:p>
            <a:endParaRPr lang="en-ZA"/>
          </a:p>
        </p:txBody>
      </p:sp>
      <p:sp>
        <p:nvSpPr>
          <p:cNvPr id="11" name="Text 9"/>
          <p:cNvSpPr/>
          <p:nvPr/>
        </p:nvSpPr>
        <p:spPr>
          <a:xfrm>
            <a:off x="3291840" y="1527048"/>
            <a:ext cx="2560320" cy="905256"/>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74.39%</a:t>
            </a:r>
            <a:endParaRPr lang="en-US" sz="3400" dirty="0"/>
          </a:p>
        </p:txBody>
      </p:sp>
      <p:sp>
        <p:nvSpPr>
          <p:cNvPr id="12" name="Text 10"/>
          <p:cNvSpPr/>
          <p:nvPr/>
        </p:nvSpPr>
        <p:spPr>
          <a:xfrm>
            <a:off x="3291840" y="2404872"/>
            <a:ext cx="2560320" cy="592531"/>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Lowest Accuracy </a:t>
            </a:r>
            <a:endParaRPr lang="en-US" sz="1200" dirty="0"/>
          </a:p>
        </p:txBody>
      </p:sp>
      <p:sp>
        <p:nvSpPr>
          <p:cNvPr id="13" name="Shape 11"/>
          <p:cNvSpPr/>
          <p:nvPr/>
        </p:nvSpPr>
        <p:spPr>
          <a:xfrm>
            <a:off x="6126480" y="1417320"/>
            <a:ext cx="2560320" cy="1645920"/>
          </a:xfrm>
          <a:prstGeom prst="rect">
            <a:avLst/>
          </a:prstGeom>
          <a:solidFill>
            <a:srgbClr val="1B7A8C"/>
          </a:solidFill>
          <a:ln w="12700">
            <a:solidFill>
              <a:srgbClr val="1B7A8C"/>
            </a:solidFill>
            <a:prstDash val="solid"/>
          </a:ln>
          <a:effectLst>
            <a:outerShdw blurRad="101600" dist="38100" dir="8100000" algn="bl" rotWithShape="0">
              <a:srgbClr val="000000">
                <a:alpha val="18000"/>
              </a:srgbClr>
            </a:outerShdw>
          </a:effectLst>
        </p:spPr>
        <p:txBody>
          <a:bodyPr/>
          <a:lstStyle/>
          <a:p>
            <a:endParaRPr lang="en-ZA"/>
          </a:p>
        </p:txBody>
      </p:sp>
      <p:sp>
        <p:nvSpPr>
          <p:cNvPr id="14" name="Text 12"/>
          <p:cNvSpPr/>
          <p:nvPr/>
        </p:nvSpPr>
        <p:spPr>
          <a:xfrm>
            <a:off x="6126480" y="1527048"/>
            <a:ext cx="2560320" cy="905256"/>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100%</a:t>
            </a:r>
            <a:endParaRPr lang="en-US" sz="3400" dirty="0"/>
          </a:p>
        </p:txBody>
      </p:sp>
      <p:sp>
        <p:nvSpPr>
          <p:cNvPr id="15" name="Text 13"/>
          <p:cNvSpPr/>
          <p:nvPr/>
        </p:nvSpPr>
        <p:spPr>
          <a:xfrm>
            <a:off x="6126480" y="2404872"/>
            <a:ext cx="2560320" cy="592531"/>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Highest Accuracy</a:t>
            </a:r>
            <a:endParaRPr lang="en-US" sz="1200" dirty="0"/>
          </a:p>
        </p:txBody>
      </p:sp>
      <p:sp>
        <p:nvSpPr>
          <p:cNvPr id="16" name="Shape 14"/>
          <p:cNvSpPr/>
          <p:nvPr/>
        </p:nvSpPr>
        <p:spPr>
          <a:xfrm>
            <a:off x="457200" y="3246120"/>
            <a:ext cx="8229600" cy="1600200"/>
          </a:xfrm>
          <a:prstGeom prst="rect">
            <a:avLst/>
          </a:prstGeom>
          <a:solidFill>
            <a:srgbClr val="0D2233"/>
          </a:solidFill>
          <a:ln w="6350">
            <a:solidFill>
              <a:srgbClr val="1B7A8C"/>
            </a:solidFill>
            <a:prstDash val="solid"/>
          </a:ln>
        </p:spPr>
        <p:txBody>
          <a:bodyPr/>
          <a:lstStyle/>
          <a:p>
            <a:endParaRPr lang="en-ZA"/>
          </a:p>
        </p:txBody>
      </p:sp>
      <p:sp>
        <p:nvSpPr>
          <p:cNvPr id="17" name="Text 15"/>
          <p:cNvSpPr/>
          <p:nvPr/>
        </p:nvSpPr>
        <p:spPr>
          <a:xfrm>
            <a:off x="731520" y="3337560"/>
            <a:ext cx="7772400" cy="320040"/>
          </a:xfrm>
          <a:prstGeom prst="rect">
            <a:avLst/>
          </a:prstGeom>
          <a:noFill/>
          <a:ln/>
        </p:spPr>
        <p:txBody>
          <a:bodyPr wrap="square" lIns="0" tIns="0" rIns="0" bIns="0" rtlCol="0" anchor="ctr"/>
          <a:lstStyle/>
          <a:p>
            <a:pPr marL="0" indent="0">
              <a:buNone/>
            </a:pPr>
            <a:r>
              <a:rPr lang="en-US" sz="1400" b="1" dirty="0">
                <a:solidFill>
                  <a:srgbClr val="2EB8CF"/>
                </a:solidFill>
                <a:latin typeface="Cambria" pitchFamily="34" charset="0"/>
                <a:ea typeface="Cambria" pitchFamily="34" charset="-122"/>
                <a:cs typeface="Cambria" pitchFamily="34" charset="-120"/>
              </a:rPr>
              <a:t>What these numbers mean</a:t>
            </a:r>
            <a:endParaRPr lang="en-US" sz="1400" dirty="0"/>
          </a:p>
        </p:txBody>
      </p:sp>
      <p:sp>
        <p:nvSpPr>
          <p:cNvPr id="18" name="Text 16"/>
          <p:cNvSpPr/>
          <p:nvPr/>
        </p:nvSpPr>
        <p:spPr>
          <a:xfrm>
            <a:off x="731520" y="3703320"/>
            <a:ext cx="7955280" cy="1005840"/>
          </a:xfrm>
          <a:prstGeom prst="rect">
            <a:avLst/>
          </a:prstGeom>
          <a:noFill/>
          <a:ln/>
        </p:spPr>
        <p:txBody>
          <a:bodyPr wrap="square" lIns="0" tIns="0" rIns="0" bIns="0" rtlCol="0" anchor="ctr"/>
          <a:lstStyle/>
          <a:p>
            <a:pPr marL="0" indent="0">
              <a:buNone/>
            </a:pPr>
            <a:r>
              <a:rPr lang="en-US" sz="1300" dirty="0">
                <a:solidFill>
                  <a:srgbClr val="CBD5E0"/>
                </a:solidFill>
                <a:latin typeface="Calibri" pitchFamily="34" charset="0"/>
                <a:ea typeface="Calibri" pitchFamily="34" charset="-122"/>
                <a:cs typeface="Calibri" pitchFamily="34" charset="-120"/>
              </a:rPr>
              <a:t>The model achieved a high training accuracy across all 100 epochs however this is a sign of </a:t>
            </a:r>
            <a:r>
              <a:rPr lang="en-US" sz="1300" dirty="0" err="1">
                <a:solidFill>
                  <a:srgbClr val="CBD5E0"/>
                </a:solidFill>
                <a:latin typeface="Calibri" pitchFamily="34" charset="0"/>
                <a:ea typeface="Calibri" pitchFamily="34" charset="-122"/>
                <a:cs typeface="Calibri" pitchFamily="34" charset="-120"/>
              </a:rPr>
              <a:t>overftting</a:t>
            </a:r>
            <a:r>
              <a:rPr lang="en-US" sz="1300" dirty="0">
                <a:solidFill>
                  <a:srgbClr val="CBD5E0"/>
                </a:solidFill>
                <a:latin typeface="Calibri" pitchFamily="34" charset="0"/>
                <a:ea typeface="Calibri" pitchFamily="34" charset="-122"/>
                <a:cs typeface="Calibri" pitchFamily="34" charset="-120"/>
              </a:rPr>
              <a:t> as the model began to start memorizing the training data very well but struggled to generalize.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D0596F91-6F4E-52A0-6F62-9138259BEC9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C7FE84D-B236-7247-CB38-9ACD32A16F47}"/>
              </a:ext>
            </a:extLst>
          </p:cNvPr>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a:extLst>
              <a:ext uri="{FF2B5EF4-FFF2-40B4-BE49-F238E27FC236}">
                <a16:creationId xmlns:a16="http://schemas.microsoft.com/office/drawing/2014/main" id="{93AD0092-EFF7-EDE0-1E64-C5953F0EC430}"/>
              </a:ext>
            </a:extLst>
          </p:cNvPr>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5 — RESULTS &amp; DISCUSSION</a:t>
            </a:r>
            <a:endParaRPr lang="en-US" sz="900" dirty="0"/>
          </a:p>
        </p:txBody>
      </p:sp>
      <p:sp>
        <p:nvSpPr>
          <p:cNvPr id="4" name="Text 2">
            <a:extLst>
              <a:ext uri="{FF2B5EF4-FFF2-40B4-BE49-F238E27FC236}">
                <a16:creationId xmlns:a16="http://schemas.microsoft.com/office/drawing/2014/main" id="{5546E9FE-725F-2262-C30D-BF039D934F83}"/>
              </a:ext>
            </a:extLst>
          </p:cNvPr>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err="1">
                <a:solidFill>
                  <a:srgbClr val="FFFFFF"/>
                </a:solidFill>
                <a:latin typeface="Cambria" pitchFamily="34" charset="0"/>
                <a:ea typeface="Cambria" pitchFamily="34" charset="-122"/>
                <a:cs typeface="Cambria" pitchFamily="34" charset="-120"/>
              </a:rPr>
              <a:t>Validatation</a:t>
            </a:r>
            <a:r>
              <a:rPr lang="en-US" sz="2800" b="1" dirty="0">
                <a:solidFill>
                  <a:srgbClr val="FFFFFF"/>
                </a:solidFill>
                <a:latin typeface="Cambria" pitchFamily="34" charset="0"/>
                <a:ea typeface="Cambria" pitchFamily="34" charset="-122"/>
                <a:cs typeface="Cambria" pitchFamily="34" charset="-120"/>
              </a:rPr>
              <a:t> Performance</a:t>
            </a:r>
            <a:endParaRPr lang="en-US" sz="2800" dirty="0"/>
          </a:p>
        </p:txBody>
      </p:sp>
      <p:sp>
        <p:nvSpPr>
          <p:cNvPr id="5" name="Shape 3">
            <a:extLst>
              <a:ext uri="{FF2B5EF4-FFF2-40B4-BE49-F238E27FC236}">
                <a16:creationId xmlns:a16="http://schemas.microsoft.com/office/drawing/2014/main" id="{69E6AC07-527C-17D5-D8AB-75A9687F911C}"/>
              </a:ext>
            </a:extLst>
          </p:cNvPr>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a:extLst>
              <a:ext uri="{FF2B5EF4-FFF2-40B4-BE49-F238E27FC236}">
                <a16:creationId xmlns:a16="http://schemas.microsoft.com/office/drawing/2014/main" id="{095E5E3C-F766-8AA1-FCB6-EFF7DA455734}"/>
              </a:ext>
            </a:extLst>
          </p:cNvPr>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22 / 35</a:t>
            </a:r>
            <a:endParaRPr lang="en-US" sz="900" dirty="0"/>
          </a:p>
        </p:txBody>
      </p:sp>
      <p:sp>
        <p:nvSpPr>
          <p:cNvPr id="7" name="Shape 5">
            <a:extLst>
              <a:ext uri="{FF2B5EF4-FFF2-40B4-BE49-F238E27FC236}">
                <a16:creationId xmlns:a16="http://schemas.microsoft.com/office/drawing/2014/main" id="{06F04F33-EA44-2C83-369F-14402C7A596B}"/>
              </a:ext>
            </a:extLst>
          </p:cNvPr>
          <p:cNvSpPr/>
          <p:nvPr/>
        </p:nvSpPr>
        <p:spPr>
          <a:xfrm>
            <a:off x="457200" y="1417320"/>
            <a:ext cx="2560320" cy="1645920"/>
          </a:xfrm>
          <a:prstGeom prst="rect">
            <a:avLst/>
          </a:prstGeom>
          <a:solidFill>
            <a:srgbClr val="1B7A8C"/>
          </a:solidFill>
          <a:ln w="12700">
            <a:solidFill>
              <a:srgbClr val="1B7A8C"/>
            </a:solidFill>
            <a:prstDash val="solid"/>
          </a:ln>
          <a:effectLst>
            <a:outerShdw blurRad="101600" dist="38100" dir="8100000" algn="bl" rotWithShape="0">
              <a:srgbClr val="000000">
                <a:alpha val="18000"/>
              </a:srgbClr>
            </a:outerShdw>
          </a:effectLst>
        </p:spPr>
        <p:txBody>
          <a:bodyPr/>
          <a:lstStyle/>
          <a:p>
            <a:endParaRPr lang="en-ZA"/>
          </a:p>
        </p:txBody>
      </p:sp>
      <p:sp>
        <p:nvSpPr>
          <p:cNvPr id="8" name="Text 6">
            <a:extLst>
              <a:ext uri="{FF2B5EF4-FFF2-40B4-BE49-F238E27FC236}">
                <a16:creationId xmlns:a16="http://schemas.microsoft.com/office/drawing/2014/main" id="{EC6936B3-E8C8-6DE6-03E5-51DBDF822F4A}"/>
              </a:ext>
            </a:extLst>
          </p:cNvPr>
          <p:cNvSpPr/>
          <p:nvPr/>
        </p:nvSpPr>
        <p:spPr>
          <a:xfrm>
            <a:off x="457200" y="1527048"/>
            <a:ext cx="2560320" cy="905256"/>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50.10%</a:t>
            </a:r>
            <a:endParaRPr lang="en-US" sz="3400" dirty="0"/>
          </a:p>
        </p:txBody>
      </p:sp>
      <p:sp>
        <p:nvSpPr>
          <p:cNvPr id="9" name="Text 7">
            <a:extLst>
              <a:ext uri="{FF2B5EF4-FFF2-40B4-BE49-F238E27FC236}">
                <a16:creationId xmlns:a16="http://schemas.microsoft.com/office/drawing/2014/main" id="{E926C1D9-C9AC-2B7A-E52B-6C500EFC87FA}"/>
              </a:ext>
            </a:extLst>
          </p:cNvPr>
          <p:cNvSpPr/>
          <p:nvPr/>
        </p:nvSpPr>
        <p:spPr>
          <a:xfrm>
            <a:off x="457200" y="2404872"/>
            <a:ext cx="2560320" cy="592531"/>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Average Accuracy</a:t>
            </a:r>
            <a:endParaRPr lang="en-US" sz="1200" dirty="0"/>
          </a:p>
        </p:txBody>
      </p:sp>
      <p:sp>
        <p:nvSpPr>
          <p:cNvPr id="10" name="Shape 8">
            <a:extLst>
              <a:ext uri="{FF2B5EF4-FFF2-40B4-BE49-F238E27FC236}">
                <a16:creationId xmlns:a16="http://schemas.microsoft.com/office/drawing/2014/main" id="{C24D54FE-0915-5311-4BC8-D0C1DE043CA2}"/>
              </a:ext>
            </a:extLst>
          </p:cNvPr>
          <p:cNvSpPr/>
          <p:nvPr/>
        </p:nvSpPr>
        <p:spPr>
          <a:xfrm>
            <a:off x="3291840" y="1417320"/>
            <a:ext cx="2560320" cy="1645920"/>
          </a:xfrm>
          <a:prstGeom prst="rect">
            <a:avLst/>
          </a:prstGeom>
          <a:solidFill>
            <a:srgbClr val="0D1B2A"/>
          </a:solidFill>
          <a:ln w="12700">
            <a:solidFill>
              <a:srgbClr val="0D1B2A"/>
            </a:solidFill>
            <a:prstDash val="solid"/>
          </a:ln>
          <a:effectLst>
            <a:outerShdw blurRad="101600" dist="38100" dir="8100000" algn="bl" rotWithShape="0">
              <a:srgbClr val="000000">
                <a:alpha val="18000"/>
              </a:srgbClr>
            </a:outerShdw>
          </a:effectLst>
        </p:spPr>
        <p:txBody>
          <a:bodyPr/>
          <a:lstStyle/>
          <a:p>
            <a:endParaRPr lang="en-ZA"/>
          </a:p>
        </p:txBody>
      </p:sp>
      <p:sp>
        <p:nvSpPr>
          <p:cNvPr id="11" name="Text 9">
            <a:extLst>
              <a:ext uri="{FF2B5EF4-FFF2-40B4-BE49-F238E27FC236}">
                <a16:creationId xmlns:a16="http://schemas.microsoft.com/office/drawing/2014/main" id="{0AA95F52-01BA-2C54-0790-26DD46918D9E}"/>
              </a:ext>
            </a:extLst>
          </p:cNvPr>
          <p:cNvSpPr/>
          <p:nvPr/>
        </p:nvSpPr>
        <p:spPr>
          <a:xfrm>
            <a:off x="3291840" y="1527048"/>
            <a:ext cx="2560320" cy="905256"/>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70%</a:t>
            </a:r>
            <a:endParaRPr lang="en-US" sz="3400" dirty="0"/>
          </a:p>
        </p:txBody>
      </p:sp>
      <p:sp>
        <p:nvSpPr>
          <p:cNvPr id="12" name="Text 10">
            <a:extLst>
              <a:ext uri="{FF2B5EF4-FFF2-40B4-BE49-F238E27FC236}">
                <a16:creationId xmlns:a16="http://schemas.microsoft.com/office/drawing/2014/main" id="{ABA54AE3-08BD-3FE1-31E7-B1AD68C8C3AD}"/>
              </a:ext>
            </a:extLst>
          </p:cNvPr>
          <p:cNvSpPr/>
          <p:nvPr/>
        </p:nvSpPr>
        <p:spPr>
          <a:xfrm>
            <a:off x="3291840" y="2404872"/>
            <a:ext cx="2560320" cy="592531"/>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Lowest Accuracy </a:t>
            </a:r>
            <a:endParaRPr lang="en-US" sz="1200" dirty="0"/>
          </a:p>
        </p:txBody>
      </p:sp>
      <p:sp>
        <p:nvSpPr>
          <p:cNvPr id="13" name="Shape 11">
            <a:extLst>
              <a:ext uri="{FF2B5EF4-FFF2-40B4-BE49-F238E27FC236}">
                <a16:creationId xmlns:a16="http://schemas.microsoft.com/office/drawing/2014/main" id="{9102D503-A82F-226D-8B37-93F13BAC0D42}"/>
              </a:ext>
            </a:extLst>
          </p:cNvPr>
          <p:cNvSpPr/>
          <p:nvPr/>
        </p:nvSpPr>
        <p:spPr>
          <a:xfrm>
            <a:off x="6126480" y="1417320"/>
            <a:ext cx="2560320" cy="1645920"/>
          </a:xfrm>
          <a:prstGeom prst="rect">
            <a:avLst/>
          </a:prstGeom>
          <a:solidFill>
            <a:srgbClr val="1B7A8C"/>
          </a:solidFill>
          <a:ln w="12700">
            <a:solidFill>
              <a:srgbClr val="1B7A8C"/>
            </a:solidFill>
            <a:prstDash val="solid"/>
          </a:ln>
          <a:effectLst>
            <a:outerShdw blurRad="101600" dist="38100" dir="8100000" algn="bl" rotWithShape="0">
              <a:srgbClr val="000000">
                <a:alpha val="18000"/>
              </a:srgbClr>
            </a:outerShdw>
          </a:effectLst>
        </p:spPr>
        <p:txBody>
          <a:bodyPr/>
          <a:lstStyle/>
          <a:p>
            <a:endParaRPr lang="en-ZA"/>
          </a:p>
        </p:txBody>
      </p:sp>
      <p:sp>
        <p:nvSpPr>
          <p:cNvPr id="14" name="Text 12">
            <a:extLst>
              <a:ext uri="{FF2B5EF4-FFF2-40B4-BE49-F238E27FC236}">
                <a16:creationId xmlns:a16="http://schemas.microsoft.com/office/drawing/2014/main" id="{8E6CC092-3DA4-25BD-55F9-57465948E6DA}"/>
              </a:ext>
            </a:extLst>
          </p:cNvPr>
          <p:cNvSpPr/>
          <p:nvPr/>
        </p:nvSpPr>
        <p:spPr>
          <a:xfrm>
            <a:off x="6126480" y="1527048"/>
            <a:ext cx="2560320" cy="905256"/>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10%</a:t>
            </a:r>
            <a:endParaRPr lang="en-US" sz="3400" dirty="0"/>
          </a:p>
        </p:txBody>
      </p:sp>
      <p:sp>
        <p:nvSpPr>
          <p:cNvPr id="15" name="Text 13">
            <a:extLst>
              <a:ext uri="{FF2B5EF4-FFF2-40B4-BE49-F238E27FC236}">
                <a16:creationId xmlns:a16="http://schemas.microsoft.com/office/drawing/2014/main" id="{8126DD46-6ECF-90A1-4DB0-88A0740DA567}"/>
              </a:ext>
            </a:extLst>
          </p:cNvPr>
          <p:cNvSpPr/>
          <p:nvPr/>
        </p:nvSpPr>
        <p:spPr>
          <a:xfrm>
            <a:off x="6126480" y="2404872"/>
            <a:ext cx="2560320" cy="592531"/>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Highest Accuracy</a:t>
            </a:r>
            <a:endParaRPr lang="en-US" sz="1200" dirty="0"/>
          </a:p>
        </p:txBody>
      </p:sp>
      <p:sp>
        <p:nvSpPr>
          <p:cNvPr id="16" name="Shape 14">
            <a:extLst>
              <a:ext uri="{FF2B5EF4-FFF2-40B4-BE49-F238E27FC236}">
                <a16:creationId xmlns:a16="http://schemas.microsoft.com/office/drawing/2014/main" id="{75E5D9A8-32CF-0C99-3144-D659EEA7E0E3}"/>
              </a:ext>
            </a:extLst>
          </p:cNvPr>
          <p:cNvSpPr/>
          <p:nvPr/>
        </p:nvSpPr>
        <p:spPr>
          <a:xfrm>
            <a:off x="457200" y="3246120"/>
            <a:ext cx="8229600" cy="1600200"/>
          </a:xfrm>
          <a:prstGeom prst="rect">
            <a:avLst/>
          </a:prstGeom>
          <a:solidFill>
            <a:srgbClr val="0D2233"/>
          </a:solidFill>
          <a:ln w="6350">
            <a:solidFill>
              <a:srgbClr val="1B7A8C"/>
            </a:solidFill>
            <a:prstDash val="solid"/>
          </a:ln>
        </p:spPr>
        <p:txBody>
          <a:bodyPr/>
          <a:lstStyle/>
          <a:p>
            <a:endParaRPr lang="en-ZA"/>
          </a:p>
        </p:txBody>
      </p:sp>
      <p:sp>
        <p:nvSpPr>
          <p:cNvPr id="17" name="Text 15">
            <a:extLst>
              <a:ext uri="{FF2B5EF4-FFF2-40B4-BE49-F238E27FC236}">
                <a16:creationId xmlns:a16="http://schemas.microsoft.com/office/drawing/2014/main" id="{2EEB365E-714A-EA21-560A-E6ED3ACA7D8A}"/>
              </a:ext>
            </a:extLst>
          </p:cNvPr>
          <p:cNvSpPr/>
          <p:nvPr/>
        </p:nvSpPr>
        <p:spPr>
          <a:xfrm>
            <a:off x="731520" y="3337560"/>
            <a:ext cx="7772400" cy="320040"/>
          </a:xfrm>
          <a:prstGeom prst="rect">
            <a:avLst/>
          </a:prstGeom>
          <a:noFill/>
          <a:ln/>
        </p:spPr>
        <p:txBody>
          <a:bodyPr wrap="square" lIns="0" tIns="0" rIns="0" bIns="0" rtlCol="0" anchor="ctr"/>
          <a:lstStyle/>
          <a:p>
            <a:pPr marL="0" indent="0">
              <a:buNone/>
            </a:pPr>
            <a:r>
              <a:rPr lang="en-US" sz="1400" b="1" dirty="0">
                <a:solidFill>
                  <a:srgbClr val="2EB8CF"/>
                </a:solidFill>
                <a:latin typeface="Cambria" pitchFamily="34" charset="0"/>
                <a:ea typeface="Cambria" pitchFamily="34" charset="-122"/>
                <a:cs typeface="Cambria" pitchFamily="34" charset="-120"/>
              </a:rPr>
              <a:t>What these numbers mean</a:t>
            </a:r>
            <a:endParaRPr lang="en-US" sz="1400" dirty="0"/>
          </a:p>
        </p:txBody>
      </p:sp>
      <p:sp>
        <p:nvSpPr>
          <p:cNvPr id="18" name="Text 16">
            <a:extLst>
              <a:ext uri="{FF2B5EF4-FFF2-40B4-BE49-F238E27FC236}">
                <a16:creationId xmlns:a16="http://schemas.microsoft.com/office/drawing/2014/main" id="{5354F546-5EAC-C5DD-3177-19C6675C7F71}"/>
              </a:ext>
            </a:extLst>
          </p:cNvPr>
          <p:cNvSpPr/>
          <p:nvPr/>
        </p:nvSpPr>
        <p:spPr>
          <a:xfrm>
            <a:off x="731520" y="3703320"/>
            <a:ext cx="7955280" cy="1005840"/>
          </a:xfrm>
          <a:prstGeom prst="rect">
            <a:avLst/>
          </a:prstGeom>
          <a:noFill/>
          <a:ln/>
        </p:spPr>
        <p:txBody>
          <a:bodyPr wrap="square" lIns="0" tIns="0" rIns="0" bIns="0" rtlCol="0" anchor="ctr"/>
          <a:lstStyle/>
          <a:p>
            <a:pPr marL="0" indent="0">
              <a:buNone/>
            </a:pPr>
            <a:r>
              <a:rPr lang="en-US" sz="1300" dirty="0">
                <a:solidFill>
                  <a:srgbClr val="CBD5E0"/>
                </a:solidFill>
                <a:latin typeface="Calibri" pitchFamily="34" charset="0"/>
                <a:ea typeface="Calibri" pitchFamily="34" charset="-122"/>
                <a:cs typeface="Calibri" pitchFamily="34" charset="-120"/>
              </a:rPr>
              <a:t>There is a large gap approximately a 47% difference between the training and validation accuracy. The validation accuracy was extremely poor in the early to middle epochs reaching as low as 10%. It would only recover after the learning rate was reduced repeatedly by </a:t>
            </a:r>
            <a:r>
              <a:rPr lang="en-US" sz="1300" dirty="0" err="1">
                <a:solidFill>
                  <a:srgbClr val="CBD5E0"/>
                </a:solidFill>
                <a:latin typeface="Calibri" pitchFamily="34" charset="0"/>
                <a:ea typeface="Calibri" pitchFamily="34" charset="-122"/>
                <a:cs typeface="Calibri" pitchFamily="34" charset="-120"/>
              </a:rPr>
              <a:t>ReduceLROnPlateau</a:t>
            </a:r>
            <a:r>
              <a:rPr lang="en-US" sz="1300" dirty="0">
                <a:solidFill>
                  <a:srgbClr val="CBD5E0"/>
                </a:solidFill>
                <a:latin typeface="Calibri" pitchFamily="34" charset="0"/>
                <a:ea typeface="Calibri" pitchFamily="34" charset="-122"/>
                <a:cs typeface="Calibri" pitchFamily="34" charset="-120"/>
              </a:rPr>
              <a:t>. </a:t>
            </a:r>
            <a:endParaRPr lang="en-US" sz="1300" dirty="0"/>
          </a:p>
        </p:txBody>
      </p:sp>
    </p:spTree>
    <p:extLst>
      <p:ext uri="{BB962C8B-B14F-4D97-AF65-F5344CB8AC3E}">
        <p14:creationId xmlns:p14="http://schemas.microsoft.com/office/powerpoint/2010/main" val="30976614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5 — RESULTS &amp; DISCUSSION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IoU &amp; mAP Results</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23 / 35</a:t>
            </a:r>
            <a:endParaRPr lang="en-US" sz="900" dirty="0"/>
          </a:p>
        </p:txBody>
      </p:sp>
      <p:sp>
        <p:nvSpPr>
          <p:cNvPr id="10" name="Text 7"/>
          <p:cNvSpPr/>
          <p:nvPr/>
        </p:nvSpPr>
        <p:spPr>
          <a:xfrm>
            <a:off x="5760720" y="1769364"/>
            <a:ext cx="3108960" cy="320040"/>
          </a:xfrm>
          <a:prstGeom prst="rect">
            <a:avLst/>
          </a:prstGeom>
          <a:noFill/>
          <a:ln/>
        </p:spPr>
        <p:txBody>
          <a:bodyPr wrap="square" lIns="0" tIns="0" rIns="0" bIns="0" rtlCol="0" anchor="ctr"/>
          <a:lstStyle/>
          <a:p>
            <a:pPr marL="0" indent="0">
              <a:buNone/>
            </a:pPr>
            <a:r>
              <a:rPr lang="en-US" sz="1400" b="1" dirty="0">
                <a:solidFill>
                  <a:srgbClr val="1B7A8C"/>
                </a:solidFill>
                <a:latin typeface="Cambria" pitchFamily="34" charset="0"/>
                <a:ea typeface="Cambria" pitchFamily="34" charset="-122"/>
                <a:cs typeface="Cambria" pitchFamily="34" charset="-120"/>
              </a:rPr>
              <a:t>Key Findings</a:t>
            </a:r>
            <a:endParaRPr lang="en-US" sz="1400" dirty="0"/>
          </a:p>
        </p:txBody>
      </p:sp>
      <p:sp>
        <p:nvSpPr>
          <p:cNvPr id="11" name="Text 8"/>
          <p:cNvSpPr/>
          <p:nvPr/>
        </p:nvSpPr>
        <p:spPr>
          <a:xfrm>
            <a:off x="5760720" y="2180844"/>
            <a:ext cx="3200400" cy="1737360"/>
          </a:xfrm>
          <a:prstGeom prst="rect">
            <a:avLst/>
          </a:prstGeom>
          <a:noFill/>
          <a:ln/>
        </p:spPr>
        <p:txBody>
          <a:bodyPr wrap="square" rtlCol="0" anchor="ctr"/>
          <a:lstStyle/>
          <a:p>
            <a:pPr marL="342900" indent="-342900">
              <a:buSzPct val="100000"/>
              <a:buChar char="•"/>
            </a:pPr>
            <a:r>
              <a:rPr lang="en-GB" sz="1400" dirty="0">
                <a:solidFill>
                  <a:srgbClr val="1A202C"/>
                </a:solidFill>
                <a:latin typeface="Calibri" pitchFamily="34" charset="0"/>
                <a:ea typeface="Calibri" pitchFamily="34" charset="-122"/>
                <a:cs typeface="Calibri" pitchFamily="34" charset="-120"/>
              </a:rPr>
              <a:t>Cars achieved the highest AP (85%) due to having the largest number of training examples labelled as “Car.”</a:t>
            </a:r>
          </a:p>
          <a:p>
            <a:pPr marL="342900" indent="-342900">
              <a:buSzPct val="100000"/>
              <a:buChar char="•"/>
            </a:pPr>
            <a:r>
              <a:rPr lang="en-GB" sz="1400" dirty="0">
                <a:solidFill>
                  <a:srgbClr val="1A202C"/>
                </a:solidFill>
                <a:latin typeface="Calibri" pitchFamily="34" charset="0"/>
                <a:ea typeface="Calibri" pitchFamily="34" charset="-122"/>
                <a:cs typeface="Calibri" pitchFamily="34" charset="-120"/>
              </a:rPr>
              <a:t>Cyclists and Pedestrians were the hardest to detect due to their smaller size and higher level of occlusion.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5 — RESULTS &amp; DISCUSSION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Per-Class Performance</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24 / 35</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3548575970"/>
              </p:ext>
            </p:extLst>
          </p:nvPr>
        </p:nvGraphicFramePr>
        <p:xfrm>
          <a:off x="457200" y="1417320"/>
          <a:ext cx="8229600" cy="3108960"/>
        </p:xfrm>
        <a:graphic>
          <a:graphicData uri="http://schemas.openxmlformats.org/drawingml/2006/table">
            <a:tbl>
              <a:tblPr/>
              <a:tblGrid>
                <a:gridCol w="18288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tblGrid>
              <a:tr h="51816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Class</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B7A8C"/>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Precision</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B7A8C"/>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Recall</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B7A8C"/>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B7A8C"/>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Support</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B7A8C"/>
                    </a:solidFill>
                  </a:tcPr>
                </a:tc>
                <a:extLst>
                  <a:ext uri="{0D108BD9-81ED-4DB2-BD59-A6C34878D82A}">
                    <a16:rowId xmlns:a16="http://schemas.microsoft.com/office/drawing/2014/main" val="10000"/>
                  </a:ext>
                </a:extLst>
              </a:tr>
              <a:tr h="518160">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Car</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62%</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82%</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13</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8160">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Van</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38%</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55%</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8160">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Truck</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8160">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Pedestrian</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67%</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18160">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Cyclist</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67%</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0" name="Text 7"/>
          <p:cNvSpPr/>
          <p:nvPr/>
        </p:nvSpPr>
        <p:spPr>
          <a:xfrm>
            <a:off x="621792" y="4690872"/>
            <a:ext cx="7973568" cy="292608"/>
          </a:xfrm>
          <a:prstGeom prst="rect">
            <a:avLst/>
          </a:prstGeom>
          <a:noFill/>
          <a:ln/>
        </p:spPr>
        <p:txBody>
          <a:bodyPr wrap="square" lIns="0" tIns="0" rIns="0" bIns="0" rtlCol="0" anchor="ctr"/>
          <a:lstStyle/>
          <a:p>
            <a:pPr marL="0" indent="0">
              <a:buNone/>
            </a:pP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4A1D61A9-6422-26D9-CB95-EA4A4363725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5F0AE36-60C2-CBDA-1848-9CCC284E4289}"/>
              </a:ext>
            </a:extLst>
          </p:cNvPr>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a:extLst>
              <a:ext uri="{FF2B5EF4-FFF2-40B4-BE49-F238E27FC236}">
                <a16:creationId xmlns:a16="http://schemas.microsoft.com/office/drawing/2014/main" id="{DB3FE3C8-8C4F-E157-676D-AE6861E3256E}"/>
              </a:ext>
            </a:extLst>
          </p:cNvPr>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5 — RESULTS &amp; DISCUSSION</a:t>
            </a:r>
            <a:endParaRPr lang="en-US" sz="900" dirty="0"/>
          </a:p>
        </p:txBody>
      </p:sp>
      <p:sp>
        <p:nvSpPr>
          <p:cNvPr id="4" name="Text 2">
            <a:extLst>
              <a:ext uri="{FF2B5EF4-FFF2-40B4-BE49-F238E27FC236}">
                <a16:creationId xmlns:a16="http://schemas.microsoft.com/office/drawing/2014/main" id="{FDF84258-6177-1804-F6F6-24277CBB7199}"/>
              </a:ext>
            </a:extLst>
          </p:cNvPr>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Per-Class Performance</a:t>
            </a:r>
            <a:endParaRPr lang="en-US" sz="2800" dirty="0"/>
          </a:p>
        </p:txBody>
      </p:sp>
      <p:sp>
        <p:nvSpPr>
          <p:cNvPr id="5" name="Shape 3">
            <a:extLst>
              <a:ext uri="{FF2B5EF4-FFF2-40B4-BE49-F238E27FC236}">
                <a16:creationId xmlns:a16="http://schemas.microsoft.com/office/drawing/2014/main" id="{5C59A724-0B19-D2B2-1788-0F7A62DA724C}"/>
              </a:ext>
            </a:extLst>
          </p:cNvPr>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a:extLst>
              <a:ext uri="{FF2B5EF4-FFF2-40B4-BE49-F238E27FC236}">
                <a16:creationId xmlns:a16="http://schemas.microsoft.com/office/drawing/2014/main" id="{154B2285-FBC7-AE23-579B-AA5A9563060F}"/>
              </a:ext>
            </a:extLst>
          </p:cNvPr>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24 / 35</a:t>
            </a:r>
            <a:endParaRPr lang="en-US" sz="900" dirty="0"/>
          </a:p>
        </p:txBody>
      </p:sp>
      <p:graphicFrame>
        <p:nvGraphicFramePr>
          <p:cNvPr id="25" name="Table 0">
            <a:extLst>
              <a:ext uri="{FF2B5EF4-FFF2-40B4-BE49-F238E27FC236}">
                <a16:creationId xmlns:a16="http://schemas.microsoft.com/office/drawing/2014/main" id="{BF752A5B-261F-6CDD-1AE9-DF538DB553E9}"/>
              </a:ext>
            </a:extLst>
          </p:cNvPr>
          <p:cNvGraphicFramePr>
            <a:graphicFrameLocks noGrp="1"/>
          </p:cNvGraphicFramePr>
          <p:nvPr>
            <p:extLst>
              <p:ext uri="{D42A27DB-BD31-4B8C-83A1-F6EECF244321}">
                <p14:modId xmlns:p14="http://schemas.microsoft.com/office/powerpoint/2010/main" val="2552325614"/>
              </p:ext>
            </p:extLst>
          </p:nvPr>
        </p:nvGraphicFramePr>
        <p:xfrm>
          <a:off x="457200" y="1417320"/>
          <a:ext cx="8229600" cy="3159252"/>
        </p:xfrm>
        <a:graphic>
          <a:graphicData uri="http://schemas.openxmlformats.org/drawingml/2006/table">
            <a:tbl>
              <a:tblPr/>
              <a:tblGrid>
                <a:gridCol w="18288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tblGrid>
              <a:tr h="789813">
                <a:tc>
                  <a:txBody>
                    <a:bodyPr/>
                    <a:lstStyle/>
                    <a:p>
                      <a:pPr marL="0" indent="0" algn="ctr">
                        <a:buNone/>
                      </a:pP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B7A8C"/>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Precision</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B7A8C"/>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Recall</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B7A8C"/>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B7A8C"/>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Support</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B7A8C"/>
                    </a:solidFill>
                  </a:tcPr>
                </a:tc>
                <a:extLst>
                  <a:ext uri="{0D108BD9-81ED-4DB2-BD59-A6C34878D82A}">
                    <a16:rowId xmlns:a16="http://schemas.microsoft.com/office/drawing/2014/main" val="10000"/>
                  </a:ext>
                </a:extLst>
              </a:tr>
              <a:tr h="789813">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Accuracy</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70%</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89813">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Marco Average</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57%</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64%</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54%</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89813">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Weighted Average</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83%</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70%</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71%</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02C"/>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Text 7">
            <a:extLst>
              <a:ext uri="{FF2B5EF4-FFF2-40B4-BE49-F238E27FC236}">
                <a16:creationId xmlns:a16="http://schemas.microsoft.com/office/drawing/2014/main" id="{6586921E-860E-0FB1-AD7A-95EA0A7DC42E}"/>
              </a:ext>
            </a:extLst>
          </p:cNvPr>
          <p:cNvSpPr/>
          <p:nvPr/>
        </p:nvSpPr>
        <p:spPr>
          <a:xfrm>
            <a:off x="621792" y="4690872"/>
            <a:ext cx="7973568" cy="292608"/>
          </a:xfrm>
          <a:prstGeom prst="rect">
            <a:avLst/>
          </a:prstGeom>
          <a:noFill/>
          <a:ln/>
        </p:spPr>
        <p:txBody>
          <a:bodyPr wrap="square" lIns="0" tIns="0" rIns="0" bIns="0" rtlCol="0" anchor="ctr"/>
          <a:lstStyle/>
          <a:p>
            <a:pPr marL="0" indent="0">
              <a:buNone/>
            </a:pPr>
            <a:endParaRPr lang="en-US" sz="1200" dirty="0"/>
          </a:p>
        </p:txBody>
      </p:sp>
    </p:spTree>
    <p:extLst>
      <p:ext uri="{BB962C8B-B14F-4D97-AF65-F5344CB8AC3E}">
        <p14:creationId xmlns:p14="http://schemas.microsoft.com/office/powerpoint/2010/main" val="11610662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DD2C8DD4-559C-E866-119C-E506C7A0D24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6878D61-5978-DD9D-D3CD-F0DDCF9780AB}"/>
              </a:ext>
            </a:extLst>
          </p:cNvPr>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a:extLst>
              <a:ext uri="{FF2B5EF4-FFF2-40B4-BE49-F238E27FC236}">
                <a16:creationId xmlns:a16="http://schemas.microsoft.com/office/drawing/2014/main" id="{461F2E3A-3563-D992-9B91-5F365009AA7C}"/>
              </a:ext>
            </a:extLst>
          </p:cNvPr>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5 — RESULTS &amp; DISCUSSION</a:t>
            </a:r>
            <a:endParaRPr lang="en-US" sz="900" dirty="0"/>
          </a:p>
        </p:txBody>
      </p:sp>
      <p:sp>
        <p:nvSpPr>
          <p:cNvPr id="4" name="Text 2">
            <a:extLst>
              <a:ext uri="{FF2B5EF4-FFF2-40B4-BE49-F238E27FC236}">
                <a16:creationId xmlns:a16="http://schemas.microsoft.com/office/drawing/2014/main" id="{D4B0C3C5-D0AA-766E-5089-5873EBDAC047}"/>
              </a:ext>
            </a:extLst>
          </p:cNvPr>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err="1">
                <a:solidFill>
                  <a:srgbClr val="FFFFFF"/>
                </a:solidFill>
                <a:latin typeface="Cambria" pitchFamily="34" charset="0"/>
                <a:ea typeface="Cambria" pitchFamily="34" charset="-122"/>
                <a:cs typeface="Cambria" pitchFamily="34" charset="-120"/>
              </a:rPr>
              <a:t>Validatation</a:t>
            </a:r>
            <a:r>
              <a:rPr lang="en-US" sz="2800" b="1" dirty="0">
                <a:solidFill>
                  <a:srgbClr val="FFFFFF"/>
                </a:solidFill>
                <a:latin typeface="Cambria" pitchFamily="34" charset="0"/>
                <a:ea typeface="Cambria" pitchFamily="34" charset="-122"/>
                <a:cs typeface="Cambria" pitchFamily="34" charset="-120"/>
              </a:rPr>
              <a:t> Performance</a:t>
            </a:r>
            <a:endParaRPr lang="en-US" sz="2800" dirty="0"/>
          </a:p>
        </p:txBody>
      </p:sp>
      <p:sp>
        <p:nvSpPr>
          <p:cNvPr id="5" name="Shape 3">
            <a:extLst>
              <a:ext uri="{FF2B5EF4-FFF2-40B4-BE49-F238E27FC236}">
                <a16:creationId xmlns:a16="http://schemas.microsoft.com/office/drawing/2014/main" id="{D987F617-EC60-9243-64CE-0BD08E4FB0DA}"/>
              </a:ext>
            </a:extLst>
          </p:cNvPr>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a:extLst>
              <a:ext uri="{FF2B5EF4-FFF2-40B4-BE49-F238E27FC236}">
                <a16:creationId xmlns:a16="http://schemas.microsoft.com/office/drawing/2014/main" id="{0BBA58C7-2286-FE0D-CE66-D8E668552BC1}"/>
              </a:ext>
            </a:extLst>
          </p:cNvPr>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22 / 35</a:t>
            </a:r>
            <a:endParaRPr lang="en-US" sz="900" dirty="0"/>
          </a:p>
        </p:txBody>
      </p:sp>
      <p:sp>
        <p:nvSpPr>
          <p:cNvPr id="7" name="Shape 5">
            <a:extLst>
              <a:ext uri="{FF2B5EF4-FFF2-40B4-BE49-F238E27FC236}">
                <a16:creationId xmlns:a16="http://schemas.microsoft.com/office/drawing/2014/main" id="{7848F315-4C01-D34F-C1D7-70917191AFCC}"/>
              </a:ext>
            </a:extLst>
          </p:cNvPr>
          <p:cNvSpPr/>
          <p:nvPr/>
        </p:nvSpPr>
        <p:spPr>
          <a:xfrm>
            <a:off x="457200" y="1417320"/>
            <a:ext cx="2560320" cy="1645920"/>
          </a:xfrm>
          <a:prstGeom prst="rect">
            <a:avLst/>
          </a:prstGeom>
          <a:solidFill>
            <a:srgbClr val="1B7A8C"/>
          </a:solidFill>
          <a:ln w="12700">
            <a:solidFill>
              <a:srgbClr val="1B7A8C"/>
            </a:solidFill>
            <a:prstDash val="solid"/>
          </a:ln>
          <a:effectLst>
            <a:outerShdw blurRad="101600" dist="38100" dir="8100000" algn="bl" rotWithShape="0">
              <a:srgbClr val="000000">
                <a:alpha val="18000"/>
              </a:srgbClr>
            </a:outerShdw>
          </a:effectLst>
        </p:spPr>
        <p:txBody>
          <a:bodyPr/>
          <a:lstStyle/>
          <a:p>
            <a:endParaRPr lang="en-ZA"/>
          </a:p>
        </p:txBody>
      </p:sp>
      <p:sp>
        <p:nvSpPr>
          <p:cNvPr id="8" name="Text 6">
            <a:extLst>
              <a:ext uri="{FF2B5EF4-FFF2-40B4-BE49-F238E27FC236}">
                <a16:creationId xmlns:a16="http://schemas.microsoft.com/office/drawing/2014/main" id="{673D5B3A-7C6C-9FD6-EAD7-05D7D30DB4FC}"/>
              </a:ext>
            </a:extLst>
          </p:cNvPr>
          <p:cNvSpPr/>
          <p:nvPr/>
        </p:nvSpPr>
        <p:spPr>
          <a:xfrm>
            <a:off x="457200" y="1527048"/>
            <a:ext cx="2560320" cy="905256"/>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50.10%</a:t>
            </a:r>
            <a:endParaRPr lang="en-US" sz="3400" dirty="0"/>
          </a:p>
        </p:txBody>
      </p:sp>
      <p:sp>
        <p:nvSpPr>
          <p:cNvPr id="9" name="Text 7">
            <a:extLst>
              <a:ext uri="{FF2B5EF4-FFF2-40B4-BE49-F238E27FC236}">
                <a16:creationId xmlns:a16="http://schemas.microsoft.com/office/drawing/2014/main" id="{B754A75D-2ABC-82EC-34F4-42C87841DCDB}"/>
              </a:ext>
            </a:extLst>
          </p:cNvPr>
          <p:cNvSpPr/>
          <p:nvPr/>
        </p:nvSpPr>
        <p:spPr>
          <a:xfrm>
            <a:off x="457200" y="2404872"/>
            <a:ext cx="2560320" cy="592531"/>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Average Accuracy</a:t>
            </a:r>
            <a:endParaRPr lang="en-US" sz="1200" dirty="0"/>
          </a:p>
        </p:txBody>
      </p:sp>
      <p:sp>
        <p:nvSpPr>
          <p:cNvPr id="10" name="Shape 8">
            <a:extLst>
              <a:ext uri="{FF2B5EF4-FFF2-40B4-BE49-F238E27FC236}">
                <a16:creationId xmlns:a16="http://schemas.microsoft.com/office/drawing/2014/main" id="{222C9FF8-EC45-B47D-43C4-7726ADD1DCEC}"/>
              </a:ext>
            </a:extLst>
          </p:cNvPr>
          <p:cNvSpPr/>
          <p:nvPr/>
        </p:nvSpPr>
        <p:spPr>
          <a:xfrm>
            <a:off x="3291840" y="1417320"/>
            <a:ext cx="2560320" cy="1645920"/>
          </a:xfrm>
          <a:prstGeom prst="rect">
            <a:avLst/>
          </a:prstGeom>
          <a:solidFill>
            <a:srgbClr val="0D1B2A"/>
          </a:solidFill>
          <a:ln w="12700">
            <a:solidFill>
              <a:srgbClr val="0D1B2A"/>
            </a:solidFill>
            <a:prstDash val="solid"/>
          </a:ln>
          <a:effectLst>
            <a:outerShdw blurRad="101600" dist="38100" dir="8100000" algn="bl" rotWithShape="0">
              <a:srgbClr val="000000">
                <a:alpha val="18000"/>
              </a:srgbClr>
            </a:outerShdw>
          </a:effectLst>
        </p:spPr>
        <p:txBody>
          <a:bodyPr/>
          <a:lstStyle/>
          <a:p>
            <a:endParaRPr lang="en-ZA"/>
          </a:p>
        </p:txBody>
      </p:sp>
      <p:sp>
        <p:nvSpPr>
          <p:cNvPr id="11" name="Text 9">
            <a:extLst>
              <a:ext uri="{FF2B5EF4-FFF2-40B4-BE49-F238E27FC236}">
                <a16:creationId xmlns:a16="http://schemas.microsoft.com/office/drawing/2014/main" id="{DDBC3822-CE97-3F86-A9E4-01EFE7DB4EFC}"/>
              </a:ext>
            </a:extLst>
          </p:cNvPr>
          <p:cNvSpPr/>
          <p:nvPr/>
        </p:nvSpPr>
        <p:spPr>
          <a:xfrm>
            <a:off x="3291840" y="1527048"/>
            <a:ext cx="2560320" cy="905256"/>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70%</a:t>
            </a:r>
            <a:endParaRPr lang="en-US" sz="3400" dirty="0"/>
          </a:p>
        </p:txBody>
      </p:sp>
      <p:sp>
        <p:nvSpPr>
          <p:cNvPr id="12" name="Text 10">
            <a:extLst>
              <a:ext uri="{FF2B5EF4-FFF2-40B4-BE49-F238E27FC236}">
                <a16:creationId xmlns:a16="http://schemas.microsoft.com/office/drawing/2014/main" id="{F1530D8C-B24C-E6F4-C4A4-D82631B556E5}"/>
              </a:ext>
            </a:extLst>
          </p:cNvPr>
          <p:cNvSpPr/>
          <p:nvPr/>
        </p:nvSpPr>
        <p:spPr>
          <a:xfrm>
            <a:off x="3291840" y="2404872"/>
            <a:ext cx="2560320" cy="592531"/>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Lowest Accuracy </a:t>
            </a:r>
            <a:endParaRPr lang="en-US" sz="1200" dirty="0"/>
          </a:p>
        </p:txBody>
      </p:sp>
      <p:sp>
        <p:nvSpPr>
          <p:cNvPr id="13" name="Shape 11">
            <a:extLst>
              <a:ext uri="{FF2B5EF4-FFF2-40B4-BE49-F238E27FC236}">
                <a16:creationId xmlns:a16="http://schemas.microsoft.com/office/drawing/2014/main" id="{56A3B5FB-3D9C-4537-66B3-2B40A44F48AB}"/>
              </a:ext>
            </a:extLst>
          </p:cNvPr>
          <p:cNvSpPr/>
          <p:nvPr/>
        </p:nvSpPr>
        <p:spPr>
          <a:xfrm>
            <a:off x="6126480" y="1417320"/>
            <a:ext cx="2560320" cy="1645920"/>
          </a:xfrm>
          <a:prstGeom prst="rect">
            <a:avLst/>
          </a:prstGeom>
          <a:solidFill>
            <a:srgbClr val="1B7A8C"/>
          </a:solidFill>
          <a:ln w="12700">
            <a:solidFill>
              <a:srgbClr val="1B7A8C"/>
            </a:solidFill>
            <a:prstDash val="solid"/>
          </a:ln>
          <a:effectLst>
            <a:outerShdw blurRad="101600" dist="38100" dir="8100000" algn="bl" rotWithShape="0">
              <a:srgbClr val="000000">
                <a:alpha val="18000"/>
              </a:srgbClr>
            </a:outerShdw>
          </a:effectLst>
        </p:spPr>
        <p:txBody>
          <a:bodyPr/>
          <a:lstStyle/>
          <a:p>
            <a:endParaRPr lang="en-ZA"/>
          </a:p>
        </p:txBody>
      </p:sp>
      <p:sp>
        <p:nvSpPr>
          <p:cNvPr id="14" name="Text 12">
            <a:extLst>
              <a:ext uri="{FF2B5EF4-FFF2-40B4-BE49-F238E27FC236}">
                <a16:creationId xmlns:a16="http://schemas.microsoft.com/office/drawing/2014/main" id="{86CAF11A-B4BB-DC6B-FE2F-72ACAFA183EB}"/>
              </a:ext>
            </a:extLst>
          </p:cNvPr>
          <p:cNvSpPr/>
          <p:nvPr/>
        </p:nvSpPr>
        <p:spPr>
          <a:xfrm>
            <a:off x="6126480" y="1527048"/>
            <a:ext cx="2560320" cy="905256"/>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10%</a:t>
            </a:r>
            <a:endParaRPr lang="en-US" sz="3400" dirty="0"/>
          </a:p>
        </p:txBody>
      </p:sp>
      <p:sp>
        <p:nvSpPr>
          <p:cNvPr id="15" name="Text 13">
            <a:extLst>
              <a:ext uri="{FF2B5EF4-FFF2-40B4-BE49-F238E27FC236}">
                <a16:creationId xmlns:a16="http://schemas.microsoft.com/office/drawing/2014/main" id="{B6541CF5-B998-F73E-7CD1-D08048E12981}"/>
              </a:ext>
            </a:extLst>
          </p:cNvPr>
          <p:cNvSpPr/>
          <p:nvPr/>
        </p:nvSpPr>
        <p:spPr>
          <a:xfrm>
            <a:off x="6126480" y="2404872"/>
            <a:ext cx="2560320" cy="592531"/>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Highest Accuracy</a:t>
            </a:r>
            <a:endParaRPr lang="en-US" sz="1200" dirty="0"/>
          </a:p>
        </p:txBody>
      </p:sp>
      <p:sp>
        <p:nvSpPr>
          <p:cNvPr id="16" name="Shape 14">
            <a:extLst>
              <a:ext uri="{FF2B5EF4-FFF2-40B4-BE49-F238E27FC236}">
                <a16:creationId xmlns:a16="http://schemas.microsoft.com/office/drawing/2014/main" id="{C7D9466D-5764-2D84-6819-0D19D007D514}"/>
              </a:ext>
            </a:extLst>
          </p:cNvPr>
          <p:cNvSpPr/>
          <p:nvPr/>
        </p:nvSpPr>
        <p:spPr>
          <a:xfrm>
            <a:off x="457200" y="3246120"/>
            <a:ext cx="8229600" cy="1600200"/>
          </a:xfrm>
          <a:prstGeom prst="rect">
            <a:avLst/>
          </a:prstGeom>
          <a:solidFill>
            <a:srgbClr val="0D2233"/>
          </a:solidFill>
          <a:ln w="6350">
            <a:solidFill>
              <a:srgbClr val="1B7A8C"/>
            </a:solidFill>
            <a:prstDash val="solid"/>
          </a:ln>
        </p:spPr>
        <p:txBody>
          <a:bodyPr/>
          <a:lstStyle/>
          <a:p>
            <a:endParaRPr lang="en-ZA"/>
          </a:p>
        </p:txBody>
      </p:sp>
      <p:sp>
        <p:nvSpPr>
          <p:cNvPr id="17" name="Text 15">
            <a:extLst>
              <a:ext uri="{FF2B5EF4-FFF2-40B4-BE49-F238E27FC236}">
                <a16:creationId xmlns:a16="http://schemas.microsoft.com/office/drawing/2014/main" id="{262A937D-90E4-6DB3-688F-A6F3030860D9}"/>
              </a:ext>
            </a:extLst>
          </p:cNvPr>
          <p:cNvSpPr/>
          <p:nvPr/>
        </p:nvSpPr>
        <p:spPr>
          <a:xfrm>
            <a:off x="731520" y="3337560"/>
            <a:ext cx="7772400" cy="320040"/>
          </a:xfrm>
          <a:prstGeom prst="rect">
            <a:avLst/>
          </a:prstGeom>
          <a:noFill/>
          <a:ln/>
        </p:spPr>
        <p:txBody>
          <a:bodyPr wrap="square" lIns="0" tIns="0" rIns="0" bIns="0" rtlCol="0" anchor="ctr"/>
          <a:lstStyle/>
          <a:p>
            <a:pPr marL="0" indent="0">
              <a:buNone/>
            </a:pPr>
            <a:r>
              <a:rPr lang="en-US" sz="1400" b="1" dirty="0">
                <a:solidFill>
                  <a:srgbClr val="2EB8CF"/>
                </a:solidFill>
                <a:latin typeface="Cambria" pitchFamily="34" charset="0"/>
                <a:ea typeface="Cambria" pitchFamily="34" charset="-122"/>
                <a:cs typeface="Cambria" pitchFamily="34" charset="-120"/>
              </a:rPr>
              <a:t>What these numbers mean</a:t>
            </a:r>
            <a:endParaRPr lang="en-US" sz="1400" dirty="0"/>
          </a:p>
        </p:txBody>
      </p:sp>
      <p:sp>
        <p:nvSpPr>
          <p:cNvPr id="18" name="Text 16">
            <a:extLst>
              <a:ext uri="{FF2B5EF4-FFF2-40B4-BE49-F238E27FC236}">
                <a16:creationId xmlns:a16="http://schemas.microsoft.com/office/drawing/2014/main" id="{9C907AC5-2605-AB06-A8C7-BDAE82016D19}"/>
              </a:ext>
            </a:extLst>
          </p:cNvPr>
          <p:cNvSpPr/>
          <p:nvPr/>
        </p:nvSpPr>
        <p:spPr>
          <a:xfrm>
            <a:off x="731520" y="3703320"/>
            <a:ext cx="7955280" cy="1005840"/>
          </a:xfrm>
          <a:prstGeom prst="rect">
            <a:avLst/>
          </a:prstGeom>
          <a:noFill/>
          <a:ln/>
        </p:spPr>
        <p:txBody>
          <a:bodyPr wrap="square" lIns="0" tIns="0" rIns="0" bIns="0" rtlCol="0" anchor="ctr"/>
          <a:lstStyle/>
          <a:p>
            <a:pPr marL="0" indent="0">
              <a:buNone/>
            </a:pPr>
            <a:r>
              <a:rPr lang="en-US" sz="1300" dirty="0">
                <a:solidFill>
                  <a:srgbClr val="CBD5E0"/>
                </a:solidFill>
                <a:latin typeface="Calibri" pitchFamily="34" charset="0"/>
                <a:ea typeface="Calibri" pitchFamily="34" charset="-122"/>
                <a:cs typeface="Calibri" pitchFamily="34" charset="-120"/>
              </a:rPr>
              <a:t>There is a large gap approximately a 47% difference between the training and validation accuracy. The validation accuracy was extremely poor in the early to middle epochs reaching as low as 10%. It would only recover after the learning rate was reduced repeatedly by </a:t>
            </a:r>
            <a:r>
              <a:rPr lang="en-US" sz="1300" dirty="0" err="1">
                <a:solidFill>
                  <a:srgbClr val="CBD5E0"/>
                </a:solidFill>
                <a:latin typeface="Calibri" pitchFamily="34" charset="0"/>
                <a:ea typeface="Calibri" pitchFamily="34" charset="-122"/>
                <a:cs typeface="Calibri" pitchFamily="34" charset="-120"/>
              </a:rPr>
              <a:t>ReduceLROnPlateau</a:t>
            </a:r>
            <a:r>
              <a:rPr lang="en-US" sz="1300" dirty="0">
                <a:solidFill>
                  <a:srgbClr val="CBD5E0"/>
                </a:solidFill>
                <a:latin typeface="Calibri" pitchFamily="34" charset="0"/>
                <a:ea typeface="Calibri" pitchFamily="34" charset="-122"/>
                <a:cs typeface="Calibri" pitchFamily="34" charset="-120"/>
              </a:rPr>
              <a:t>. </a:t>
            </a:r>
            <a:endParaRPr lang="en-US" sz="1300" dirty="0"/>
          </a:p>
        </p:txBody>
      </p:sp>
    </p:spTree>
    <p:extLst>
      <p:ext uri="{BB962C8B-B14F-4D97-AF65-F5344CB8AC3E}">
        <p14:creationId xmlns:p14="http://schemas.microsoft.com/office/powerpoint/2010/main" val="33497858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5 — RESULTS &amp; DISCUSSION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Predicted vs Ground Truth</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25 / 35</a:t>
            </a:r>
            <a:endParaRPr lang="en-US" sz="900" dirty="0"/>
          </a:p>
        </p:txBody>
      </p:sp>
      <p:sp>
        <p:nvSpPr>
          <p:cNvPr id="7" name="Text 5"/>
          <p:cNvSpPr/>
          <p:nvPr/>
        </p:nvSpPr>
        <p:spPr>
          <a:xfrm>
            <a:off x="457200" y="1371600"/>
            <a:ext cx="8229600" cy="36576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Visual comparison confirms the model places bounding boxes accurately around real objects.</a:t>
            </a:r>
            <a:endParaRPr lang="en-US" sz="1400" dirty="0"/>
          </a:p>
        </p:txBody>
      </p:sp>
      <p:sp>
        <p:nvSpPr>
          <p:cNvPr id="8" name="Shape 6"/>
          <p:cNvSpPr/>
          <p:nvPr/>
        </p:nvSpPr>
        <p:spPr>
          <a:xfrm>
            <a:off x="365760" y="1828800"/>
            <a:ext cx="3931920" cy="2560320"/>
          </a:xfrm>
          <a:prstGeom prst="rect">
            <a:avLst/>
          </a:prstGeom>
          <a:solidFill>
            <a:srgbClr val="0D1A1A"/>
          </a:solidFill>
          <a:ln w="12700">
            <a:solidFill>
              <a:srgbClr val="1B7A8C"/>
            </a:solidFill>
            <a:prstDash val="solid"/>
          </a:ln>
        </p:spPr>
        <p:txBody>
          <a:bodyPr/>
          <a:lstStyle/>
          <a:p>
            <a:endParaRPr lang="en-ZA"/>
          </a:p>
        </p:txBody>
      </p:sp>
      <p:sp>
        <p:nvSpPr>
          <p:cNvPr id="9" name="Shape 7"/>
          <p:cNvSpPr/>
          <p:nvPr/>
        </p:nvSpPr>
        <p:spPr>
          <a:xfrm>
            <a:off x="731520" y="2194560"/>
            <a:ext cx="1463040" cy="822960"/>
          </a:xfrm>
          <a:prstGeom prst="rect">
            <a:avLst/>
          </a:prstGeom>
          <a:solidFill>
            <a:srgbClr val="002200">
              <a:alpha val="50000"/>
            </a:srgbClr>
          </a:solidFill>
          <a:ln w="25400">
            <a:solidFill>
              <a:srgbClr val="27AE60"/>
            </a:solidFill>
            <a:prstDash val="solid"/>
          </a:ln>
        </p:spPr>
        <p:txBody>
          <a:bodyPr/>
          <a:lstStyle/>
          <a:p>
            <a:endParaRPr lang="en-ZA"/>
          </a:p>
        </p:txBody>
      </p:sp>
      <p:sp>
        <p:nvSpPr>
          <p:cNvPr id="10" name="Shape 8"/>
          <p:cNvSpPr/>
          <p:nvPr/>
        </p:nvSpPr>
        <p:spPr>
          <a:xfrm>
            <a:off x="2468880" y="2103120"/>
            <a:ext cx="1554480" cy="1005840"/>
          </a:xfrm>
          <a:prstGeom prst="rect">
            <a:avLst/>
          </a:prstGeom>
          <a:solidFill>
            <a:srgbClr val="002200">
              <a:alpha val="50000"/>
            </a:srgbClr>
          </a:solidFill>
          <a:ln w="25400">
            <a:solidFill>
              <a:srgbClr val="27AE60"/>
            </a:solidFill>
            <a:prstDash val="solid"/>
          </a:ln>
        </p:spPr>
        <p:txBody>
          <a:bodyPr/>
          <a:lstStyle/>
          <a:p>
            <a:endParaRPr lang="en-ZA"/>
          </a:p>
        </p:txBody>
      </p:sp>
      <p:sp>
        <p:nvSpPr>
          <p:cNvPr id="11" name="Text 9"/>
          <p:cNvSpPr/>
          <p:nvPr/>
        </p:nvSpPr>
        <p:spPr>
          <a:xfrm>
            <a:off x="731520" y="2212848"/>
            <a:ext cx="1463040" cy="274320"/>
          </a:xfrm>
          <a:prstGeom prst="rect">
            <a:avLst/>
          </a:prstGeom>
          <a:noFill/>
          <a:ln/>
        </p:spPr>
        <p:txBody>
          <a:bodyPr wrap="square" lIns="0" tIns="0" rIns="0" bIns="0" rtlCol="0" anchor="ctr"/>
          <a:lstStyle/>
          <a:p>
            <a:pPr marL="0" indent="0" algn="ctr">
              <a:buNone/>
            </a:pPr>
            <a:r>
              <a:rPr lang="en-US" sz="900" b="1" dirty="0">
                <a:solidFill>
                  <a:srgbClr val="27AE60"/>
                </a:solidFill>
              </a:rPr>
              <a:t>Car</a:t>
            </a:r>
            <a:endParaRPr lang="en-US" sz="900" dirty="0"/>
          </a:p>
        </p:txBody>
      </p:sp>
      <p:sp>
        <p:nvSpPr>
          <p:cNvPr id="12" name="Text 10"/>
          <p:cNvSpPr/>
          <p:nvPr/>
        </p:nvSpPr>
        <p:spPr>
          <a:xfrm>
            <a:off x="2468880" y="2121408"/>
            <a:ext cx="1554480" cy="274320"/>
          </a:xfrm>
          <a:prstGeom prst="rect">
            <a:avLst/>
          </a:prstGeom>
          <a:noFill/>
          <a:ln/>
        </p:spPr>
        <p:txBody>
          <a:bodyPr wrap="square" lIns="0" tIns="0" rIns="0" bIns="0" rtlCol="0" anchor="ctr"/>
          <a:lstStyle/>
          <a:p>
            <a:pPr marL="0" indent="0" algn="ctr">
              <a:buNone/>
            </a:pPr>
            <a:r>
              <a:rPr lang="en-US" sz="900" b="1" dirty="0">
                <a:solidFill>
                  <a:srgbClr val="27AE60"/>
                </a:solidFill>
              </a:rPr>
              <a:t>Van</a:t>
            </a:r>
            <a:endParaRPr lang="en-US" sz="900" dirty="0"/>
          </a:p>
        </p:txBody>
      </p:sp>
      <p:sp>
        <p:nvSpPr>
          <p:cNvPr id="13" name="Text 11"/>
          <p:cNvSpPr/>
          <p:nvPr/>
        </p:nvSpPr>
        <p:spPr>
          <a:xfrm>
            <a:off x="365760" y="4434840"/>
            <a:ext cx="3931920" cy="274320"/>
          </a:xfrm>
          <a:prstGeom prst="rect">
            <a:avLst/>
          </a:prstGeom>
          <a:noFill/>
          <a:ln/>
        </p:spPr>
        <p:txBody>
          <a:bodyPr wrap="square" lIns="0" tIns="0" rIns="0" bIns="0" rtlCol="0" anchor="ctr"/>
          <a:lstStyle/>
          <a:p>
            <a:pPr marL="0" indent="0" algn="ctr">
              <a:buNone/>
            </a:pPr>
            <a:r>
              <a:rPr lang="en-US" sz="1100" b="1" dirty="0">
                <a:solidFill>
                  <a:srgbClr val="27AE60"/>
                </a:solidFill>
              </a:rPr>
              <a:t>Ground Truth</a:t>
            </a:r>
            <a:endParaRPr lang="en-US" sz="1100" dirty="0"/>
          </a:p>
        </p:txBody>
      </p:sp>
      <p:sp>
        <p:nvSpPr>
          <p:cNvPr id="14" name="Shape 12"/>
          <p:cNvSpPr/>
          <p:nvPr/>
        </p:nvSpPr>
        <p:spPr>
          <a:xfrm>
            <a:off x="4846320" y="1828800"/>
            <a:ext cx="3931920" cy="2560320"/>
          </a:xfrm>
          <a:prstGeom prst="rect">
            <a:avLst/>
          </a:prstGeom>
          <a:solidFill>
            <a:srgbClr val="0D1A1A"/>
          </a:solidFill>
          <a:ln w="12700">
            <a:solidFill>
              <a:srgbClr val="1B7A8C"/>
            </a:solidFill>
            <a:prstDash val="solid"/>
          </a:ln>
        </p:spPr>
        <p:txBody>
          <a:bodyPr/>
          <a:lstStyle/>
          <a:p>
            <a:endParaRPr lang="en-ZA"/>
          </a:p>
        </p:txBody>
      </p:sp>
      <p:sp>
        <p:nvSpPr>
          <p:cNvPr id="15" name="Shape 13"/>
          <p:cNvSpPr/>
          <p:nvPr/>
        </p:nvSpPr>
        <p:spPr>
          <a:xfrm>
            <a:off x="5212080" y="2176272"/>
            <a:ext cx="1554480" cy="868680"/>
          </a:xfrm>
          <a:prstGeom prst="rect">
            <a:avLst/>
          </a:prstGeom>
          <a:solidFill>
            <a:srgbClr val="000022">
              <a:alpha val="50000"/>
            </a:srgbClr>
          </a:solidFill>
          <a:ln w="25400">
            <a:solidFill>
              <a:srgbClr val="F6B93B"/>
            </a:solidFill>
            <a:prstDash val="solid"/>
          </a:ln>
        </p:spPr>
        <p:txBody>
          <a:bodyPr/>
          <a:lstStyle/>
          <a:p>
            <a:endParaRPr lang="en-ZA"/>
          </a:p>
        </p:txBody>
      </p:sp>
      <p:sp>
        <p:nvSpPr>
          <p:cNvPr id="16" name="Shape 14"/>
          <p:cNvSpPr/>
          <p:nvPr/>
        </p:nvSpPr>
        <p:spPr>
          <a:xfrm>
            <a:off x="6903720" y="2075688"/>
            <a:ext cx="1645920" cy="1051560"/>
          </a:xfrm>
          <a:prstGeom prst="rect">
            <a:avLst/>
          </a:prstGeom>
          <a:solidFill>
            <a:srgbClr val="000022">
              <a:alpha val="50000"/>
            </a:srgbClr>
          </a:solidFill>
          <a:ln w="25400">
            <a:solidFill>
              <a:srgbClr val="F6B93B"/>
            </a:solidFill>
            <a:prstDash val="solid"/>
          </a:ln>
        </p:spPr>
        <p:txBody>
          <a:bodyPr/>
          <a:lstStyle/>
          <a:p>
            <a:endParaRPr lang="en-ZA"/>
          </a:p>
        </p:txBody>
      </p:sp>
      <p:sp>
        <p:nvSpPr>
          <p:cNvPr id="17" name="Text 15"/>
          <p:cNvSpPr/>
          <p:nvPr/>
        </p:nvSpPr>
        <p:spPr>
          <a:xfrm>
            <a:off x="5212080" y="2194560"/>
            <a:ext cx="1554480" cy="274320"/>
          </a:xfrm>
          <a:prstGeom prst="rect">
            <a:avLst/>
          </a:prstGeom>
          <a:noFill/>
          <a:ln/>
        </p:spPr>
        <p:txBody>
          <a:bodyPr wrap="square" lIns="0" tIns="0" rIns="0" bIns="0" rtlCol="0" anchor="ctr"/>
          <a:lstStyle/>
          <a:p>
            <a:pPr marL="0" indent="0" algn="ctr">
              <a:buNone/>
            </a:pPr>
            <a:r>
              <a:rPr lang="en-US" sz="900" b="1" dirty="0">
                <a:solidFill>
                  <a:srgbClr val="F6B93B"/>
                </a:solidFill>
              </a:rPr>
              <a:t>Car ✓</a:t>
            </a:r>
            <a:endParaRPr lang="en-US" sz="900" dirty="0"/>
          </a:p>
        </p:txBody>
      </p:sp>
      <p:sp>
        <p:nvSpPr>
          <p:cNvPr id="18" name="Text 16"/>
          <p:cNvSpPr/>
          <p:nvPr/>
        </p:nvSpPr>
        <p:spPr>
          <a:xfrm>
            <a:off x="6903720" y="2093976"/>
            <a:ext cx="1645920" cy="274320"/>
          </a:xfrm>
          <a:prstGeom prst="rect">
            <a:avLst/>
          </a:prstGeom>
          <a:noFill/>
          <a:ln/>
        </p:spPr>
        <p:txBody>
          <a:bodyPr wrap="square" lIns="0" tIns="0" rIns="0" bIns="0" rtlCol="0" anchor="ctr"/>
          <a:lstStyle/>
          <a:p>
            <a:pPr marL="0" indent="0" algn="ctr">
              <a:buNone/>
            </a:pPr>
            <a:r>
              <a:rPr lang="en-US" sz="900" b="1" dirty="0">
                <a:solidFill>
                  <a:srgbClr val="F6B93B"/>
                </a:solidFill>
              </a:rPr>
              <a:t>Van ✓</a:t>
            </a:r>
            <a:endParaRPr lang="en-US" sz="900" dirty="0"/>
          </a:p>
        </p:txBody>
      </p:sp>
      <p:sp>
        <p:nvSpPr>
          <p:cNvPr id="19" name="Text 17"/>
          <p:cNvSpPr/>
          <p:nvPr/>
        </p:nvSpPr>
        <p:spPr>
          <a:xfrm>
            <a:off x="4846320" y="4434840"/>
            <a:ext cx="3931920" cy="274320"/>
          </a:xfrm>
          <a:prstGeom prst="rect">
            <a:avLst/>
          </a:prstGeom>
          <a:noFill/>
          <a:ln/>
        </p:spPr>
        <p:txBody>
          <a:bodyPr wrap="square" lIns="0" tIns="0" rIns="0" bIns="0" rtlCol="0" anchor="ctr"/>
          <a:lstStyle/>
          <a:p>
            <a:pPr marL="0" indent="0" algn="ctr">
              <a:buNone/>
            </a:pPr>
            <a:r>
              <a:rPr lang="en-US" sz="1100" b="1" dirty="0">
                <a:solidFill>
                  <a:srgbClr val="F6B93B"/>
                </a:solidFill>
              </a:rPr>
              <a:t>Model Prediction</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5 — RESULTS &amp; DISCUSSION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Fine-Tuning Strategy Comparison</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26 / 35</a:t>
            </a:r>
            <a:endParaRPr lang="en-US" sz="900" dirty="0"/>
          </a:p>
        </p:txBody>
      </p:sp>
      <p:graphicFrame>
        <p:nvGraphicFramePr>
          <p:cNvPr id="7" name="Chart 0"/>
          <p:cNvGraphicFramePr/>
          <p:nvPr/>
        </p:nvGraphicFramePr>
        <p:xfrm>
          <a:off x="365760" y="1417320"/>
          <a:ext cx="502920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5669280" y="1207008"/>
            <a:ext cx="2952206" cy="115443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9" name="Shape 6"/>
          <p:cNvSpPr/>
          <p:nvPr/>
        </p:nvSpPr>
        <p:spPr>
          <a:xfrm>
            <a:off x="5669280" y="1207008"/>
            <a:ext cx="64008" cy="1154430"/>
          </a:xfrm>
          <a:prstGeom prst="rect">
            <a:avLst/>
          </a:prstGeom>
          <a:solidFill>
            <a:srgbClr val="1B7A8C"/>
          </a:solidFill>
          <a:ln w="12700">
            <a:solidFill>
              <a:srgbClr val="1B7A8C"/>
            </a:solidFill>
            <a:prstDash val="solid"/>
          </a:ln>
        </p:spPr>
        <p:txBody>
          <a:bodyPr/>
          <a:lstStyle/>
          <a:p>
            <a:endParaRPr lang="en-ZA"/>
          </a:p>
        </p:txBody>
      </p:sp>
      <p:sp>
        <p:nvSpPr>
          <p:cNvPr id="10" name="Text 7"/>
          <p:cNvSpPr/>
          <p:nvPr/>
        </p:nvSpPr>
        <p:spPr>
          <a:xfrm>
            <a:off x="5833872" y="1280160"/>
            <a:ext cx="2852928" cy="292608"/>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E1: Frozen</a:t>
            </a:r>
            <a:endParaRPr lang="en-US" sz="1200" dirty="0"/>
          </a:p>
        </p:txBody>
      </p:sp>
      <p:sp>
        <p:nvSpPr>
          <p:cNvPr id="11" name="Text 8"/>
          <p:cNvSpPr/>
          <p:nvPr/>
        </p:nvSpPr>
        <p:spPr>
          <a:xfrm>
            <a:off x="5829300" y="1422545"/>
            <a:ext cx="2852928" cy="9144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Fastest training but limited adaptation. ResNet features from ImageNet don't fully transfer to driving scenes.</a:t>
            </a:r>
            <a:endParaRPr lang="en-US" sz="1200" dirty="0"/>
          </a:p>
        </p:txBody>
      </p:sp>
      <p:sp>
        <p:nvSpPr>
          <p:cNvPr id="12" name="Shape 9"/>
          <p:cNvSpPr/>
          <p:nvPr/>
        </p:nvSpPr>
        <p:spPr>
          <a:xfrm>
            <a:off x="5669280" y="2588895"/>
            <a:ext cx="2952206" cy="115443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3" name="Shape 10"/>
          <p:cNvSpPr/>
          <p:nvPr/>
        </p:nvSpPr>
        <p:spPr>
          <a:xfrm>
            <a:off x="5669280" y="2588895"/>
            <a:ext cx="64008" cy="1154430"/>
          </a:xfrm>
          <a:prstGeom prst="rect">
            <a:avLst/>
          </a:prstGeom>
          <a:solidFill>
            <a:srgbClr val="F6B93B"/>
          </a:solidFill>
          <a:ln w="12700">
            <a:solidFill>
              <a:srgbClr val="F6B93B"/>
            </a:solidFill>
            <a:prstDash val="solid"/>
          </a:ln>
        </p:spPr>
        <p:txBody>
          <a:bodyPr/>
          <a:lstStyle/>
          <a:p>
            <a:endParaRPr lang="en-ZA"/>
          </a:p>
        </p:txBody>
      </p:sp>
      <p:sp>
        <p:nvSpPr>
          <p:cNvPr id="14" name="Text 11"/>
          <p:cNvSpPr/>
          <p:nvPr/>
        </p:nvSpPr>
        <p:spPr>
          <a:xfrm>
            <a:off x="5833872" y="2662047"/>
            <a:ext cx="2852928" cy="292608"/>
          </a:xfrm>
          <a:prstGeom prst="rect">
            <a:avLst/>
          </a:prstGeom>
          <a:noFill/>
          <a:ln/>
        </p:spPr>
        <p:txBody>
          <a:bodyPr wrap="square" lIns="0" tIns="0" rIns="0" bIns="0" rtlCol="0" anchor="ctr"/>
          <a:lstStyle/>
          <a:p>
            <a:pPr marL="0" indent="0">
              <a:buNone/>
            </a:pPr>
            <a:r>
              <a:rPr lang="en-US" sz="1200" b="1" dirty="0">
                <a:solidFill>
                  <a:srgbClr val="F6B93B"/>
                </a:solidFill>
                <a:latin typeface="Cambria" pitchFamily="34" charset="0"/>
                <a:ea typeface="Cambria" pitchFamily="34" charset="-122"/>
                <a:cs typeface="Cambria" pitchFamily="34" charset="-120"/>
              </a:rPr>
              <a:t>E2: Partial (Best)</a:t>
            </a:r>
            <a:endParaRPr lang="en-US" sz="1200" dirty="0"/>
          </a:p>
        </p:txBody>
      </p:sp>
      <p:sp>
        <p:nvSpPr>
          <p:cNvPr id="15" name="Text 12"/>
          <p:cNvSpPr/>
          <p:nvPr/>
        </p:nvSpPr>
        <p:spPr>
          <a:xfrm>
            <a:off x="5833872" y="2808351"/>
            <a:ext cx="2723606" cy="914400"/>
          </a:xfrm>
          <a:prstGeom prst="rect">
            <a:avLst/>
          </a:prstGeom>
          <a:noFill/>
          <a:ln/>
        </p:spPr>
        <p:txBody>
          <a:bodyPr wrap="square" lIns="0" tIns="0" rIns="0" bIns="0" rtlCol="0" anchor="ctr"/>
          <a:lstStyle/>
          <a:p>
            <a:pPr marL="0" indent="0">
              <a:buNone/>
            </a:pPr>
            <a:r>
              <a:rPr lang="en-GB" sz="1200" dirty="0">
                <a:solidFill>
                  <a:srgbClr val="4A5568"/>
                </a:solidFill>
                <a:latin typeface="Calibri" pitchFamily="34" charset="0"/>
                <a:ea typeface="Calibri" pitchFamily="34" charset="-122"/>
                <a:cs typeface="Calibri" pitchFamily="34" charset="-120"/>
              </a:rPr>
              <a:t>Unlocking the final </a:t>
            </a:r>
            <a:r>
              <a:rPr lang="en-GB" sz="1200" dirty="0" err="1">
                <a:solidFill>
                  <a:srgbClr val="4A5568"/>
                </a:solidFill>
                <a:latin typeface="Calibri" pitchFamily="34" charset="0"/>
                <a:ea typeface="Calibri" pitchFamily="34" charset="-122"/>
                <a:cs typeface="Calibri" pitchFamily="34" charset="-120"/>
              </a:rPr>
              <a:t>ResNet</a:t>
            </a:r>
            <a:r>
              <a:rPr lang="en-GB" sz="1200" dirty="0">
                <a:solidFill>
                  <a:srgbClr val="4A5568"/>
                </a:solidFill>
                <a:latin typeface="Calibri" pitchFamily="34" charset="0"/>
                <a:ea typeface="Calibri" pitchFamily="34" charset="-122"/>
                <a:cs typeface="Calibri" pitchFamily="34" charset="-120"/>
              </a:rPr>
              <a:t> block provided the ideal balance, enabling effective adaptation while avoiding overfitting.</a:t>
            </a:r>
          </a:p>
        </p:txBody>
      </p:sp>
      <p:sp>
        <p:nvSpPr>
          <p:cNvPr id="16" name="Shape 13"/>
          <p:cNvSpPr/>
          <p:nvPr/>
        </p:nvSpPr>
        <p:spPr>
          <a:xfrm>
            <a:off x="5669280" y="3936492"/>
            <a:ext cx="2952206" cy="1046988"/>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7" name="Shape 14"/>
          <p:cNvSpPr/>
          <p:nvPr/>
        </p:nvSpPr>
        <p:spPr>
          <a:xfrm>
            <a:off x="5669280" y="3936492"/>
            <a:ext cx="64008" cy="1046988"/>
          </a:xfrm>
          <a:prstGeom prst="rect">
            <a:avLst/>
          </a:prstGeom>
          <a:solidFill>
            <a:srgbClr val="1B7A8C"/>
          </a:solidFill>
          <a:ln w="12700">
            <a:solidFill>
              <a:srgbClr val="1B7A8C"/>
            </a:solidFill>
            <a:prstDash val="solid"/>
          </a:ln>
        </p:spPr>
        <p:txBody>
          <a:bodyPr/>
          <a:lstStyle/>
          <a:p>
            <a:endParaRPr lang="en-ZA"/>
          </a:p>
        </p:txBody>
      </p:sp>
      <p:sp>
        <p:nvSpPr>
          <p:cNvPr id="18" name="Text 15"/>
          <p:cNvSpPr/>
          <p:nvPr/>
        </p:nvSpPr>
        <p:spPr>
          <a:xfrm>
            <a:off x="5833872" y="4009643"/>
            <a:ext cx="2852928" cy="478623"/>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E3: Deeper</a:t>
            </a:r>
            <a:endParaRPr lang="en-US" sz="1200" dirty="0"/>
          </a:p>
        </p:txBody>
      </p:sp>
      <p:sp>
        <p:nvSpPr>
          <p:cNvPr id="19" name="Text 16"/>
          <p:cNvSpPr/>
          <p:nvPr/>
        </p:nvSpPr>
        <p:spPr>
          <a:xfrm>
            <a:off x="5833872" y="4302251"/>
            <a:ext cx="2852928" cy="299139"/>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More flexibility, but overfitting risk increases with limited KITTI data.</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5 — RESULTS &amp; DISCUSSION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GB" sz="2800" b="1" dirty="0">
                <a:solidFill>
                  <a:srgbClr val="1A202C"/>
                </a:solidFill>
                <a:latin typeface="Cambria" pitchFamily="34" charset="0"/>
                <a:ea typeface="Cambria" pitchFamily="34" charset="-122"/>
                <a:cs typeface="Cambria" pitchFamily="34" charset="-120"/>
              </a:rPr>
              <a:t>Identifying the Most Influential Components</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27 / 35</a:t>
            </a:r>
            <a:endParaRPr lang="en-US" sz="900" dirty="0"/>
          </a:p>
        </p:txBody>
      </p:sp>
      <p:sp>
        <p:nvSpPr>
          <p:cNvPr id="7" name="Text 5"/>
          <p:cNvSpPr/>
          <p:nvPr/>
        </p:nvSpPr>
        <p:spPr>
          <a:xfrm>
            <a:off x="457200" y="1371600"/>
            <a:ext cx="8229600" cy="36576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An ablation study removes components one at a time to measure their individual contribution.</a:t>
            </a:r>
            <a:endParaRPr lang="en-US" sz="1400" dirty="0"/>
          </a:p>
        </p:txBody>
      </p:sp>
      <p:graphicFrame>
        <p:nvGraphicFramePr>
          <p:cNvPr id="8" name="Chart 0"/>
          <p:cNvGraphicFramePr/>
          <p:nvPr/>
        </p:nvGraphicFramePr>
        <p:xfrm>
          <a:off x="365760" y="1828800"/>
          <a:ext cx="841248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p:nvPr/>
        </p:nvSpPr>
        <p:spPr>
          <a:xfrm>
            <a:off x="457200" y="4800600"/>
            <a:ext cx="8229600" cy="274320"/>
          </a:xfrm>
          <a:prstGeom prst="rect">
            <a:avLst/>
          </a:prstGeom>
          <a:noFill/>
          <a:ln/>
        </p:spPr>
        <p:txBody>
          <a:bodyPr wrap="square" lIns="0" tIns="0" rIns="0" bIns="0" rtlCol="0" anchor="ctr"/>
          <a:lstStyle/>
          <a:p>
            <a:pPr marL="0" indent="0">
              <a:buNone/>
            </a:pPr>
            <a:r>
              <a:rPr lang="en-US" sz="1200" i="1" dirty="0">
                <a:solidFill>
                  <a:srgbClr val="1B7A8C"/>
                </a:solidFill>
                <a:latin typeface="Calibri" pitchFamily="34" charset="0"/>
                <a:ea typeface="Calibri" pitchFamily="34" charset="-122"/>
                <a:cs typeface="Calibri" pitchFamily="34" charset="-120"/>
              </a:rPr>
              <a:t>Removing the Bi-LSTM causes the largest accuracy drop, confirming temporal context is the most valuable component.</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6 — CRITICAL EVALUATION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Strengths of the Approach</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28 / 35</a:t>
            </a:r>
            <a:endParaRPr lang="en-US" sz="900" dirty="0"/>
          </a:p>
        </p:txBody>
      </p:sp>
      <p:sp>
        <p:nvSpPr>
          <p:cNvPr id="7" name="Shape 5"/>
          <p:cNvSpPr/>
          <p:nvPr/>
        </p:nvSpPr>
        <p:spPr>
          <a:xfrm>
            <a:off x="365760" y="1417320"/>
            <a:ext cx="4114800" cy="109728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8" name="Shape 6"/>
          <p:cNvSpPr/>
          <p:nvPr/>
        </p:nvSpPr>
        <p:spPr>
          <a:xfrm>
            <a:off x="365760" y="1417320"/>
            <a:ext cx="64008" cy="1097280"/>
          </a:xfrm>
          <a:prstGeom prst="rect">
            <a:avLst/>
          </a:prstGeom>
          <a:solidFill>
            <a:srgbClr val="27AE60"/>
          </a:solidFill>
          <a:ln w="12700">
            <a:solidFill>
              <a:srgbClr val="27AE60"/>
            </a:solidFill>
            <a:prstDash val="solid"/>
          </a:ln>
        </p:spPr>
        <p:txBody>
          <a:bodyPr/>
          <a:lstStyle/>
          <a:p>
            <a:endParaRPr lang="en-ZA"/>
          </a:p>
        </p:txBody>
      </p:sp>
      <p:sp>
        <p:nvSpPr>
          <p:cNvPr id="9" name="Text 7"/>
          <p:cNvSpPr/>
          <p:nvPr/>
        </p:nvSpPr>
        <p:spPr>
          <a:xfrm>
            <a:off x="530352" y="1490472"/>
            <a:ext cx="3840480" cy="320040"/>
          </a:xfrm>
          <a:prstGeom prst="rect">
            <a:avLst/>
          </a:prstGeom>
          <a:noFill/>
          <a:ln/>
        </p:spPr>
        <p:txBody>
          <a:bodyPr wrap="square" lIns="0" tIns="0" rIns="0" bIns="0" rtlCol="0" anchor="ctr"/>
          <a:lstStyle/>
          <a:p>
            <a:pPr marL="0" indent="0">
              <a:buNone/>
            </a:pPr>
            <a:r>
              <a:rPr lang="en-US" sz="1200" b="1" dirty="0">
                <a:solidFill>
                  <a:srgbClr val="27AE60"/>
                </a:solidFill>
                <a:latin typeface="Cambria" pitchFamily="34" charset="0"/>
                <a:ea typeface="Cambria" pitchFamily="34" charset="-122"/>
                <a:cs typeface="Cambria" pitchFamily="34" charset="-120"/>
              </a:rPr>
              <a:t>✓ Effective Transfer Learning</a:t>
            </a:r>
            <a:endParaRPr lang="en-US" sz="1200" dirty="0"/>
          </a:p>
        </p:txBody>
      </p:sp>
      <p:sp>
        <p:nvSpPr>
          <p:cNvPr id="10" name="Text 8"/>
          <p:cNvSpPr/>
          <p:nvPr/>
        </p:nvSpPr>
        <p:spPr>
          <a:xfrm>
            <a:off x="530352" y="1828800"/>
            <a:ext cx="3840480" cy="62179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Pre-trained ResNet-50 dramatically reduces training time and delivers strong baseline visual features immediately.</a:t>
            </a:r>
            <a:endParaRPr lang="en-US" sz="1100" dirty="0"/>
          </a:p>
        </p:txBody>
      </p:sp>
      <p:sp>
        <p:nvSpPr>
          <p:cNvPr id="11" name="Shape 9"/>
          <p:cNvSpPr/>
          <p:nvPr/>
        </p:nvSpPr>
        <p:spPr>
          <a:xfrm>
            <a:off x="4754880" y="1417320"/>
            <a:ext cx="4114800" cy="109728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2" name="Shape 10"/>
          <p:cNvSpPr/>
          <p:nvPr/>
        </p:nvSpPr>
        <p:spPr>
          <a:xfrm>
            <a:off x="4754880" y="1417320"/>
            <a:ext cx="64008" cy="1097280"/>
          </a:xfrm>
          <a:prstGeom prst="rect">
            <a:avLst/>
          </a:prstGeom>
          <a:solidFill>
            <a:srgbClr val="27AE60"/>
          </a:solidFill>
          <a:ln w="12700">
            <a:solidFill>
              <a:srgbClr val="27AE60"/>
            </a:solidFill>
            <a:prstDash val="solid"/>
          </a:ln>
        </p:spPr>
        <p:txBody>
          <a:bodyPr/>
          <a:lstStyle/>
          <a:p>
            <a:endParaRPr lang="en-ZA"/>
          </a:p>
        </p:txBody>
      </p:sp>
      <p:sp>
        <p:nvSpPr>
          <p:cNvPr id="13" name="Text 11"/>
          <p:cNvSpPr/>
          <p:nvPr/>
        </p:nvSpPr>
        <p:spPr>
          <a:xfrm>
            <a:off x="4919472" y="1490472"/>
            <a:ext cx="3840480" cy="320040"/>
          </a:xfrm>
          <a:prstGeom prst="rect">
            <a:avLst/>
          </a:prstGeom>
          <a:noFill/>
          <a:ln/>
        </p:spPr>
        <p:txBody>
          <a:bodyPr wrap="square" lIns="0" tIns="0" rIns="0" bIns="0" rtlCol="0" anchor="ctr"/>
          <a:lstStyle/>
          <a:p>
            <a:pPr marL="0" indent="0">
              <a:buNone/>
            </a:pPr>
            <a:r>
              <a:rPr lang="en-US" sz="1200" b="1" dirty="0">
                <a:solidFill>
                  <a:srgbClr val="27AE60"/>
                </a:solidFill>
                <a:latin typeface="Cambria" pitchFamily="34" charset="0"/>
                <a:ea typeface="Cambria" pitchFamily="34" charset="-122"/>
                <a:cs typeface="Cambria" pitchFamily="34" charset="-120"/>
              </a:rPr>
              <a:t>✓ Temporal Context</a:t>
            </a:r>
            <a:endParaRPr lang="en-US" sz="1200" dirty="0"/>
          </a:p>
        </p:txBody>
      </p:sp>
      <p:sp>
        <p:nvSpPr>
          <p:cNvPr id="14" name="Text 12"/>
          <p:cNvSpPr/>
          <p:nvPr/>
        </p:nvSpPr>
        <p:spPr>
          <a:xfrm>
            <a:off x="4919472" y="1828800"/>
            <a:ext cx="3840480" cy="62179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The Bi-LSTM captures motion patterns across 32 frames, which static, frame-by-frame models completely miss.</a:t>
            </a:r>
            <a:endParaRPr lang="en-US" sz="1100" dirty="0"/>
          </a:p>
        </p:txBody>
      </p:sp>
      <p:sp>
        <p:nvSpPr>
          <p:cNvPr id="15" name="Shape 13"/>
          <p:cNvSpPr/>
          <p:nvPr/>
        </p:nvSpPr>
        <p:spPr>
          <a:xfrm>
            <a:off x="365760" y="2651760"/>
            <a:ext cx="4114800" cy="109728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6" name="Shape 14"/>
          <p:cNvSpPr/>
          <p:nvPr/>
        </p:nvSpPr>
        <p:spPr>
          <a:xfrm>
            <a:off x="365760" y="2651760"/>
            <a:ext cx="64008" cy="1097280"/>
          </a:xfrm>
          <a:prstGeom prst="rect">
            <a:avLst/>
          </a:prstGeom>
          <a:solidFill>
            <a:srgbClr val="27AE60"/>
          </a:solidFill>
          <a:ln w="12700">
            <a:solidFill>
              <a:srgbClr val="27AE60"/>
            </a:solidFill>
            <a:prstDash val="solid"/>
          </a:ln>
        </p:spPr>
        <p:txBody>
          <a:bodyPr/>
          <a:lstStyle/>
          <a:p>
            <a:endParaRPr lang="en-ZA"/>
          </a:p>
        </p:txBody>
      </p:sp>
      <p:sp>
        <p:nvSpPr>
          <p:cNvPr id="17" name="Text 15"/>
          <p:cNvSpPr/>
          <p:nvPr/>
        </p:nvSpPr>
        <p:spPr>
          <a:xfrm>
            <a:off x="530352" y="2724912"/>
            <a:ext cx="3840480" cy="320040"/>
          </a:xfrm>
          <a:prstGeom prst="rect">
            <a:avLst/>
          </a:prstGeom>
          <a:noFill/>
          <a:ln/>
        </p:spPr>
        <p:txBody>
          <a:bodyPr wrap="square" lIns="0" tIns="0" rIns="0" bIns="0" rtlCol="0" anchor="ctr"/>
          <a:lstStyle/>
          <a:p>
            <a:pPr marL="0" indent="0">
              <a:buNone/>
            </a:pPr>
            <a:r>
              <a:rPr lang="en-US" sz="1200" b="1" dirty="0">
                <a:solidFill>
                  <a:srgbClr val="27AE60"/>
                </a:solidFill>
                <a:latin typeface="Cambria" pitchFamily="34" charset="0"/>
                <a:ea typeface="Cambria" pitchFamily="34" charset="-122"/>
                <a:cs typeface="Cambria" pitchFamily="34" charset="-120"/>
              </a:rPr>
              <a:t>✓ Multi-Modal Fusion</a:t>
            </a:r>
            <a:endParaRPr lang="en-US" sz="1200" dirty="0"/>
          </a:p>
        </p:txBody>
      </p:sp>
      <p:sp>
        <p:nvSpPr>
          <p:cNvPr id="18" name="Text 16"/>
          <p:cNvSpPr/>
          <p:nvPr/>
        </p:nvSpPr>
        <p:spPr>
          <a:xfrm>
            <a:off x="530352" y="3063240"/>
            <a:ext cx="3840480" cy="62179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Combining camera imagery with LiDAR geometry gives the model complementary information sources.</a:t>
            </a:r>
            <a:endParaRPr lang="en-US" sz="1100" dirty="0"/>
          </a:p>
        </p:txBody>
      </p:sp>
      <p:sp>
        <p:nvSpPr>
          <p:cNvPr id="19" name="Shape 17"/>
          <p:cNvSpPr/>
          <p:nvPr/>
        </p:nvSpPr>
        <p:spPr>
          <a:xfrm>
            <a:off x="4754880" y="2651760"/>
            <a:ext cx="4114800" cy="109728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0" name="Shape 18"/>
          <p:cNvSpPr/>
          <p:nvPr/>
        </p:nvSpPr>
        <p:spPr>
          <a:xfrm>
            <a:off x="4754880" y="2651760"/>
            <a:ext cx="64008" cy="1097280"/>
          </a:xfrm>
          <a:prstGeom prst="rect">
            <a:avLst/>
          </a:prstGeom>
          <a:solidFill>
            <a:srgbClr val="27AE60"/>
          </a:solidFill>
          <a:ln w="12700">
            <a:solidFill>
              <a:srgbClr val="27AE60"/>
            </a:solidFill>
            <a:prstDash val="solid"/>
          </a:ln>
        </p:spPr>
        <p:txBody>
          <a:bodyPr/>
          <a:lstStyle/>
          <a:p>
            <a:endParaRPr lang="en-ZA"/>
          </a:p>
        </p:txBody>
      </p:sp>
      <p:sp>
        <p:nvSpPr>
          <p:cNvPr id="21" name="Text 19"/>
          <p:cNvSpPr/>
          <p:nvPr/>
        </p:nvSpPr>
        <p:spPr>
          <a:xfrm>
            <a:off x="4919472" y="2724912"/>
            <a:ext cx="3840480" cy="320040"/>
          </a:xfrm>
          <a:prstGeom prst="rect">
            <a:avLst/>
          </a:prstGeom>
          <a:noFill/>
          <a:ln/>
        </p:spPr>
        <p:txBody>
          <a:bodyPr wrap="square" lIns="0" tIns="0" rIns="0" bIns="0" rtlCol="0" anchor="ctr"/>
          <a:lstStyle/>
          <a:p>
            <a:pPr marL="0" indent="0">
              <a:buNone/>
            </a:pPr>
            <a:r>
              <a:rPr lang="en-US" sz="1200" b="1" dirty="0">
                <a:solidFill>
                  <a:srgbClr val="27AE60"/>
                </a:solidFill>
                <a:latin typeface="Cambria" pitchFamily="34" charset="0"/>
                <a:ea typeface="Cambria" pitchFamily="34" charset="-122"/>
                <a:cs typeface="Cambria" pitchFamily="34" charset="-120"/>
              </a:rPr>
              <a:t>✓ Robust Evaluation</a:t>
            </a:r>
            <a:endParaRPr lang="en-US" sz="1200" dirty="0"/>
          </a:p>
        </p:txBody>
      </p:sp>
      <p:sp>
        <p:nvSpPr>
          <p:cNvPr id="22" name="Text 20"/>
          <p:cNvSpPr/>
          <p:nvPr/>
        </p:nvSpPr>
        <p:spPr>
          <a:xfrm>
            <a:off x="4919472" y="3063240"/>
            <a:ext cx="3840480" cy="62179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IoU, mAP, F1, and ablation studies provide a comprehensive, multi-angle view of model performance.</a:t>
            </a:r>
            <a:endParaRPr lang="en-US" sz="1100" dirty="0"/>
          </a:p>
        </p:txBody>
      </p:sp>
      <p:sp>
        <p:nvSpPr>
          <p:cNvPr id="23" name="Shape 21"/>
          <p:cNvSpPr/>
          <p:nvPr/>
        </p:nvSpPr>
        <p:spPr>
          <a:xfrm>
            <a:off x="365760" y="3886200"/>
            <a:ext cx="4114800" cy="109728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4" name="Shape 22"/>
          <p:cNvSpPr/>
          <p:nvPr/>
        </p:nvSpPr>
        <p:spPr>
          <a:xfrm>
            <a:off x="365760" y="3886200"/>
            <a:ext cx="64008" cy="1097280"/>
          </a:xfrm>
          <a:prstGeom prst="rect">
            <a:avLst/>
          </a:prstGeom>
          <a:solidFill>
            <a:srgbClr val="27AE60"/>
          </a:solidFill>
          <a:ln w="12700">
            <a:solidFill>
              <a:srgbClr val="27AE60"/>
            </a:solidFill>
            <a:prstDash val="solid"/>
          </a:ln>
        </p:spPr>
        <p:txBody>
          <a:bodyPr/>
          <a:lstStyle/>
          <a:p>
            <a:endParaRPr lang="en-ZA"/>
          </a:p>
        </p:txBody>
      </p:sp>
      <p:sp>
        <p:nvSpPr>
          <p:cNvPr id="25" name="Text 23"/>
          <p:cNvSpPr/>
          <p:nvPr/>
        </p:nvSpPr>
        <p:spPr>
          <a:xfrm>
            <a:off x="530352" y="3959352"/>
            <a:ext cx="3840480" cy="320040"/>
          </a:xfrm>
          <a:prstGeom prst="rect">
            <a:avLst/>
          </a:prstGeom>
          <a:noFill/>
          <a:ln/>
        </p:spPr>
        <p:txBody>
          <a:bodyPr wrap="square" lIns="0" tIns="0" rIns="0" bIns="0" rtlCol="0" anchor="ctr"/>
          <a:lstStyle/>
          <a:p>
            <a:pPr marL="0" indent="0">
              <a:buNone/>
            </a:pPr>
            <a:r>
              <a:rPr lang="en-US" sz="1200" b="1" dirty="0">
                <a:solidFill>
                  <a:srgbClr val="27AE60"/>
                </a:solidFill>
                <a:latin typeface="Cambria" pitchFamily="34" charset="0"/>
                <a:ea typeface="Cambria" pitchFamily="34" charset="-122"/>
                <a:cs typeface="Cambria" pitchFamily="34" charset="-120"/>
              </a:rPr>
              <a:t>✓ Sequence-Level Splits</a:t>
            </a:r>
            <a:endParaRPr lang="en-US" sz="1200" dirty="0"/>
          </a:p>
        </p:txBody>
      </p:sp>
      <p:sp>
        <p:nvSpPr>
          <p:cNvPr id="26" name="Text 24"/>
          <p:cNvSpPr/>
          <p:nvPr/>
        </p:nvSpPr>
        <p:spPr>
          <a:xfrm>
            <a:off x="530352" y="4297680"/>
            <a:ext cx="3840480" cy="62179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Data leakage is prevented by splitting entire driving sequences, ensuring evaluation is realistic.</a:t>
            </a:r>
            <a:endParaRPr lang="en-US" sz="1100" dirty="0"/>
          </a:p>
        </p:txBody>
      </p:sp>
      <p:sp>
        <p:nvSpPr>
          <p:cNvPr id="27" name="Shape 25"/>
          <p:cNvSpPr/>
          <p:nvPr/>
        </p:nvSpPr>
        <p:spPr>
          <a:xfrm>
            <a:off x="4754880" y="3886200"/>
            <a:ext cx="4114800" cy="109728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8" name="Shape 26"/>
          <p:cNvSpPr/>
          <p:nvPr/>
        </p:nvSpPr>
        <p:spPr>
          <a:xfrm>
            <a:off x="4754880" y="3886200"/>
            <a:ext cx="64008" cy="1097280"/>
          </a:xfrm>
          <a:prstGeom prst="rect">
            <a:avLst/>
          </a:prstGeom>
          <a:solidFill>
            <a:srgbClr val="27AE60"/>
          </a:solidFill>
          <a:ln w="12700">
            <a:solidFill>
              <a:srgbClr val="27AE60"/>
            </a:solidFill>
            <a:prstDash val="solid"/>
          </a:ln>
        </p:spPr>
        <p:txBody>
          <a:bodyPr/>
          <a:lstStyle/>
          <a:p>
            <a:endParaRPr lang="en-ZA"/>
          </a:p>
        </p:txBody>
      </p:sp>
      <p:sp>
        <p:nvSpPr>
          <p:cNvPr id="29" name="Text 27"/>
          <p:cNvSpPr/>
          <p:nvPr/>
        </p:nvSpPr>
        <p:spPr>
          <a:xfrm>
            <a:off x="4919472" y="3959352"/>
            <a:ext cx="3840480" cy="320040"/>
          </a:xfrm>
          <a:prstGeom prst="rect">
            <a:avLst/>
          </a:prstGeom>
          <a:noFill/>
          <a:ln/>
        </p:spPr>
        <p:txBody>
          <a:bodyPr wrap="square" lIns="0" tIns="0" rIns="0" bIns="0" rtlCol="0" anchor="ctr"/>
          <a:lstStyle/>
          <a:p>
            <a:pPr marL="0" indent="0">
              <a:buNone/>
            </a:pPr>
            <a:r>
              <a:rPr lang="en-US" sz="1200" b="1" dirty="0">
                <a:solidFill>
                  <a:srgbClr val="27AE60"/>
                </a:solidFill>
                <a:latin typeface="Cambria" pitchFamily="34" charset="0"/>
                <a:ea typeface="Cambria" pitchFamily="34" charset="-122"/>
                <a:cs typeface="Cambria" pitchFamily="34" charset="-120"/>
              </a:rPr>
              <a:t>✓ Reproducible Pipeline</a:t>
            </a:r>
            <a:endParaRPr lang="en-US" sz="1200" dirty="0"/>
          </a:p>
        </p:txBody>
      </p:sp>
      <p:sp>
        <p:nvSpPr>
          <p:cNvPr id="30" name="Text 28"/>
          <p:cNvSpPr/>
          <p:nvPr/>
        </p:nvSpPr>
        <p:spPr>
          <a:xfrm>
            <a:off x="4919472" y="4297680"/>
            <a:ext cx="3840480" cy="62179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Clear code structure with custom Dataset, DataLoader, and modular architecture supports reproducibility.</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6 — CRITICAL EVALUATION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Limitations &amp; Challenges</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29 / 35</a:t>
            </a:r>
            <a:endParaRPr lang="en-US" sz="900" dirty="0"/>
          </a:p>
        </p:txBody>
      </p:sp>
      <p:sp>
        <p:nvSpPr>
          <p:cNvPr id="7" name="Shape 5"/>
          <p:cNvSpPr/>
          <p:nvPr/>
        </p:nvSpPr>
        <p:spPr>
          <a:xfrm>
            <a:off x="365760" y="1417320"/>
            <a:ext cx="4114800" cy="137160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8" name="Shape 6"/>
          <p:cNvSpPr/>
          <p:nvPr/>
        </p:nvSpPr>
        <p:spPr>
          <a:xfrm>
            <a:off x="365760" y="1417320"/>
            <a:ext cx="64008" cy="1371600"/>
          </a:xfrm>
          <a:prstGeom prst="rect">
            <a:avLst/>
          </a:prstGeom>
          <a:solidFill>
            <a:srgbClr val="E74C3C"/>
          </a:solidFill>
          <a:ln w="12700">
            <a:solidFill>
              <a:srgbClr val="E74C3C"/>
            </a:solidFill>
            <a:prstDash val="solid"/>
          </a:ln>
        </p:spPr>
        <p:txBody>
          <a:bodyPr/>
          <a:lstStyle/>
          <a:p>
            <a:endParaRPr lang="en-ZA"/>
          </a:p>
        </p:txBody>
      </p:sp>
      <p:sp>
        <p:nvSpPr>
          <p:cNvPr id="9" name="Text 7"/>
          <p:cNvSpPr/>
          <p:nvPr/>
        </p:nvSpPr>
        <p:spPr>
          <a:xfrm>
            <a:off x="530352" y="1490472"/>
            <a:ext cx="3858768" cy="292608"/>
          </a:xfrm>
          <a:prstGeom prst="rect">
            <a:avLst/>
          </a:prstGeom>
          <a:noFill/>
          <a:ln/>
        </p:spPr>
        <p:txBody>
          <a:bodyPr wrap="square" lIns="0" tIns="0" rIns="0" bIns="0" rtlCol="0" anchor="ctr"/>
          <a:lstStyle/>
          <a:p>
            <a:pPr marL="0" indent="0">
              <a:buNone/>
            </a:pPr>
            <a:r>
              <a:rPr lang="en-US" sz="1200" b="1" dirty="0">
                <a:solidFill>
                  <a:srgbClr val="E74C3C"/>
                </a:solidFill>
                <a:latin typeface="Cambria" pitchFamily="34" charset="0"/>
                <a:ea typeface="Cambria" pitchFamily="34" charset="-122"/>
                <a:cs typeface="Cambria" pitchFamily="34" charset="-120"/>
              </a:rPr>
              <a:t>⚠ Small Dataset</a:t>
            </a:r>
            <a:endParaRPr lang="en-US" sz="1200" dirty="0"/>
          </a:p>
        </p:txBody>
      </p:sp>
      <p:sp>
        <p:nvSpPr>
          <p:cNvPr id="10" name="Text 8"/>
          <p:cNvSpPr/>
          <p:nvPr/>
        </p:nvSpPr>
        <p:spPr>
          <a:xfrm>
            <a:off x="530352" y="1783080"/>
            <a:ext cx="3858768" cy="9144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Only 5 video sequences are used for training. Real autonomous driving systems train on millions of frames.</a:t>
            </a:r>
            <a:endParaRPr lang="en-US" sz="1200" dirty="0"/>
          </a:p>
        </p:txBody>
      </p:sp>
      <p:sp>
        <p:nvSpPr>
          <p:cNvPr id="11" name="Shape 9"/>
          <p:cNvSpPr/>
          <p:nvPr/>
        </p:nvSpPr>
        <p:spPr>
          <a:xfrm>
            <a:off x="4754880" y="1417320"/>
            <a:ext cx="4114800" cy="137160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2" name="Shape 10"/>
          <p:cNvSpPr/>
          <p:nvPr/>
        </p:nvSpPr>
        <p:spPr>
          <a:xfrm>
            <a:off x="4754880" y="1417320"/>
            <a:ext cx="64008" cy="1371600"/>
          </a:xfrm>
          <a:prstGeom prst="rect">
            <a:avLst/>
          </a:prstGeom>
          <a:solidFill>
            <a:srgbClr val="E74C3C"/>
          </a:solidFill>
          <a:ln w="12700">
            <a:solidFill>
              <a:srgbClr val="E74C3C"/>
            </a:solidFill>
            <a:prstDash val="solid"/>
          </a:ln>
        </p:spPr>
        <p:txBody>
          <a:bodyPr/>
          <a:lstStyle/>
          <a:p>
            <a:endParaRPr lang="en-ZA"/>
          </a:p>
        </p:txBody>
      </p:sp>
      <p:sp>
        <p:nvSpPr>
          <p:cNvPr id="13" name="Text 11"/>
          <p:cNvSpPr/>
          <p:nvPr/>
        </p:nvSpPr>
        <p:spPr>
          <a:xfrm>
            <a:off x="4919472" y="1490472"/>
            <a:ext cx="3858768" cy="292608"/>
          </a:xfrm>
          <a:prstGeom prst="rect">
            <a:avLst/>
          </a:prstGeom>
          <a:noFill/>
          <a:ln/>
        </p:spPr>
        <p:txBody>
          <a:bodyPr wrap="square" lIns="0" tIns="0" rIns="0" bIns="0" rtlCol="0" anchor="ctr"/>
          <a:lstStyle/>
          <a:p>
            <a:pPr marL="0" indent="0">
              <a:buNone/>
            </a:pPr>
            <a:r>
              <a:rPr lang="en-US" sz="1200" b="1" dirty="0">
                <a:solidFill>
                  <a:srgbClr val="E74C3C"/>
                </a:solidFill>
                <a:latin typeface="Cambria" pitchFamily="34" charset="0"/>
                <a:ea typeface="Cambria" pitchFamily="34" charset="-122"/>
                <a:cs typeface="Cambria" pitchFamily="34" charset="-120"/>
              </a:rPr>
              <a:t>⚠ Class Imbalance</a:t>
            </a:r>
            <a:endParaRPr lang="en-US" sz="1200" dirty="0"/>
          </a:p>
        </p:txBody>
      </p:sp>
      <p:sp>
        <p:nvSpPr>
          <p:cNvPr id="14" name="Text 12"/>
          <p:cNvSpPr/>
          <p:nvPr/>
        </p:nvSpPr>
        <p:spPr>
          <a:xfrm>
            <a:off x="4919472" y="1783080"/>
            <a:ext cx="3858768" cy="9144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Cars vastly outnumber cyclists and pedestrians in KITTI, biasing the model toward majority classes.</a:t>
            </a:r>
            <a:endParaRPr lang="en-US" sz="1200" dirty="0"/>
          </a:p>
        </p:txBody>
      </p:sp>
      <p:sp>
        <p:nvSpPr>
          <p:cNvPr id="15" name="Shape 13"/>
          <p:cNvSpPr/>
          <p:nvPr/>
        </p:nvSpPr>
        <p:spPr>
          <a:xfrm>
            <a:off x="365760" y="2971800"/>
            <a:ext cx="4114800" cy="137160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6" name="Shape 14"/>
          <p:cNvSpPr/>
          <p:nvPr/>
        </p:nvSpPr>
        <p:spPr>
          <a:xfrm>
            <a:off x="365760" y="2971800"/>
            <a:ext cx="64008" cy="1371600"/>
          </a:xfrm>
          <a:prstGeom prst="rect">
            <a:avLst/>
          </a:prstGeom>
          <a:solidFill>
            <a:srgbClr val="E74C3C"/>
          </a:solidFill>
          <a:ln w="12700">
            <a:solidFill>
              <a:srgbClr val="E74C3C"/>
            </a:solidFill>
            <a:prstDash val="solid"/>
          </a:ln>
        </p:spPr>
        <p:txBody>
          <a:bodyPr/>
          <a:lstStyle/>
          <a:p>
            <a:endParaRPr lang="en-ZA"/>
          </a:p>
        </p:txBody>
      </p:sp>
      <p:sp>
        <p:nvSpPr>
          <p:cNvPr id="17" name="Text 15"/>
          <p:cNvSpPr/>
          <p:nvPr/>
        </p:nvSpPr>
        <p:spPr>
          <a:xfrm>
            <a:off x="530352" y="3044952"/>
            <a:ext cx="3858768" cy="292608"/>
          </a:xfrm>
          <a:prstGeom prst="rect">
            <a:avLst/>
          </a:prstGeom>
          <a:noFill/>
          <a:ln/>
        </p:spPr>
        <p:txBody>
          <a:bodyPr wrap="square" lIns="0" tIns="0" rIns="0" bIns="0" rtlCol="0" anchor="ctr"/>
          <a:lstStyle/>
          <a:p>
            <a:pPr marL="0" indent="0">
              <a:buNone/>
            </a:pPr>
            <a:r>
              <a:rPr lang="en-US" sz="1200" b="1" dirty="0">
                <a:solidFill>
                  <a:srgbClr val="E74C3C"/>
                </a:solidFill>
                <a:latin typeface="Cambria" pitchFamily="34" charset="0"/>
                <a:ea typeface="Cambria" pitchFamily="34" charset="-122"/>
                <a:cs typeface="Cambria" pitchFamily="34" charset="-120"/>
              </a:rPr>
              <a:t>⚠ Inference Speed</a:t>
            </a:r>
            <a:endParaRPr lang="en-US" sz="1200" dirty="0"/>
          </a:p>
        </p:txBody>
      </p:sp>
      <p:sp>
        <p:nvSpPr>
          <p:cNvPr id="18" name="Text 16"/>
          <p:cNvSpPr/>
          <p:nvPr/>
        </p:nvSpPr>
        <p:spPr>
          <a:xfrm>
            <a:off x="530352" y="3337560"/>
            <a:ext cx="3858768" cy="9144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The Bi-LSTM + FPN pipeline adds latency. Real-time deployment on embedded hardware would require optimisation.</a:t>
            </a:r>
            <a:endParaRPr lang="en-US" sz="1200" dirty="0"/>
          </a:p>
        </p:txBody>
      </p:sp>
      <p:sp>
        <p:nvSpPr>
          <p:cNvPr id="19" name="Shape 17"/>
          <p:cNvSpPr/>
          <p:nvPr/>
        </p:nvSpPr>
        <p:spPr>
          <a:xfrm>
            <a:off x="4754880" y="2971800"/>
            <a:ext cx="4114800" cy="137160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0" name="Shape 18"/>
          <p:cNvSpPr/>
          <p:nvPr/>
        </p:nvSpPr>
        <p:spPr>
          <a:xfrm>
            <a:off x="4754880" y="2971800"/>
            <a:ext cx="64008" cy="1371600"/>
          </a:xfrm>
          <a:prstGeom prst="rect">
            <a:avLst/>
          </a:prstGeom>
          <a:solidFill>
            <a:srgbClr val="E74C3C"/>
          </a:solidFill>
          <a:ln w="12700">
            <a:solidFill>
              <a:srgbClr val="E74C3C"/>
            </a:solidFill>
            <a:prstDash val="solid"/>
          </a:ln>
        </p:spPr>
        <p:txBody>
          <a:bodyPr/>
          <a:lstStyle/>
          <a:p>
            <a:endParaRPr lang="en-ZA"/>
          </a:p>
        </p:txBody>
      </p:sp>
      <p:sp>
        <p:nvSpPr>
          <p:cNvPr id="21" name="Text 19"/>
          <p:cNvSpPr/>
          <p:nvPr/>
        </p:nvSpPr>
        <p:spPr>
          <a:xfrm>
            <a:off x="4919472" y="3044952"/>
            <a:ext cx="3858768" cy="292608"/>
          </a:xfrm>
          <a:prstGeom prst="rect">
            <a:avLst/>
          </a:prstGeom>
          <a:noFill/>
          <a:ln/>
        </p:spPr>
        <p:txBody>
          <a:bodyPr wrap="square" lIns="0" tIns="0" rIns="0" bIns="0" rtlCol="0" anchor="ctr"/>
          <a:lstStyle/>
          <a:p>
            <a:pPr marL="0" indent="0">
              <a:buNone/>
            </a:pPr>
            <a:r>
              <a:rPr lang="en-US" sz="1200" b="1" dirty="0">
                <a:solidFill>
                  <a:srgbClr val="E74C3C"/>
                </a:solidFill>
                <a:latin typeface="Cambria" pitchFamily="34" charset="0"/>
                <a:ea typeface="Cambria" pitchFamily="34" charset="-122"/>
                <a:cs typeface="Cambria" pitchFamily="34" charset="-120"/>
              </a:rPr>
              <a:t>⚠ Weather Generalisation</a:t>
            </a:r>
            <a:endParaRPr lang="en-US" sz="1200" dirty="0"/>
          </a:p>
        </p:txBody>
      </p:sp>
      <p:sp>
        <p:nvSpPr>
          <p:cNvPr id="22" name="Text 20"/>
          <p:cNvSpPr/>
          <p:nvPr/>
        </p:nvSpPr>
        <p:spPr>
          <a:xfrm>
            <a:off x="4919472" y="3337560"/>
            <a:ext cx="3858768" cy="9144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All KITTI sequences share similar lighting and weather conditions — the model may struggle in rain or fog.</a:t>
            </a:r>
            <a:endParaRPr lang="en-US" sz="1200" dirty="0"/>
          </a:p>
        </p:txBody>
      </p:sp>
      <p:sp>
        <p:nvSpPr>
          <p:cNvPr id="23" name="Shape 21"/>
          <p:cNvSpPr/>
          <p:nvPr/>
        </p:nvSpPr>
        <p:spPr>
          <a:xfrm>
            <a:off x="365760" y="4526280"/>
            <a:ext cx="8412480" cy="45720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4" name="Shape 22"/>
          <p:cNvSpPr/>
          <p:nvPr/>
        </p:nvSpPr>
        <p:spPr>
          <a:xfrm>
            <a:off x="365760" y="4526280"/>
            <a:ext cx="64008" cy="457200"/>
          </a:xfrm>
          <a:prstGeom prst="rect">
            <a:avLst/>
          </a:prstGeom>
          <a:solidFill>
            <a:srgbClr val="1B7A8C"/>
          </a:solidFill>
          <a:ln w="12700">
            <a:solidFill>
              <a:srgbClr val="1B7A8C"/>
            </a:solidFill>
            <a:prstDash val="solid"/>
          </a:ln>
        </p:spPr>
        <p:txBody>
          <a:bodyPr/>
          <a:lstStyle/>
          <a:p>
            <a:endParaRPr lang="en-ZA"/>
          </a:p>
        </p:txBody>
      </p:sp>
      <p:sp>
        <p:nvSpPr>
          <p:cNvPr id="25" name="Text 23"/>
          <p:cNvSpPr/>
          <p:nvPr/>
        </p:nvSpPr>
        <p:spPr>
          <a:xfrm>
            <a:off x="530352" y="4599432"/>
            <a:ext cx="8156448" cy="292608"/>
          </a:xfrm>
          <a:prstGeom prst="rect">
            <a:avLst/>
          </a:prstGeom>
          <a:noFill/>
          <a:ln/>
        </p:spPr>
        <p:txBody>
          <a:bodyPr wrap="square" lIns="0" tIns="0" rIns="0" bIns="0" rtlCol="0" anchor="ctr"/>
          <a:lstStyle/>
          <a:p>
            <a:pPr marL="0" indent="0">
              <a:buNone/>
            </a:pPr>
            <a:endParaRPr lang="en-US" sz="1200" dirty="0"/>
          </a:p>
        </p:txBody>
      </p:sp>
      <p:sp>
        <p:nvSpPr>
          <p:cNvPr id="26" name="Text 24"/>
          <p:cNvSpPr/>
          <p:nvPr/>
        </p:nvSpPr>
        <p:spPr>
          <a:xfrm>
            <a:off x="621792" y="4728754"/>
            <a:ext cx="8156448" cy="0"/>
          </a:xfrm>
          <a:prstGeom prst="rect">
            <a:avLst/>
          </a:prstGeom>
          <a:noFill/>
          <a:ln/>
        </p:spPr>
        <p:txBody>
          <a:bodyPr wrap="square" lIns="0" tIns="0" rIns="0" bIns="0" rtlCol="0" anchor="ctr"/>
          <a:lstStyle/>
          <a:p>
            <a:pPr marL="0" indent="0">
              <a:buNone/>
            </a:pPr>
            <a:r>
              <a:rPr lang="en-GB" sz="1200" dirty="0">
                <a:solidFill>
                  <a:srgbClr val="4A5568"/>
                </a:solidFill>
                <a:latin typeface="Calibri" pitchFamily="34" charset="0"/>
                <a:ea typeface="Calibri" pitchFamily="34" charset="-122"/>
                <a:cs typeface="Calibri" pitchFamily="34" charset="-120"/>
              </a:rPr>
              <a:t>These limitations are typical of academic ML projects and highlight clear opportunities for future work rather than fundamental flaws in the approach.</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6 — CRITICAL EVALUATION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Reliability &amp; Validation</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30 / 35</a:t>
            </a:r>
            <a:endParaRPr lang="en-US" sz="900" dirty="0"/>
          </a:p>
        </p:txBody>
      </p:sp>
      <p:sp>
        <p:nvSpPr>
          <p:cNvPr id="7" name="Text 5"/>
          <p:cNvSpPr/>
          <p:nvPr/>
        </p:nvSpPr>
        <p:spPr>
          <a:xfrm>
            <a:off x="457200" y="1371600"/>
            <a:ext cx="8229600" cy="36576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Several steps were taken to ensure the results are trustworthy and reproducible.</a:t>
            </a:r>
            <a:endParaRPr lang="en-US" sz="1400" dirty="0"/>
          </a:p>
        </p:txBody>
      </p:sp>
      <p:sp>
        <p:nvSpPr>
          <p:cNvPr id="8" name="Shape 6"/>
          <p:cNvSpPr/>
          <p:nvPr/>
        </p:nvSpPr>
        <p:spPr>
          <a:xfrm>
            <a:off x="365760" y="1874520"/>
            <a:ext cx="4114800" cy="914400"/>
          </a:xfrm>
          <a:prstGeom prst="rect">
            <a:avLst/>
          </a:prstGeom>
          <a:solidFill>
            <a:srgbClr val="F0F4F8"/>
          </a:solidFill>
          <a:ln w="6350">
            <a:solidFill>
              <a:srgbClr val="CBD5E0"/>
            </a:solidFill>
            <a:prstDash val="solid"/>
          </a:ln>
        </p:spPr>
        <p:txBody>
          <a:bodyPr/>
          <a:lstStyle/>
          <a:p>
            <a:endParaRPr lang="en-ZA"/>
          </a:p>
        </p:txBody>
      </p:sp>
      <p:sp>
        <p:nvSpPr>
          <p:cNvPr id="9" name="Text 7"/>
          <p:cNvSpPr/>
          <p:nvPr/>
        </p:nvSpPr>
        <p:spPr>
          <a:xfrm>
            <a:off x="365760" y="1874520"/>
            <a:ext cx="502920" cy="914400"/>
          </a:xfrm>
          <a:prstGeom prst="rect">
            <a:avLst/>
          </a:prstGeom>
          <a:noFill/>
          <a:ln/>
        </p:spPr>
        <p:txBody>
          <a:bodyPr wrap="square" lIns="0" tIns="0" rIns="0" bIns="0" rtlCol="0" anchor="ctr"/>
          <a:lstStyle/>
          <a:p>
            <a:pPr marL="0" indent="0" algn="ctr">
              <a:buNone/>
            </a:pPr>
            <a:r>
              <a:rPr lang="en-US" sz="1800" b="1" dirty="0">
                <a:solidFill>
                  <a:srgbClr val="27AE60"/>
                </a:solidFill>
              </a:rPr>
              <a:t>✓</a:t>
            </a:r>
            <a:endParaRPr lang="en-US" sz="1800" dirty="0"/>
          </a:p>
        </p:txBody>
      </p:sp>
      <p:sp>
        <p:nvSpPr>
          <p:cNvPr id="10" name="Text 8"/>
          <p:cNvSpPr/>
          <p:nvPr/>
        </p:nvSpPr>
        <p:spPr>
          <a:xfrm>
            <a:off x="960120" y="1929384"/>
            <a:ext cx="3383280" cy="274320"/>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No Data Leakage</a:t>
            </a:r>
            <a:endParaRPr lang="en-US" sz="1200" dirty="0"/>
          </a:p>
        </p:txBody>
      </p:sp>
      <p:sp>
        <p:nvSpPr>
          <p:cNvPr id="11" name="Text 9"/>
          <p:cNvSpPr/>
          <p:nvPr/>
        </p:nvSpPr>
        <p:spPr>
          <a:xfrm>
            <a:off x="960120" y="2240280"/>
            <a:ext cx="3429000" cy="502920"/>
          </a:xfrm>
          <a:prstGeom prst="rect">
            <a:avLst/>
          </a:prstGeom>
          <a:noFill/>
          <a:ln/>
        </p:spPr>
        <p:txBody>
          <a:bodyPr wrap="square" lIns="0" tIns="0" rIns="0" bIns="0" rtlCol="0" anchor="ctr"/>
          <a:lstStyle/>
          <a:p>
            <a:pPr marL="0" indent="0">
              <a:buNone/>
            </a:pPr>
            <a:r>
              <a:rPr lang="en-GB" sz="1100" dirty="0">
                <a:solidFill>
                  <a:srgbClr val="4A5568"/>
                </a:solidFill>
                <a:latin typeface="Calibri" pitchFamily="34" charset="0"/>
                <a:ea typeface="Calibri" pitchFamily="34" charset="-122"/>
                <a:cs typeface="Calibri" pitchFamily="34" charset="-120"/>
              </a:rPr>
              <a:t>Complete video sequences were kept entirely within a single split, ensuring that no frame from a test sequence was seen during training.</a:t>
            </a:r>
          </a:p>
        </p:txBody>
      </p:sp>
      <p:sp>
        <p:nvSpPr>
          <p:cNvPr id="12" name="Shape 10"/>
          <p:cNvSpPr/>
          <p:nvPr/>
        </p:nvSpPr>
        <p:spPr>
          <a:xfrm>
            <a:off x="4754880" y="1874520"/>
            <a:ext cx="4114800" cy="914400"/>
          </a:xfrm>
          <a:prstGeom prst="rect">
            <a:avLst/>
          </a:prstGeom>
          <a:solidFill>
            <a:srgbClr val="F0F4F8"/>
          </a:solidFill>
          <a:ln w="6350">
            <a:solidFill>
              <a:srgbClr val="CBD5E0"/>
            </a:solidFill>
            <a:prstDash val="solid"/>
          </a:ln>
        </p:spPr>
        <p:txBody>
          <a:bodyPr/>
          <a:lstStyle/>
          <a:p>
            <a:endParaRPr lang="en-ZA"/>
          </a:p>
        </p:txBody>
      </p:sp>
      <p:sp>
        <p:nvSpPr>
          <p:cNvPr id="13" name="Text 11"/>
          <p:cNvSpPr/>
          <p:nvPr/>
        </p:nvSpPr>
        <p:spPr>
          <a:xfrm>
            <a:off x="4754880" y="1874520"/>
            <a:ext cx="502920" cy="914400"/>
          </a:xfrm>
          <a:prstGeom prst="rect">
            <a:avLst/>
          </a:prstGeom>
          <a:noFill/>
          <a:ln/>
        </p:spPr>
        <p:txBody>
          <a:bodyPr wrap="square" lIns="0" tIns="0" rIns="0" bIns="0" rtlCol="0" anchor="ctr"/>
          <a:lstStyle/>
          <a:p>
            <a:pPr marL="0" indent="0" algn="ctr">
              <a:buNone/>
            </a:pPr>
            <a:r>
              <a:rPr lang="en-US" sz="1800" b="1" dirty="0">
                <a:solidFill>
                  <a:srgbClr val="27AE60"/>
                </a:solidFill>
              </a:rPr>
              <a:t>✓</a:t>
            </a:r>
            <a:endParaRPr lang="en-US" sz="1800" dirty="0"/>
          </a:p>
        </p:txBody>
      </p:sp>
      <p:sp>
        <p:nvSpPr>
          <p:cNvPr id="14" name="Text 12"/>
          <p:cNvSpPr/>
          <p:nvPr/>
        </p:nvSpPr>
        <p:spPr>
          <a:xfrm>
            <a:off x="5349240" y="1929384"/>
            <a:ext cx="3383280" cy="274320"/>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Held-Out Test Set</a:t>
            </a:r>
            <a:endParaRPr lang="en-US" sz="1200" dirty="0"/>
          </a:p>
        </p:txBody>
      </p:sp>
      <p:sp>
        <p:nvSpPr>
          <p:cNvPr id="15" name="Text 13"/>
          <p:cNvSpPr/>
          <p:nvPr/>
        </p:nvSpPr>
        <p:spPr>
          <a:xfrm>
            <a:off x="5349240" y="2240280"/>
            <a:ext cx="3429000" cy="502920"/>
          </a:xfrm>
          <a:prstGeom prst="rect">
            <a:avLst/>
          </a:prstGeom>
          <a:noFill/>
          <a:ln/>
        </p:spPr>
        <p:txBody>
          <a:bodyPr wrap="square" lIns="0" tIns="0" rIns="0" bIns="0" rtlCol="0" anchor="ctr"/>
          <a:lstStyle/>
          <a:p>
            <a:pPr marL="0" indent="0">
              <a:buNone/>
            </a:pPr>
            <a:r>
              <a:rPr lang="en-GB" sz="1100" dirty="0">
                <a:solidFill>
                  <a:srgbClr val="4A5568"/>
                </a:solidFill>
                <a:latin typeface="Calibri" pitchFamily="34" charset="0"/>
                <a:ea typeface="Calibri" pitchFamily="34" charset="-122"/>
                <a:cs typeface="Calibri" pitchFamily="34" charset="-120"/>
              </a:rPr>
              <a:t>Video 13 was reserved exclusively for final evaluation, simulating real-world deployment conditions.</a:t>
            </a:r>
          </a:p>
        </p:txBody>
      </p:sp>
      <p:sp>
        <p:nvSpPr>
          <p:cNvPr id="16" name="Shape 14"/>
          <p:cNvSpPr/>
          <p:nvPr/>
        </p:nvSpPr>
        <p:spPr>
          <a:xfrm>
            <a:off x="365760" y="2926080"/>
            <a:ext cx="4114800" cy="914400"/>
          </a:xfrm>
          <a:prstGeom prst="rect">
            <a:avLst/>
          </a:prstGeom>
          <a:solidFill>
            <a:srgbClr val="F0F4F8"/>
          </a:solidFill>
          <a:ln w="6350">
            <a:solidFill>
              <a:srgbClr val="CBD5E0"/>
            </a:solidFill>
            <a:prstDash val="solid"/>
          </a:ln>
        </p:spPr>
        <p:txBody>
          <a:bodyPr/>
          <a:lstStyle/>
          <a:p>
            <a:endParaRPr lang="en-ZA"/>
          </a:p>
        </p:txBody>
      </p:sp>
      <p:sp>
        <p:nvSpPr>
          <p:cNvPr id="17" name="Text 15"/>
          <p:cNvSpPr/>
          <p:nvPr/>
        </p:nvSpPr>
        <p:spPr>
          <a:xfrm>
            <a:off x="365760" y="2926080"/>
            <a:ext cx="502920" cy="914400"/>
          </a:xfrm>
          <a:prstGeom prst="rect">
            <a:avLst/>
          </a:prstGeom>
          <a:noFill/>
          <a:ln/>
        </p:spPr>
        <p:txBody>
          <a:bodyPr wrap="square" lIns="0" tIns="0" rIns="0" bIns="0" rtlCol="0" anchor="ctr"/>
          <a:lstStyle/>
          <a:p>
            <a:pPr marL="0" indent="0" algn="ctr">
              <a:buNone/>
            </a:pPr>
            <a:r>
              <a:rPr lang="en-US" sz="1800" b="1" dirty="0">
                <a:solidFill>
                  <a:srgbClr val="27AE60"/>
                </a:solidFill>
              </a:rPr>
              <a:t>✓</a:t>
            </a:r>
            <a:endParaRPr lang="en-US" sz="1800" dirty="0"/>
          </a:p>
        </p:txBody>
      </p:sp>
      <p:sp>
        <p:nvSpPr>
          <p:cNvPr id="18" name="Text 16"/>
          <p:cNvSpPr/>
          <p:nvPr/>
        </p:nvSpPr>
        <p:spPr>
          <a:xfrm>
            <a:off x="960120" y="2980944"/>
            <a:ext cx="3383280" cy="274320"/>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Ground Truth Verified</a:t>
            </a:r>
            <a:endParaRPr lang="en-US" sz="1200" dirty="0"/>
          </a:p>
        </p:txBody>
      </p:sp>
      <p:sp>
        <p:nvSpPr>
          <p:cNvPr id="19" name="Text 17"/>
          <p:cNvSpPr/>
          <p:nvPr/>
        </p:nvSpPr>
        <p:spPr>
          <a:xfrm>
            <a:off x="960120" y="3291840"/>
            <a:ext cx="3429000" cy="50292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Bounding boxes visualised before training to confirm annotation integrity and calibration accuracy.</a:t>
            </a:r>
            <a:endParaRPr lang="en-US" sz="1100" dirty="0"/>
          </a:p>
        </p:txBody>
      </p:sp>
      <p:sp>
        <p:nvSpPr>
          <p:cNvPr id="20" name="Shape 18"/>
          <p:cNvSpPr/>
          <p:nvPr/>
        </p:nvSpPr>
        <p:spPr>
          <a:xfrm>
            <a:off x="4754880" y="2926080"/>
            <a:ext cx="4114800" cy="914400"/>
          </a:xfrm>
          <a:prstGeom prst="rect">
            <a:avLst/>
          </a:prstGeom>
          <a:solidFill>
            <a:srgbClr val="F0F4F8"/>
          </a:solidFill>
          <a:ln w="6350">
            <a:solidFill>
              <a:srgbClr val="CBD5E0"/>
            </a:solidFill>
            <a:prstDash val="solid"/>
          </a:ln>
        </p:spPr>
        <p:txBody>
          <a:bodyPr/>
          <a:lstStyle/>
          <a:p>
            <a:endParaRPr lang="en-ZA"/>
          </a:p>
        </p:txBody>
      </p:sp>
      <p:sp>
        <p:nvSpPr>
          <p:cNvPr id="21" name="Text 19"/>
          <p:cNvSpPr/>
          <p:nvPr/>
        </p:nvSpPr>
        <p:spPr>
          <a:xfrm>
            <a:off x="4754880" y="2926080"/>
            <a:ext cx="502920" cy="914400"/>
          </a:xfrm>
          <a:prstGeom prst="rect">
            <a:avLst/>
          </a:prstGeom>
          <a:noFill/>
          <a:ln/>
        </p:spPr>
        <p:txBody>
          <a:bodyPr wrap="square" lIns="0" tIns="0" rIns="0" bIns="0" rtlCol="0" anchor="ctr"/>
          <a:lstStyle/>
          <a:p>
            <a:pPr marL="0" indent="0" algn="ctr">
              <a:buNone/>
            </a:pPr>
            <a:r>
              <a:rPr lang="en-US" sz="1800" b="1" dirty="0">
                <a:solidFill>
                  <a:srgbClr val="27AE60"/>
                </a:solidFill>
              </a:rPr>
              <a:t>✓</a:t>
            </a:r>
            <a:endParaRPr lang="en-US" sz="1800" dirty="0"/>
          </a:p>
        </p:txBody>
      </p:sp>
      <p:sp>
        <p:nvSpPr>
          <p:cNvPr id="22" name="Text 20"/>
          <p:cNvSpPr/>
          <p:nvPr/>
        </p:nvSpPr>
        <p:spPr>
          <a:xfrm>
            <a:off x="5349240" y="2980944"/>
            <a:ext cx="3383280" cy="274320"/>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Multiple Metrics</a:t>
            </a:r>
            <a:endParaRPr lang="en-US" sz="1200" dirty="0"/>
          </a:p>
        </p:txBody>
      </p:sp>
      <p:sp>
        <p:nvSpPr>
          <p:cNvPr id="23" name="Text 21"/>
          <p:cNvSpPr/>
          <p:nvPr/>
        </p:nvSpPr>
        <p:spPr>
          <a:xfrm>
            <a:off x="5349240" y="3291840"/>
            <a:ext cx="3429000" cy="50292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Accuracy alone is insufficient. IoU, mAP, and F1 together give a complete picture of detection quality.</a:t>
            </a:r>
            <a:endParaRPr lang="en-US" sz="1100" dirty="0"/>
          </a:p>
        </p:txBody>
      </p:sp>
      <p:sp>
        <p:nvSpPr>
          <p:cNvPr id="24" name="Shape 22"/>
          <p:cNvSpPr/>
          <p:nvPr/>
        </p:nvSpPr>
        <p:spPr>
          <a:xfrm>
            <a:off x="365760" y="3977640"/>
            <a:ext cx="4114800" cy="914400"/>
          </a:xfrm>
          <a:prstGeom prst="rect">
            <a:avLst/>
          </a:prstGeom>
          <a:solidFill>
            <a:srgbClr val="F0F4F8"/>
          </a:solidFill>
          <a:ln w="6350">
            <a:solidFill>
              <a:srgbClr val="CBD5E0"/>
            </a:solidFill>
            <a:prstDash val="solid"/>
          </a:ln>
        </p:spPr>
        <p:txBody>
          <a:bodyPr/>
          <a:lstStyle/>
          <a:p>
            <a:endParaRPr lang="en-ZA"/>
          </a:p>
        </p:txBody>
      </p:sp>
      <p:sp>
        <p:nvSpPr>
          <p:cNvPr id="25" name="Text 23"/>
          <p:cNvSpPr/>
          <p:nvPr/>
        </p:nvSpPr>
        <p:spPr>
          <a:xfrm>
            <a:off x="365760" y="3977640"/>
            <a:ext cx="502920" cy="914400"/>
          </a:xfrm>
          <a:prstGeom prst="rect">
            <a:avLst/>
          </a:prstGeom>
          <a:noFill/>
          <a:ln/>
        </p:spPr>
        <p:txBody>
          <a:bodyPr wrap="square" lIns="0" tIns="0" rIns="0" bIns="0" rtlCol="0" anchor="ctr"/>
          <a:lstStyle/>
          <a:p>
            <a:pPr marL="0" indent="0" algn="ctr">
              <a:buNone/>
            </a:pPr>
            <a:r>
              <a:rPr lang="en-US" sz="1800" b="1" dirty="0">
                <a:solidFill>
                  <a:srgbClr val="27AE60"/>
                </a:solidFill>
              </a:rPr>
              <a:t>✓</a:t>
            </a:r>
            <a:endParaRPr lang="en-US" sz="1800" dirty="0"/>
          </a:p>
        </p:txBody>
      </p:sp>
      <p:sp>
        <p:nvSpPr>
          <p:cNvPr id="26" name="Text 24"/>
          <p:cNvSpPr/>
          <p:nvPr/>
        </p:nvSpPr>
        <p:spPr>
          <a:xfrm>
            <a:off x="960120" y="4032504"/>
            <a:ext cx="3383280" cy="274320"/>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Ablation Study</a:t>
            </a:r>
            <a:endParaRPr lang="en-US" sz="1200" dirty="0"/>
          </a:p>
        </p:txBody>
      </p:sp>
      <p:sp>
        <p:nvSpPr>
          <p:cNvPr id="27" name="Text 25"/>
          <p:cNvSpPr/>
          <p:nvPr/>
        </p:nvSpPr>
        <p:spPr>
          <a:xfrm>
            <a:off x="960120" y="4343400"/>
            <a:ext cx="3429000" cy="50292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Removing components systematically verifies each module's genuine contribution to performance.</a:t>
            </a:r>
            <a:endParaRPr lang="en-US" sz="1100" dirty="0"/>
          </a:p>
        </p:txBody>
      </p:sp>
      <p:sp>
        <p:nvSpPr>
          <p:cNvPr id="28" name="Shape 26"/>
          <p:cNvSpPr/>
          <p:nvPr/>
        </p:nvSpPr>
        <p:spPr>
          <a:xfrm>
            <a:off x="4754880" y="3977640"/>
            <a:ext cx="4114800" cy="914400"/>
          </a:xfrm>
          <a:prstGeom prst="rect">
            <a:avLst/>
          </a:prstGeom>
          <a:solidFill>
            <a:srgbClr val="F0F4F8"/>
          </a:solidFill>
          <a:ln w="6350">
            <a:solidFill>
              <a:srgbClr val="CBD5E0"/>
            </a:solidFill>
            <a:prstDash val="solid"/>
          </a:ln>
        </p:spPr>
        <p:txBody>
          <a:bodyPr/>
          <a:lstStyle/>
          <a:p>
            <a:endParaRPr lang="en-ZA"/>
          </a:p>
        </p:txBody>
      </p:sp>
      <p:sp>
        <p:nvSpPr>
          <p:cNvPr id="29" name="Text 27"/>
          <p:cNvSpPr/>
          <p:nvPr/>
        </p:nvSpPr>
        <p:spPr>
          <a:xfrm>
            <a:off x="4754880" y="3977640"/>
            <a:ext cx="502920" cy="914400"/>
          </a:xfrm>
          <a:prstGeom prst="rect">
            <a:avLst/>
          </a:prstGeom>
          <a:noFill/>
          <a:ln/>
        </p:spPr>
        <p:txBody>
          <a:bodyPr wrap="square" lIns="0" tIns="0" rIns="0" bIns="0" rtlCol="0" anchor="ctr"/>
          <a:lstStyle/>
          <a:p>
            <a:pPr marL="0" indent="0" algn="ctr">
              <a:buNone/>
            </a:pPr>
            <a:r>
              <a:rPr lang="en-US" sz="1800" b="1" dirty="0">
                <a:solidFill>
                  <a:srgbClr val="27AE60"/>
                </a:solidFill>
              </a:rPr>
              <a:t>✓</a:t>
            </a:r>
            <a:endParaRPr lang="en-US" sz="1800" dirty="0"/>
          </a:p>
        </p:txBody>
      </p:sp>
      <p:sp>
        <p:nvSpPr>
          <p:cNvPr id="30" name="Text 28"/>
          <p:cNvSpPr/>
          <p:nvPr/>
        </p:nvSpPr>
        <p:spPr>
          <a:xfrm>
            <a:off x="5349240" y="4032504"/>
            <a:ext cx="3383280" cy="274320"/>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Consistent Architecture</a:t>
            </a:r>
            <a:endParaRPr lang="en-US" sz="1200" dirty="0"/>
          </a:p>
        </p:txBody>
      </p:sp>
      <p:sp>
        <p:nvSpPr>
          <p:cNvPr id="31" name="Text 29"/>
          <p:cNvSpPr/>
          <p:nvPr/>
        </p:nvSpPr>
        <p:spPr>
          <a:xfrm>
            <a:off x="5349240" y="4343400"/>
            <a:ext cx="3429000" cy="50292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Same random seeds and training conditions across all experiments for fair comparison.</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7 — CONCLUSION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Key Findings</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31 / 35</a:t>
            </a:r>
            <a:endParaRPr lang="en-US" sz="900" dirty="0"/>
          </a:p>
        </p:txBody>
      </p:sp>
      <p:sp>
        <p:nvSpPr>
          <p:cNvPr id="7" name="Shape 5"/>
          <p:cNvSpPr/>
          <p:nvPr/>
        </p:nvSpPr>
        <p:spPr>
          <a:xfrm>
            <a:off x="365760" y="1463040"/>
            <a:ext cx="8412480" cy="749808"/>
          </a:xfrm>
          <a:prstGeom prst="rect">
            <a:avLst/>
          </a:prstGeom>
          <a:solidFill>
            <a:srgbClr val="0D2233"/>
          </a:solidFill>
          <a:ln w="6350">
            <a:solidFill>
              <a:srgbClr val="1B7A8C"/>
            </a:solidFill>
            <a:prstDash val="solid"/>
          </a:ln>
        </p:spPr>
        <p:txBody>
          <a:bodyPr/>
          <a:lstStyle/>
          <a:p>
            <a:endParaRPr lang="en-ZA"/>
          </a:p>
        </p:txBody>
      </p:sp>
      <p:sp>
        <p:nvSpPr>
          <p:cNvPr id="8" name="Text 6"/>
          <p:cNvSpPr/>
          <p:nvPr/>
        </p:nvSpPr>
        <p:spPr>
          <a:xfrm>
            <a:off x="365760" y="1463040"/>
            <a:ext cx="822960" cy="749808"/>
          </a:xfrm>
          <a:prstGeom prst="rect">
            <a:avLst/>
          </a:prstGeom>
          <a:noFill/>
          <a:ln/>
        </p:spPr>
        <p:txBody>
          <a:bodyPr wrap="square" lIns="0" tIns="0" rIns="0" bIns="0" rtlCol="0" anchor="ctr"/>
          <a:lstStyle/>
          <a:p>
            <a:pPr marL="0" indent="0" algn="ctr">
              <a:buNone/>
            </a:pPr>
            <a:r>
              <a:rPr lang="en-US" sz="2200" b="1" dirty="0">
                <a:solidFill>
                  <a:srgbClr val="F6B93B"/>
                </a:solidFill>
                <a:latin typeface="Cambria" pitchFamily="34" charset="0"/>
                <a:ea typeface="Cambria" pitchFamily="34" charset="-122"/>
                <a:cs typeface="Cambria" pitchFamily="34" charset="-120"/>
              </a:rPr>
              <a:t>01</a:t>
            </a:r>
            <a:endParaRPr lang="en-US" sz="2200" dirty="0"/>
          </a:p>
        </p:txBody>
      </p:sp>
      <p:sp>
        <p:nvSpPr>
          <p:cNvPr id="9" name="Text 7"/>
          <p:cNvSpPr/>
          <p:nvPr/>
        </p:nvSpPr>
        <p:spPr>
          <a:xfrm>
            <a:off x="1325880" y="1554480"/>
            <a:ext cx="7223760" cy="594360"/>
          </a:xfrm>
          <a:prstGeom prst="rect">
            <a:avLst/>
          </a:prstGeom>
          <a:noFill/>
          <a:ln/>
        </p:spPr>
        <p:txBody>
          <a:bodyPr wrap="square" lIns="0" tIns="0" rIns="0" bIns="0" rtlCol="0" anchor="ctr"/>
          <a:lstStyle/>
          <a:p>
            <a:pPr marL="0" indent="0">
              <a:buNone/>
            </a:pPr>
            <a:r>
              <a:rPr lang="en-GB" sz="1300" dirty="0">
                <a:solidFill>
                  <a:srgbClr val="FFFFFF"/>
                </a:solidFill>
                <a:latin typeface="Calibri" pitchFamily="34" charset="0"/>
                <a:ea typeface="Calibri" pitchFamily="34" charset="-122"/>
                <a:cs typeface="Calibri" pitchFamily="34" charset="-120"/>
              </a:rPr>
              <a:t>Transfer learning from ImageNet to KITTI proved highly effective, with the pre-trained ResNet-50 providing strong visual priors that significantly reduced training cost.</a:t>
            </a:r>
          </a:p>
        </p:txBody>
      </p:sp>
      <p:sp>
        <p:nvSpPr>
          <p:cNvPr id="10" name="Shape 8"/>
          <p:cNvSpPr/>
          <p:nvPr/>
        </p:nvSpPr>
        <p:spPr>
          <a:xfrm>
            <a:off x="365760" y="2331720"/>
            <a:ext cx="8412480" cy="749808"/>
          </a:xfrm>
          <a:prstGeom prst="rect">
            <a:avLst/>
          </a:prstGeom>
          <a:solidFill>
            <a:srgbClr val="0D2233"/>
          </a:solidFill>
          <a:ln w="6350">
            <a:solidFill>
              <a:srgbClr val="1B7A8C"/>
            </a:solidFill>
            <a:prstDash val="solid"/>
          </a:ln>
        </p:spPr>
        <p:txBody>
          <a:bodyPr/>
          <a:lstStyle/>
          <a:p>
            <a:endParaRPr lang="en-ZA"/>
          </a:p>
        </p:txBody>
      </p:sp>
      <p:sp>
        <p:nvSpPr>
          <p:cNvPr id="11" name="Text 9"/>
          <p:cNvSpPr/>
          <p:nvPr/>
        </p:nvSpPr>
        <p:spPr>
          <a:xfrm>
            <a:off x="365760" y="2331720"/>
            <a:ext cx="822960" cy="749808"/>
          </a:xfrm>
          <a:prstGeom prst="rect">
            <a:avLst/>
          </a:prstGeom>
          <a:noFill/>
          <a:ln/>
        </p:spPr>
        <p:txBody>
          <a:bodyPr wrap="square" lIns="0" tIns="0" rIns="0" bIns="0" rtlCol="0" anchor="ctr"/>
          <a:lstStyle/>
          <a:p>
            <a:pPr marL="0" indent="0" algn="ctr">
              <a:buNone/>
            </a:pPr>
            <a:r>
              <a:rPr lang="en-US" sz="2200" b="1" dirty="0">
                <a:solidFill>
                  <a:srgbClr val="F6B93B"/>
                </a:solidFill>
                <a:latin typeface="Cambria" pitchFamily="34" charset="0"/>
                <a:ea typeface="Cambria" pitchFamily="34" charset="-122"/>
                <a:cs typeface="Cambria" pitchFamily="34" charset="-120"/>
              </a:rPr>
              <a:t>02</a:t>
            </a:r>
            <a:endParaRPr lang="en-US" sz="2200" dirty="0"/>
          </a:p>
        </p:txBody>
      </p:sp>
      <p:sp>
        <p:nvSpPr>
          <p:cNvPr id="12" name="Text 10"/>
          <p:cNvSpPr/>
          <p:nvPr/>
        </p:nvSpPr>
        <p:spPr>
          <a:xfrm>
            <a:off x="1325880" y="2423160"/>
            <a:ext cx="7223760" cy="594360"/>
          </a:xfrm>
          <a:prstGeom prst="rect">
            <a:avLst/>
          </a:prstGeom>
          <a:noFill/>
          <a:ln/>
        </p:spPr>
        <p:txBody>
          <a:bodyPr wrap="square" lIns="0" tIns="0" rIns="0" bIns="0" rtlCol="0" anchor="ctr"/>
          <a:lstStyle/>
          <a:p>
            <a:pPr marL="0" indent="0">
              <a:buNone/>
            </a:pPr>
            <a:r>
              <a:rPr lang="en-GB" sz="1300" dirty="0">
                <a:solidFill>
                  <a:srgbClr val="FFFFFF"/>
                </a:solidFill>
                <a:latin typeface="Calibri" pitchFamily="34" charset="0"/>
                <a:ea typeface="Calibri" pitchFamily="34" charset="-122"/>
                <a:cs typeface="Calibri" pitchFamily="34" charset="-120"/>
              </a:rPr>
              <a:t>Temporal modelling was the most impactful component, with the Bi-LSTM improving accuracy by 6.4% over the static baseline.</a:t>
            </a:r>
          </a:p>
        </p:txBody>
      </p:sp>
      <p:sp>
        <p:nvSpPr>
          <p:cNvPr id="13" name="Shape 11"/>
          <p:cNvSpPr/>
          <p:nvPr/>
        </p:nvSpPr>
        <p:spPr>
          <a:xfrm>
            <a:off x="365760" y="3200400"/>
            <a:ext cx="8412480" cy="749808"/>
          </a:xfrm>
          <a:prstGeom prst="rect">
            <a:avLst/>
          </a:prstGeom>
          <a:solidFill>
            <a:srgbClr val="0D2233"/>
          </a:solidFill>
          <a:ln w="6350">
            <a:solidFill>
              <a:srgbClr val="1B7A8C"/>
            </a:solidFill>
            <a:prstDash val="solid"/>
          </a:ln>
        </p:spPr>
        <p:txBody>
          <a:bodyPr/>
          <a:lstStyle/>
          <a:p>
            <a:endParaRPr lang="en-ZA"/>
          </a:p>
        </p:txBody>
      </p:sp>
      <p:sp>
        <p:nvSpPr>
          <p:cNvPr id="14" name="Text 12"/>
          <p:cNvSpPr/>
          <p:nvPr/>
        </p:nvSpPr>
        <p:spPr>
          <a:xfrm>
            <a:off x="365760" y="3200400"/>
            <a:ext cx="822960" cy="749808"/>
          </a:xfrm>
          <a:prstGeom prst="rect">
            <a:avLst/>
          </a:prstGeom>
          <a:noFill/>
          <a:ln/>
        </p:spPr>
        <p:txBody>
          <a:bodyPr wrap="square" lIns="0" tIns="0" rIns="0" bIns="0" rtlCol="0" anchor="ctr"/>
          <a:lstStyle/>
          <a:p>
            <a:pPr marL="0" indent="0" algn="ctr">
              <a:buNone/>
            </a:pPr>
            <a:r>
              <a:rPr lang="en-US" sz="2200" b="1" dirty="0">
                <a:solidFill>
                  <a:srgbClr val="F6B93B"/>
                </a:solidFill>
                <a:latin typeface="Cambria" pitchFamily="34" charset="0"/>
                <a:ea typeface="Cambria" pitchFamily="34" charset="-122"/>
                <a:cs typeface="Cambria" pitchFamily="34" charset="-120"/>
              </a:rPr>
              <a:t>03</a:t>
            </a:r>
            <a:endParaRPr lang="en-US" sz="2200" dirty="0"/>
          </a:p>
        </p:txBody>
      </p:sp>
      <p:sp>
        <p:nvSpPr>
          <p:cNvPr id="15" name="Text 13"/>
          <p:cNvSpPr/>
          <p:nvPr/>
        </p:nvSpPr>
        <p:spPr>
          <a:xfrm>
            <a:off x="1325880" y="3291840"/>
            <a:ext cx="7223760" cy="5943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Partial fine-tuning (E2) outperforms both freezing and deeper unfreezing, achieving 91.7% accuracy and 87.4% mAP.</a:t>
            </a:r>
            <a:endParaRPr lang="en-US" sz="1300" dirty="0"/>
          </a:p>
        </p:txBody>
      </p:sp>
      <p:sp>
        <p:nvSpPr>
          <p:cNvPr id="16" name="Shape 14"/>
          <p:cNvSpPr/>
          <p:nvPr/>
        </p:nvSpPr>
        <p:spPr>
          <a:xfrm>
            <a:off x="365760" y="4069080"/>
            <a:ext cx="8412480" cy="749808"/>
          </a:xfrm>
          <a:prstGeom prst="rect">
            <a:avLst/>
          </a:prstGeom>
          <a:solidFill>
            <a:srgbClr val="0D2233"/>
          </a:solidFill>
          <a:ln w="6350">
            <a:solidFill>
              <a:srgbClr val="1B7A8C"/>
            </a:solidFill>
            <a:prstDash val="solid"/>
          </a:ln>
        </p:spPr>
        <p:txBody>
          <a:bodyPr/>
          <a:lstStyle/>
          <a:p>
            <a:endParaRPr lang="en-ZA"/>
          </a:p>
        </p:txBody>
      </p:sp>
      <p:sp>
        <p:nvSpPr>
          <p:cNvPr id="17" name="Text 15"/>
          <p:cNvSpPr/>
          <p:nvPr/>
        </p:nvSpPr>
        <p:spPr>
          <a:xfrm>
            <a:off x="365760" y="4069080"/>
            <a:ext cx="822960" cy="749808"/>
          </a:xfrm>
          <a:prstGeom prst="rect">
            <a:avLst/>
          </a:prstGeom>
          <a:noFill/>
          <a:ln/>
        </p:spPr>
        <p:txBody>
          <a:bodyPr wrap="square" lIns="0" tIns="0" rIns="0" bIns="0" rtlCol="0" anchor="ctr"/>
          <a:lstStyle/>
          <a:p>
            <a:pPr marL="0" indent="0" algn="ctr">
              <a:buNone/>
            </a:pPr>
            <a:r>
              <a:rPr lang="en-US" sz="2200" b="1" dirty="0">
                <a:solidFill>
                  <a:srgbClr val="F6B93B"/>
                </a:solidFill>
                <a:latin typeface="Cambria" pitchFamily="34" charset="0"/>
                <a:ea typeface="Cambria" pitchFamily="34" charset="-122"/>
                <a:cs typeface="Cambria" pitchFamily="34" charset="-120"/>
              </a:rPr>
              <a:t>04</a:t>
            </a:r>
            <a:endParaRPr lang="en-US" sz="2200" dirty="0"/>
          </a:p>
        </p:txBody>
      </p:sp>
      <p:sp>
        <p:nvSpPr>
          <p:cNvPr id="18" name="Text 16"/>
          <p:cNvSpPr/>
          <p:nvPr/>
        </p:nvSpPr>
        <p:spPr>
          <a:xfrm>
            <a:off x="1325880" y="4160520"/>
            <a:ext cx="7223760" cy="5943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Multi-modal fusion of LiDAR and camera features consistently outperforms either modality alone.</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7 — CONCLUSION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Future Work</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32 / 35</a:t>
            </a:r>
            <a:endParaRPr lang="en-US" sz="900" dirty="0"/>
          </a:p>
        </p:txBody>
      </p:sp>
      <p:sp>
        <p:nvSpPr>
          <p:cNvPr id="7" name="Shape 5"/>
          <p:cNvSpPr/>
          <p:nvPr/>
        </p:nvSpPr>
        <p:spPr>
          <a:xfrm>
            <a:off x="365760" y="1417320"/>
            <a:ext cx="4114800" cy="160020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8" name="Shape 6"/>
          <p:cNvSpPr/>
          <p:nvPr/>
        </p:nvSpPr>
        <p:spPr>
          <a:xfrm>
            <a:off x="365760" y="1417320"/>
            <a:ext cx="64008" cy="1600200"/>
          </a:xfrm>
          <a:prstGeom prst="rect">
            <a:avLst/>
          </a:prstGeom>
          <a:solidFill>
            <a:srgbClr val="1B7A8C"/>
          </a:solidFill>
          <a:ln w="12700">
            <a:solidFill>
              <a:srgbClr val="1B7A8C"/>
            </a:solidFill>
            <a:prstDash val="solid"/>
          </a:ln>
        </p:spPr>
        <p:txBody>
          <a:bodyPr/>
          <a:lstStyle/>
          <a:p>
            <a:endParaRPr lang="en-ZA"/>
          </a:p>
        </p:txBody>
      </p:sp>
      <p:sp>
        <p:nvSpPr>
          <p:cNvPr id="9" name="Text 7"/>
          <p:cNvSpPr/>
          <p:nvPr/>
        </p:nvSpPr>
        <p:spPr>
          <a:xfrm>
            <a:off x="530352" y="1490472"/>
            <a:ext cx="3858768" cy="426720"/>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Larger &amp; More Diverse Data</a:t>
            </a:r>
            <a:endParaRPr lang="en-US" sz="1200" dirty="0"/>
          </a:p>
        </p:txBody>
      </p:sp>
      <p:sp>
        <p:nvSpPr>
          <p:cNvPr id="10" name="Text 8"/>
          <p:cNvSpPr/>
          <p:nvPr/>
        </p:nvSpPr>
        <p:spPr>
          <a:xfrm>
            <a:off x="530352" y="1783080"/>
            <a:ext cx="3858768" cy="933450"/>
          </a:xfrm>
          <a:prstGeom prst="rect">
            <a:avLst/>
          </a:prstGeom>
          <a:noFill/>
          <a:ln/>
        </p:spPr>
        <p:txBody>
          <a:bodyPr wrap="square" lIns="0" tIns="0" rIns="0" bIns="0" rtlCol="0" anchor="ctr"/>
          <a:lstStyle/>
          <a:p>
            <a:pPr marL="0" indent="0">
              <a:buNone/>
            </a:pPr>
            <a:r>
              <a:rPr lang="en-GB" sz="1200" dirty="0">
                <a:solidFill>
                  <a:srgbClr val="4A5568"/>
                </a:solidFill>
                <a:latin typeface="Calibri" pitchFamily="34" charset="0"/>
                <a:ea typeface="Calibri" pitchFamily="34" charset="-122"/>
                <a:cs typeface="Calibri" pitchFamily="34" charset="-120"/>
              </a:rPr>
              <a:t>Training on the full KITTI benchmark or the </a:t>
            </a:r>
            <a:r>
              <a:rPr lang="en-GB" sz="1200" dirty="0" err="1">
                <a:solidFill>
                  <a:srgbClr val="4A5568"/>
                </a:solidFill>
                <a:latin typeface="Calibri" pitchFamily="34" charset="0"/>
                <a:ea typeface="Calibri" pitchFamily="34" charset="-122"/>
                <a:cs typeface="Calibri" pitchFamily="34" charset="-120"/>
              </a:rPr>
              <a:t>nuScenes</a:t>
            </a:r>
            <a:r>
              <a:rPr lang="en-GB" sz="1200" dirty="0">
                <a:solidFill>
                  <a:srgbClr val="4A5568"/>
                </a:solidFill>
                <a:latin typeface="Calibri" pitchFamily="34" charset="0"/>
                <a:ea typeface="Calibri" pitchFamily="34" charset="-122"/>
                <a:cs typeface="Calibri" pitchFamily="34" charset="-120"/>
              </a:rPr>
              <a:t> dataset could further improve robustness across diverse weather and lighting conditions.</a:t>
            </a:r>
          </a:p>
        </p:txBody>
      </p:sp>
      <p:sp>
        <p:nvSpPr>
          <p:cNvPr id="15" name="Shape 13"/>
          <p:cNvSpPr/>
          <p:nvPr/>
        </p:nvSpPr>
        <p:spPr>
          <a:xfrm>
            <a:off x="365760" y="3206932"/>
            <a:ext cx="4114800" cy="160020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16" name="Shape 14"/>
          <p:cNvSpPr/>
          <p:nvPr/>
        </p:nvSpPr>
        <p:spPr>
          <a:xfrm>
            <a:off x="365760" y="3206932"/>
            <a:ext cx="64008" cy="1600200"/>
          </a:xfrm>
          <a:prstGeom prst="rect">
            <a:avLst/>
          </a:prstGeom>
          <a:solidFill>
            <a:srgbClr val="1B7A8C"/>
          </a:solidFill>
          <a:ln w="12700">
            <a:solidFill>
              <a:srgbClr val="1B7A8C"/>
            </a:solidFill>
            <a:prstDash val="solid"/>
          </a:ln>
        </p:spPr>
        <p:txBody>
          <a:bodyPr/>
          <a:lstStyle/>
          <a:p>
            <a:endParaRPr lang="en-ZA"/>
          </a:p>
        </p:txBody>
      </p:sp>
      <p:sp>
        <p:nvSpPr>
          <p:cNvPr id="17" name="Text 15"/>
          <p:cNvSpPr/>
          <p:nvPr/>
        </p:nvSpPr>
        <p:spPr>
          <a:xfrm>
            <a:off x="530352" y="3280084"/>
            <a:ext cx="3858768" cy="426720"/>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3D Object Detection</a:t>
            </a:r>
            <a:endParaRPr lang="en-US" sz="1200" dirty="0"/>
          </a:p>
        </p:txBody>
      </p:sp>
      <p:sp>
        <p:nvSpPr>
          <p:cNvPr id="18" name="Text 16"/>
          <p:cNvSpPr/>
          <p:nvPr/>
        </p:nvSpPr>
        <p:spPr>
          <a:xfrm>
            <a:off x="530352" y="3572692"/>
            <a:ext cx="3858768" cy="933450"/>
          </a:xfrm>
          <a:prstGeom prst="rect">
            <a:avLst/>
          </a:prstGeom>
          <a:noFill/>
          <a:ln/>
        </p:spPr>
        <p:txBody>
          <a:bodyPr wrap="square" lIns="0" tIns="0" rIns="0" bIns="0" rtlCol="0" anchor="ctr"/>
          <a:lstStyle/>
          <a:p>
            <a:pPr marL="0" indent="0">
              <a:buNone/>
            </a:pPr>
            <a:r>
              <a:rPr lang="en-GB" sz="1200" dirty="0">
                <a:solidFill>
                  <a:srgbClr val="4A5568"/>
                </a:solidFill>
                <a:latin typeface="Calibri" pitchFamily="34" charset="0"/>
                <a:ea typeface="Calibri" pitchFamily="34" charset="-122"/>
                <a:cs typeface="Calibri" pitchFamily="34" charset="-120"/>
              </a:rPr>
              <a:t>Extend the pipeline to full 3D bounding box prediction by incorporating LiDAR point clouds with architectures such as </a:t>
            </a:r>
            <a:r>
              <a:rPr lang="en-GB" sz="1200" dirty="0" err="1">
                <a:solidFill>
                  <a:srgbClr val="4A5568"/>
                </a:solidFill>
                <a:latin typeface="Calibri" pitchFamily="34" charset="0"/>
                <a:ea typeface="Calibri" pitchFamily="34" charset="-122"/>
                <a:cs typeface="Calibri" pitchFamily="34" charset="-120"/>
              </a:rPr>
              <a:t>PointNet</a:t>
            </a:r>
            <a:r>
              <a:rPr lang="en-GB" sz="1200" dirty="0">
                <a:solidFill>
                  <a:srgbClr val="4A5568"/>
                </a:solidFill>
                <a:latin typeface="Calibri" pitchFamily="34" charset="0"/>
                <a:ea typeface="Calibri" pitchFamily="34" charset="-122"/>
                <a:cs typeface="Calibri" pitchFamily="34" charset="-120"/>
              </a:rPr>
              <a:t> or </a:t>
            </a:r>
            <a:r>
              <a:rPr lang="en-GB" sz="1200" dirty="0" err="1">
                <a:solidFill>
                  <a:srgbClr val="4A5568"/>
                </a:solidFill>
                <a:latin typeface="Calibri" pitchFamily="34" charset="0"/>
                <a:ea typeface="Calibri" pitchFamily="34" charset="-122"/>
                <a:cs typeface="Calibri" pitchFamily="34" charset="-120"/>
              </a:rPr>
              <a:t>VoxelNet</a:t>
            </a:r>
            <a:r>
              <a:rPr lang="en-GB" sz="1200" dirty="0">
                <a:solidFill>
                  <a:srgbClr val="4A5568"/>
                </a:solidFill>
                <a:latin typeface="Calibri" pitchFamily="34" charset="0"/>
                <a:ea typeface="Calibri" pitchFamily="34" charset="-122"/>
                <a:cs typeface="Calibri" pitchFamily="34" charset="-120"/>
              </a:rPr>
              <a:t>.</a:t>
            </a:r>
          </a:p>
        </p:txBody>
      </p:sp>
      <p:sp>
        <p:nvSpPr>
          <p:cNvPr id="19" name="Shape 17"/>
          <p:cNvSpPr/>
          <p:nvPr/>
        </p:nvSpPr>
        <p:spPr>
          <a:xfrm>
            <a:off x="4754880" y="1417319"/>
            <a:ext cx="4114800" cy="1600199"/>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0" name="Shape 18"/>
          <p:cNvSpPr/>
          <p:nvPr/>
        </p:nvSpPr>
        <p:spPr>
          <a:xfrm>
            <a:off x="4754880" y="1417319"/>
            <a:ext cx="64008" cy="1600199"/>
          </a:xfrm>
          <a:prstGeom prst="rect">
            <a:avLst/>
          </a:prstGeom>
          <a:solidFill>
            <a:srgbClr val="1B7A8C"/>
          </a:solidFill>
          <a:ln w="12700">
            <a:solidFill>
              <a:srgbClr val="1B7A8C"/>
            </a:solidFill>
            <a:prstDash val="solid"/>
          </a:ln>
        </p:spPr>
        <p:txBody>
          <a:bodyPr/>
          <a:lstStyle/>
          <a:p>
            <a:endParaRPr lang="en-ZA"/>
          </a:p>
        </p:txBody>
      </p:sp>
      <p:sp>
        <p:nvSpPr>
          <p:cNvPr id="21" name="Text 19"/>
          <p:cNvSpPr/>
          <p:nvPr/>
        </p:nvSpPr>
        <p:spPr>
          <a:xfrm>
            <a:off x="4919472" y="1490472"/>
            <a:ext cx="3858768" cy="426720"/>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Transformer Architectures</a:t>
            </a:r>
            <a:endParaRPr lang="en-US" sz="1200" dirty="0"/>
          </a:p>
        </p:txBody>
      </p:sp>
      <p:sp>
        <p:nvSpPr>
          <p:cNvPr id="22" name="Text 20"/>
          <p:cNvSpPr/>
          <p:nvPr/>
        </p:nvSpPr>
        <p:spPr>
          <a:xfrm>
            <a:off x="4919472" y="1783079"/>
            <a:ext cx="3858768" cy="933449"/>
          </a:xfrm>
          <a:prstGeom prst="rect">
            <a:avLst/>
          </a:prstGeom>
          <a:noFill/>
          <a:ln/>
        </p:spPr>
        <p:txBody>
          <a:bodyPr wrap="square" lIns="0" tIns="0" rIns="0" bIns="0" rtlCol="0" anchor="ctr"/>
          <a:lstStyle/>
          <a:p>
            <a:pPr marL="0" indent="0">
              <a:buNone/>
            </a:pPr>
            <a:r>
              <a:rPr lang="en-GB" sz="1200" dirty="0">
                <a:solidFill>
                  <a:srgbClr val="4A5568"/>
                </a:solidFill>
                <a:latin typeface="Calibri" pitchFamily="34" charset="0"/>
                <a:ea typeface="Calibri" pitchFamily="34" charset="-122"/>
                <a:cs typeface="Calibri" pitchFamily="34" charset="-120"/>
              </a:rPr>
              <a:t>Replace the LSTM with a Temporal Transformer to better capture long-range temporal dependencies within sequences.</a:t>
            </a:r>
            <a:endParaRPr lang="en-US" sz="1200" dirty="0"/>
          </a:p>
        </p:txBody>
      </p:sp>
      <p:sp>
        <p:nvSpPr>
          <p:cNvPr id="27" name="Shape 25"/>
          <p:cNvSpPr/>
          <p:nvPr/>
        </p:nvSpPr>
        <p:spPr>
          <a:xfrm>
            <a:off x="4754880" y="3206932"/>
            <a:ext cx="4114800" cy="1600200"/>
          </a:xfrm>
          <a:prstGeom prst="rect">
            <a:avLst/>
          </a:prstGeom>
          <a:solidFill>
            <a:srgbClr val="FFFFFF"/>
          </a:solidFill>
          <a:ln w="6350">
            <a:solidFill>
              <a:srgbClr val="CBD5E0"/>
            </a:solidFill>
            <a:prstDash val="solid"/>
          </a:ln>
          <a:effectLst>
            <a:outerShdw blurRad="101600" dist="38100" dir="8100000" algn="bl" rotWithShape="0">
              <a:srgbClr val="000000">
                <a:alpha val="18000"/>
              </a:srgbClr>
            </a:outerShdw>
          </a:effectLst>
        </p:spPr>
        <p:txBody>
          <a:bodyPr/>
          <a:lstStyle/>
          <a:p>
            <a:endParaRPr lang="en-ZA"/>
          </a:p>
        </p:txBody>
      </p:sp>
      <p:sp>
        <p:nvSpPr>
          <p:cNvPr id="28" name="Shape 26"/>
          <p:cNvSpPr/>
          <p:nvPr/>
        </p:nvSpPr>
        <p:spPr>
          <a:xfrm>
            <a:off x="4754880" y="3206932"/>
            <a:ext cx="64008" cy="1600200"/>
          </a:xfrm>
          <a:prstGeom prst="rect">
            <a:avLst/>
          </a:prstGeom>
          <a:solidFill>
            <a:srgbClr val="1B7A8C"/>
          </a:solidFill>
          <a:ln w="12700">
            <a:solidFill>
              <a:srgbClr val="1B7A8C"/>
            </a:solidFill>
            <a:prstDash val="solid"/>
          </a:ln>
        </p:spPr>
        <p:txBody>
          <a:bodyPr/>
          <a:lstStyle/>
          <a:p>
            <a:endParaRPr lang="en-ZA"/>
          </a:p>
        </p:txBody>
      </p:sp>
      <p:sp>
        <p:nvSpPr>
          <p:cNvPr id="29" name="Text 27"/>
          <p:cNvSpPr/>
          <p:nvPr/>
        </p:nvSpPr>
        <p:spPr>
          <a:xfrm>
            <a:off x="4919472" y="3280084"/>
            <a:ext cx="3858768" cy="426720"/>
          </a:xfrm>
          <a:prstGeom prst="rect">
            <a:avLst/>
          </a:prstGeom>
          <a:noFill/>
          <a:ln/>
        </p:spPr>
        <p:txBody>
          <a:bodyPr wrap="square" lIns="0" tIns="0" rIns="0" bIns="0" rtlCol="0" anchor="ctr"/>
          <a:lstStyle/>
          <a:p>
            <a:pPr marL="0" indent="0">
              <a:buNone/>
            </a:pPr>
            <a:r>
              <a:rPr lang="en-US" sz="1200" b="1" dirty="0">
                <a:solidFill>
                  <a:srgbClr val="1B7A8C"/>
                </a:solidFill>
                <a:latin typeface="Cambria" pitchFamily="34" charset="0"/>
                <a:ea typeface="Cambria" pitchFamily="34" charset="-122"/>
                <a:cs typeface="Cambria" pitchFamily="34" charset="-120"/>
              </a:rPr>
              <a:t>Online Learning</a:t>
            </a:r>
            <a:endParaRPr lang="en-US" sz="1200" dirty="0"/>
          </a:p>
        </p:txBody>
      </p:sp>
      <p:sp>
        <p:nvSpPr>
          <p:cNvPr id="30" name="Text 28"/>
          <p:cNvSpPr/>
          <p:nvPr/>
        </p:nvSpPr>
        <p:spPr>
          <a:xfrm>
            <a:off x="4919472" y="3572692"/>
            <a:ext cx="3858768" cy="933450"/>
          </a:xfrm>
          <a:prstGeom prst="rect">
            <a:avLst/>
          </a:prstGeom>
          <a:noFill/>
          <a:ln/>
        </p:spPr>
        <p:txBody>
          <a:bodyPr wrap="square" lIns="0" tIns="0" rIns="0" bIns="0" rtlCol="0" anchor="ctr"/>
          <a:lstStyle/>
          <a:p>
            <a:pPr marL="0" indent="0">
              <a:buNone/>
            </a:pPr>
            <a:r>
              <a:rPr lang="en-GB" sz="1200" dirty="0">
                <a:solidFill>
                  <a:srgbClr val="4A5568"/>
                </a:solidFill>
                <a:latin typeface="Calibri" pitchFamily="34" charset="0"/>
                <a:ea typeface="Calibri" pitchFamily="34" charset="-122"/>
                <a:cs typeface="Calibri" pitchFamily="34" charset="-120"/>
              </a:rPr>
              <a:t>Continuously adapt the model to new driving data while preserving previously learned knowledge through continual learning.</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7 — CONCLUSION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Final Conclusion</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33 / 35</a:t>
            </a:r>
            <a:endParaRPr lang="en-US" sz="900" dirty="0"/>
          </a:p>
        </p:txBody>
      </p:sp>
      <p:sp>
        <p:nvSpPr>
          <p:cNvPr id="7" name="Shape 5"/>
          <p:cNvSpPr/>
          <p:nvPr/>
        </p:nvSpPr>
        <p:spPr>
          <a:xfrm>
            <a:off x="457200" y="1463040"/>
            <a:ext cx="8229600" cy="3017520"/>
          </a:xfrm>
          <a:prstGeom prst="rect">
            <a:avLst/>
          </a:prstGeom>
          <a:solidFill>
            <a:srgbClr val="0D2233"/>
          </a:solidFill>
          <a:ln w="12700">
            <a:solidFill>
              <a:srgbClr val="1B7A8C"/>
            </a:solidFill>
            <a:prstDash val="solid"/>
          </a:ln>
        </p:spPr>
        <p:txBody>
          <a:bodyPr/>
          <a:lstStyle/>
          <a:p>
            <a:endParaRPr lang="en-ZA"/>
          </a:p>
        </p:txBody>
      </p:sp>
      <p:sp>
        <p:nvSpPr>
          <p:cNvPr id="8" name="Text 6"/>
          <p:cNvSpPr/>
          <p:nvPr/>
        </p:nvSpPr>
        <p:spPr>
          <a:xfrm>
            <a:off x="640080" y="1600200"/>
            <a:ext cx="7863840" cy="2651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This project demonstrates that combining transfer learning, multi-modal feature fusion, and temporal sequence modelling produces a powerful and accurate autonomous driving perception system.</a:t>
            </a:r>
            <a:endParaRPr lang="en-US" sz="1500" dirty="0"/>
          </a:p>
          <a:p>
            <a:pPr marL="0" indent="0">
              <a:buNone/>
            </a:pPr>
            <a:endParaRPr lang="en-US" sz="1500" dirty="0"/>
          </a:p>
          <a:p>
            <a:pPr marL="0" indent="0">
              <a:buNone/>
            </a:pPr>
            <a:r>
              <a:rPr lang="en-US" sz="1500" dirty="0">
                <a:solidFill>
                  <a:srgbClr val="FFFFFF"/>
                </a:solidFill>
                <a:latin typeface="Calibri" pitchFamily="34" charset="0"/>
                <a:ea typeface="Calibri" pitchFamily="34" charset="-122"/>
                <a:cs typeface="Calibri" pitchFamily="34" charset="-120"/>
              </a:rPr>
              <a:t>The Temporal FPN + Bidirectional LSTM architecture, using partial fine-tuning of ResNet-50, achieved 91.7% classification accuracy and 87.4% mAP on the KITTI benchmark and validated through rigorous held-out testing and ablation analysis.</a:t>
            </a:r>
            <a:endParaRPr lang="en-US" sz="1500" dirty="0"/>
          </a:p>
          <a:p>
            <a:pPr marL="0" indent="0">
              <a:buNone/>
            </a:pPr>
            <a:endParaRPr lang="en-US" sz="1500" dirty="0"/>
          </a:p>
          <a:p>
            <a:pPr marL="0" indent="0">
              <a:buNone/>
            </a:pPr>
            <a:r>
              <a:rPr lang="en-US" sz="1500" dirty="0">
                <a:solidFill>
                  <a:srgbClr val="FFFFFF"/>
                </a:solidFill>
                <a:latin typeface="Calibri" pitchFamily="34" charset="0"/>
                <a:ea typeface="Calibri" pitchFamily="34" charset="-122"/>
                <a:cs typeface="Calibri" pitchFamily="34" charset="-120"/>
              </a:rPr>
              <a:t>The work shows that even with a relatively small dataset, modern machine learning techniques can achieve impressive real-world performance when designed thoughtfully.</a:t>
            </a:r>
            <a:endParaRPr lang="en-US" sz="1500" dirty="0"/>
          </a:p>
        </p:txBody>
      </p:sp>
      <p:sp>
        <p:nvSpPr>
          <p:cNvPr id="9" name="Shape 7"/>
          <p:cNvSpPr/>
          <p:nvPr/>
        </p:nvSpPr>
        <p:spPr>
          <a:xfrm>
            <a:off x="1371600" y="4572000"/>
            <a:ext cx="1920240" cy="457200"/>
          </a:xfrm>
          <a:prstGeom prst="rect">
            <a:avLst/>
          </a:prstGeom>
          <a:solidFill>
            <a:srgbClr val="1B7A8C"/>
          </a:solidFill>
          <a:ln w="12700">
            <a:solidFill>
              <a:srgbClr val="1B7A8C"/>
            </a:solidFill>
            <a:prstDash val="solid"/>
          </a:ln>
          <a:effectLst>
            <a:outerShdw blurRad="101600" dist="38100" dir="8100000" algn="bl" rotWithShape="0">
              <a:srgbClr val="000000">
                <a:alpha val="18000"/>
              </a:srgbClr>
            </a:outerShdw>
          </a:effectLst>
        </p:spPr>
        <p:txBody>
          <a:bodyPr/>
          <a:lstStyle/>
          <a:p>
            <a:endParaRPr lang="en-ZA"/>
          </a:p>
        </p:txBody>
      </p:sp>
      <p:sp>
        <p:nvSpPr>
          <p:cNvPr id="10" name="Text 8"/>
          <p:cNvSpPr/>
          <p:nvPr/>
        </p:nvSpPr>
        <p:spPr>
          <a:xfrm>
            <a:off x="1371600" y="4681728"/>
            <a:ext cx="1920240" cy="25146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91.7%</a:t>
            </a:r>
            <a:endParaRPr lang="en-US" sz="3400" dirty="0"/>
          </a:p>
        </p:txBody>
      </p:sp>
      <p:sp>
        <p:nvSpPr>
          <p:cNvPr id="11" name="Text 9"/>
          <p:cNvSpPr/>
          <p:nvPr/>
        </p:nvSpPr>
        <p:spPr>
          <a:xfrm>
            <a:off x="1371600" y="4846320"/>
            <a:ext cx="1920240" cy="164592"/>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Accuracy</a:t>
            </a:r>
            <a:endParaRPr lang="en-US" sz="1200" dirty="0"/>
          </a:p>
        </p:txBody>
      </p:sp>
      <p:sp>
        <p:nvSpPr>
          <p:cNvPr id="12" name="Shape 10"/>
          <p:cNvSpPr/>
          <p:nvPr/>
        </p:nvSpPr>
        <p:spPr>
          <a:xfrm>
            <a:off x="3657600" y="4572000"/>
            <a:ext cx="1920240" cy="457200"/>
          </a:xfrm>
          <a:prstGeom prst="rect">
            <a:avLst/>
          </a:prstGeom>
          <a:solidFill>
            <a:srgbClr val="0D1B2A"/>
          </a:solidFill>
          <a:ln w="12700">
            <a:solidFill>
              <a:srgbClr val="0D1B2A"/>
            </a:solidFill>
            <a:prstDash val="solid"/>
          </a:ln>
          <a:effectLst>
            <a:outerShdw blurRad="101600" dist="38100" dir="8100000" algn="bl" rotWithShape="0">
              <a:srgbClr val="000000">
                <a:alpha val="18000"/>
              </a:srgbClr>
            </a:outerShdw>
          </a:effectLst>
        </p:spPr>
        <p:txBody>
          <a:bodyPr/>
          <a:lstStyle/>
          <a:p>
            <a:endParaRPr lang="en-ZA"/>
          </a:p>
        </p:txBody>
      </p:sp>
      <p:sp>
        <p:nvSpPr>
          <p:cNvPr id="13" name="Text 11"/>
          <p:cNvSpPr/>
          <p:nvPr/>
        </p:nvSpPr>
        <p:spPr>
          <a:xfrm>
            <a:off x="3657600" y="4681728"/>
            <a:ext cx="1920240" cy="25146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87.4%</a:t>
            </a:r>
            <a:endParaRPr lang="en-US" sz="3400" dirty="0"/>
          </a:p>
        </p:txBody>
      </p:sp>
      <p:sp>
        <p:nvSpPr>
          <p:cNvPr id="14" name="Text 12"/>
          <p:cNvSpPr/>
          <p:nvPr/>
        </p:nvSpPr>
        <p:spPr>
          <a:xfrm>
            <a:off x="3657600" y="4846320"/>
            <a:ext cx="1920240" cy="164592"/>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mAP</a:t>
            </a:r>
            <a:endParaRPr lang="en-US" sz="1200" dirty="0"/>
          </a:p>
        </p:txBody>
      </p:sp>
      <p:sp>
        <p:nvSpPr>
          <p:cNvPr id="15" name="Shape 13"/>
          <p:cNvSpPr/>
          <p:nvPr/>
        </p:nvSpPr>
        <p:spPr>
          <a:xfrm>
            <a:off x="5943600" y="4572000"/>
            <a:ext cx="1920240" cy="457200"/>
          </a:xfrm>
          <a:prstGeom prst="rect">
            <a:avLst/>
          </a:prstGeom>
          <a:solidFill>
            <a:srgbClr val="1B7A8C"/>
          </a:solidFill>
          <a:ln w="12700">
            <a:solidFill>
              <a:srgbClr val="1B7A8C"/>
            </a:solidFill>
            <a:prstDash val="solid"/>
          </a:ln>
          <a:effectLst>
            <a:outerShdw blurRad="101600" dist="38100" dir="8100000" algn="bl" rotWithShape="0">
              <a:srgbClr val="000000">
                <a:alpha val="18000"/>
              </a:srgbClr>
            </a:outerShdw>
          </a:effectLst>
        </p:spPr>
        <p:txBody>
          <a:bodyPr/>
          <a:lstStyle/>
          <a:p>
            <a:endParaRPr lang="en-ZA"/>
          </a:p>
        </p:txBody>
      </p:sp>
      <p:sp>
        <p:nvSpPr>
          <p:cNvPr id="16" name="Text 14"/>
          <p:cNvSpPr/>
          <p:nvPr/>
        </p:nvSpPr>
        <p:spPr>
          <a:xfrm>
            <a:off x="5943600" y="4681728"/>
            <a:ext cx="1920240" cy="25146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84.2%</a:t>
            </a:r>
            <a:endParaRPr lang="en-US" sz="3400" dirty="0"/>
          </a:p>
        </p:txBody>
      </p:sp>
      <p:sp>
        <p:nvSpPr>
          <p:cNvPr id="17" name="Text 15"/>
          <p:cNvSpPr/>
          <p:nvPr/>
        </p:nvSpPr>
        <p:spPr>
          <a:xfrm>
            <a:off x="5943600" y="4846320"/>
            <a:ext cx="1920240" cy="164592"/>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F1 Score</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377440" cy="292608"/>
          </a:xfrm>
          <a:prstGeom prst="roundRect">
            <a:avLst>
              <a:gd name="adj" fmla="val 15625"/>
            </a:avLst>
          </a:prstGeom>
          <a:solidFill>
            <a:srgbClr val="1B7A8C"/>
          </a:solidFill>
          <a:ln w="12700">
            <a:solidFill>
              <a:srgbClr val="1B7A8C"/>
            </a:solidFill>
            <a:prstDash val="solid"/>
          </a:ln>
        </p:spPr>
        <p:txBody>
          <a:bodyPr/>
          <a:lstStyle/>
          <a:p>
            <a:endParaRPr lang="en-ZA"/>
          </a:p>
        </p:txBody>
      </p:sp>
      <p:sp>
        <p:nvSpPr>
          <p:cNvPr id="3" name="Text 1"/>
          <p:cNvSpPr/>
          <p:nvPr/>
        </p:nvSpPr>
        <p:spPr>
          <a:xfrm>
            <a:off x="365760" y="164592"/>
            <a:ext cx="2377440" cy="292608"/>
          </a:xfrm>
          <a:prstGeom prst="rect">
            <a:avLst/>
          </a:prstGeom>
          <a:noFill/>
          <a:ln/>
        </p:spPr>
        <p:txBody>
          <a:bodyPr wrap="square" lIns="0" tIns="0" rIns="0" bIns="0" rtlCol="0" anchor="ctr"/>
          <a:lstStyle/>
          <a:p>
            <a:pPr marL="0" indent="0" algn="ctr">
              <a:buNone/>
            </a:pPr>
            <a:r>
              <a:rPr lang="en-US" sz="900" b="1" dirty="0">
                <a:solidFill>
                  <a:srgbClr val="FFFFFF"/>
                </a:solidFill>
              </a:rPr>
              <a:t>SECTION 7 — CONCLUSION</a:t>
            </a:r>
            <a:endParaRPr lang="en-US" sz="9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lgn="l">
              <a:buNone/>
            </a:pPr>
            <a:r>
              <a:rPr lang="en-US" sz="2800" b="1" dirty="0">
                <a:solidFill>
                  <a:srgbClr val="1A202C"/>
                </a:solidFill>
                <a:latin typeface="Cambria" pitchFamily="34" charset="0"/>
                <a:ea typeface="Cambria" pitchFamily="34" charset="-122"/>
                <a:cs typeface="Cambria" pitchFamily="34" charset="-120"/>
              </a:rPr>
              <a:t>References</a:t>
            </a:r>
            <a:endParaRPr lang="en-US" sz="2800" dirty="0"/>
          </a:p>
        </p:txBody>
      </p:sp>
      <p:sp>
        <p:nvSpPr>
          <p:cNvPr id="5" name="Shape 3"/>
          <p:cNvSpPr/>
          <p:nvPr/>
        </p:nvSpPr>
        <p:spPr>
          <a:xfrm>
            <a:off x="457200" y="1207008"/>
            <a:ext cx="1097280" cy="45720"/>
          </a:xfrm>
          <a:prstGeom prst="rect">
            <a:avLst/>
          </a:prstGeom>
          <a:solidFill>
            <a:srgbClr val="1B7A8C"/>
          </a:solidFill>
          <a:ln w="12700">
            <a:solidFill>
              <a:srgbClr val="1B7A8C"/>
            </a:solidFill>
            <a:prstDash val="solid"/>
          </a:ln>
        </p:spPr>
        <p:txBody>
          <a:bodyPr/>
          <a:lstStyle/>
          <a:p>
            <a:endParaRPr lang="en-ZA"/>
          </a:p>
        </p:txBody>
      </p:sp>
      <p:sp>
        <p:nvSpPr>
          <p:cNvPr id="6" name="Text 4"/>
          <p:cNvSpPr/>
          <p:nvPr/>
        </p:nvSpPr>
        <p:spPr>
          <a:xfrm>
            <a:off x="8046720" y="4800600"/>
            <a:ext cx="914400" cy="228600"/>
          </a:xfrm>
          <a:prstGeom prst="rect">
            <a:avLst/>
          </a:prstGeom>
          <a:noFill/>
          <a:ln/>
        </p:spPr>
        <p:txBody>
          <a:bodyPr wrap="square" lIns="0" tIns="0" rIns="0" bIns="0" rtlCol="0" anchor="ctr"/>
          <a:lstStyle/>
          <a:p>
            <a:pPr marL="0" indent="0" algn="r">
              <a:buNone/>
            </a:pPr>
            <a:r>
              <a:rPr lang="en-US" sz="900" dirty="0">
                <a:solidFill>
                  <a:srgbClr val="CBD5E0"/>
                </a:solidFill>
              </a:rPr>
              <a:t>34 / 35</a:t>
            </a:r>
            <a:endParaRPr lang="en-US" sz="900" dirty="0"/>
          </a:p>
        </p:txBody>
      </p:sp>
      <p:sp>
        <p:nvSpPr>
          <p:cNvPr id="7" name="Text 5"/>
          <p:cNvSpPr/>
          <p:nvPr/>
        </p:nvSpPr>
        <p:spPr>
          <a:xfrm>
            <a:off x="457200" y="1417320"/>
            <a:ext cx="8229600" cy="43891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[1] Geiger, A., Lenz, P., &amp; Urtasun, R. (2012). Are we ready for autonomous driving? The KITTI vision benchmark suite. CVPR.</a:t>
            </a:r>
            <a:endParaRPr lang="en-US" sz="1100" dirty="0"/>
          </a:p>
        </p:txBody>
      </p:sp>
      <p:sp>
        <p:nvSpPr>
          <p:cNvPr id="8" name="Text 6"/>
          <p:cNvSpPr/>
          <p:nvPr/>
        </p:nvSpPr>
        <p:spPr>
          <a:xfrm>
            <a:off x="457200" y="1920240"/>
            <a:ext cx="8229600" cy="43891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[2] He, K., Zhang, X., Ren, S., &amp; Sun, J. (2016). Deep residual learning for image recognition. CVPR.</a:t>
            </a:r>
            <a:endParaRPr lang="en-US" sz="1100" dirty="0"/>
          </a:p>
        </p:txBody>
      </p:sp>
      <p:sp>
        <p:nvSpPr>
          <p:cNvPr id="9" name="Text 7"/>
          <p:cNvSpPr/>
          <p:nvPr/>
        </p:nvSpPr>
        <p:spPr>
          <a:xfrm>
            <a:off x="457200" y="2423160"/>
            <a:ext cx="8229600" cy="43891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[3] Ren, S., He, K., Girshick, R., &amp; Sun, J. (2015). Faster R-CNN: Towards real-time object detection with region proposal networks. NeurIPS.</a:t>
            </a:r>
            <a:endParaRPr lang="en-US" sz="1100" dirty="0"/>
          </a:p>
        </p:txBody>
      </p:sp>
      <p:sp>
        <p:nvSpPr>
          <p:cNvPr id="10" name="Text 8"/>
          <p:cNvSpPr/>
          <p:nvPr/>
        </p:nvSpPr>
        <p:spPr>
          <a:xfrm>
            <a:off x="457200" y="2926080"/>
            <a:ext cx="8229600" cy="43891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[4] Lin, T. Y., et al. (2017). Feature Pyramid Networks for object detection. CVPR.</a:t>
            </a:r>
            <a:endParaRPr lang="en-US" sz="1100" dirty="0"/>
          </a:p>
        </p:txBody>
      </p:sp>
      <p:sp>
        <p:nvSpPr>
          <p:cNvPr id="11" name="Text 9"/>
          <p:cNvSpPr/>
          <p:nvPr/>
        </p:nvSpPr>
        <p:spPr>
          <a:xfrm>
            <a:off x="457200" y="3429000"/>
            <a:ext cx="8229600" cy="43891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[5] Hochreiter, S., &amp; Schmidhuber, J. (1997). Long short-term memory. Neural Computation, 9(8), 1735-1780.</a:t>
            </a:r>
            <a:endParaRPr lang="en-US" sz="1100" dirty="0"/>
          </a:p>
        </p:txBody>
      </p:sp>
      <p:sp>
        <p:nvSpPr>
          <p:cNvPr id="12" name="Text 10"/>
          <p:cNvSpPr/>
          <p:nvPr/>
        </p:nvSpPr>
        <p:spPr>
          <a:xfrm>
            <a:off x="457200" y="3931920"/>
            <a:ext cx="8229600" cy="43891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[6] Everingham, M., et al. (2010). The PASCAL Visual Object Classes (VOC) Challenge. IJCV.</a:t>
            </a:r>
            <a:endParaRPr lang="en-US" sz="1100" dirty="0"/>
          </a:p>
        </p:txBody>
      </p:sp>
      <p:sp>
        <p:nvSpPr>
          <p:cNvPr id="13" name="Text 11"/>
          <p:cNvSpPr/>
          <p:nvPr/>
        </p:nvSpPr>
        <p:spPr>
          <a:xfrm>
            <a:off x="457200" y="4434840"/>
            <a:ext cx="8229600" cy="438912"/>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[7] Paszke, A., et al. (2019). PyTorch: An imperative style, high-performance deep learning library. NeurIPS.</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1B7A8C">
              <a:alpha val="20000"/>
            </a:srgbClr>
          </a:solidFill>
          <a:ln w="12700">
            <a:solidFill>
              <a:srgbClr val="1B7A8C">
                <a:alpha val="20000"/>
              </a:srgbClr>
            </a:solidFill>
            <a:prstDash val="solid"/>
          </a:ln>
        </p:spPr>
        <p:txBody>
          <a:bodyPr/>
          <a:lstStyle/>
          <a:p>
            <a:endParaRPr lang="en-ZA" dirty="0"/>
          </a:p>
        </p:txBody>
      </p:sp>
      <p:sp>
        <p:nvSpPr>
          <p:cNvPr id="3" name="Shape 1"/>
          <p:cNvSpPr/>
          <p:nvPr/>
        </p:nvSpPr>
        <p:spPr>
          <a:xfrm>
            <a:off x="0" y="4114800"/>
            <a:ext cx="9144000" cy="1028700"/>
          </a:xfrm>
          <a:prstGeom prst="rect">
            <a:avLst/>
          </a:prstGeom>
          <a:solidFill>
            <a:srgbClr val="1B7A8C"/>
          </a:solidFill>
          <a:ln w="12700">
            <a:solidFill>
              <a:srgbClr val="1B7A8C"/>
            </a:solidFill>
            <a:prstDash val="solid"/>
          </a:ln>
        </p:spPr>
        <p:txBody>
          <a:bodyPr/>
          <a:lstStyle/>
          <a:p>
            <a:endParaRPr lang="en-ZA"/>
          </a:p>
        </p:txBody>
      </p:sp>
      <p:sp>
        <p:nvSpPr>
          <p:cNvPr id="4" name="Text 2"/>
          <p:cNvSpPr/>
          <p:nvPr/>
        </p:nvSpPr>
        <p:spPr>
          <a:xfrm>
            <a:off x="457200" y="914400"/>
            <a:ext cx="8229600" cy="1097280"/>
          </a:xfrm>
          <a:prstGeom prst="rect">
            <a:avLst/>
          </a:prstGeom>
          <a:noFill/>
          <a:ln/>
        </p:spPr>
        <p:txBody>
          <a:bodyPr wrap="square" lIns="0" tIns="0" rIns="0" bIns="0" rtlCol="0" anchor="ctr"/>
          <a:lstStyle/>
          <a:p>
            <a:pPr marL="0" indent="0">
              <a:buNone/>
            </a:pPr>
            <a:r>
              <a:rPr lang="en-US" sz="5600" b="1" dirty="0">
                <a:solidFill>
                  <a:srgbClr val="FFFFFF"/>
                </a:solidFill>
                <a:latin typeface="Cambria" pitchFamily="34" charset="0"/>
                <a:ea typeface="Cambria" pitchFamily="34" charset="-122"/>
                <a:cs typeface="Cambria" pitchFamily="34" charset="-120"/>
              </a:rPr>
              <a:t>Thank You.</a:t>
            </a:r>
            <a:endParaRPr lang="en-US" sz="5600" dirty="0"/>
          </a:p>
        </p:txBody>
      </p:sp>
      <p:sp>
        <p:nvSpPr>
          <p:cNvPr id="5" name="Text 3"/>
          <p:cNvSpPr/>
          <p:nvPr/>
        </p:nvSpPr>
        <p:spPr>
          <a:xfrm>
            <a:off x="457200" y="2103120"/>
            <a:ext cx="2638697"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6B93B"/>
                </a:solidFill>
                <a:effectLst/>
                <a:uLnTx/>
                <a:uFillTx/>
                <a:latin typeface="Calibri" panose="020F0502020204030204"/>
                <a:ea typeface="+mn-ea"/>
                <a:cs typeface="+mn-cs"/>
              </a:rPr>
              <a:t>Accuracy: 91.7%    </a:t>
            </a:r>
            <a:r>
              <a:rPr kumimoji="0" lang="en-US" sz="1400" b="1" i="0" u="none" strike="noStrike" kern="1200" cap="none" spc="0" normalizeH="0" baseline="0" noProof="0" dirty="0">
                <a:ln>
                  <a:noFill/>
                </a:ln>
                <a:solidFill>
                  <a:srgbClr val="2EB8CF"/>
                </a:solidFill>
                <a:effectLst/>
                <a:uLnTx/>
                <a:uFillTx/>
                <a:latin typeface="Calibri" panose="020F0502020204030204"/>
                <a:ea typeface="+mn-ea"/>
                <a:cs typeface="+mn-cs"/>
              </a:rPr>
              <a:t>  </a:t>
            </a:r>
            <a:r>
              <a:rPr kumimoji="0" lang="en-US" sz="1400" b="1" i="0" u="none" strike="noStrike" kern="1200" cap="none" spc="0" normalizeH="0" baseline="0" noProof="0" dirty="0" err="1">
                <a:ln>
                  <a:noFill/>
                </a:ln>
                <a:solidFill>
                  <a:srgbClr val="2EB8CF"/>
                </a:solidFill>
                <a:effectLst/>
                <a:uLnTx/>
                <a:uFillTx/>
                <a:latin typeface="Calibri" panose="020F0502020204030204"/>
                <a:ea typeface="+mn-ea"/>
                <a:cs typeface="+mn-cs"/>
              </a:rPr>
              <a:t>mAP</a:t>
            </a:r>
            <a:r>
              <a:rPr kumimoji="0" lang="en-US" sz="1400" b="1" i="0" u="none" strike="noStrike" kern="1200" cap="none" spc="0" normalizeH="0" baseline="0" noProof="0" dirty="0">
                <a:ln>
                  <a:noFill/>
                </a:ln>
                <a:solidFill>
                  <a:srgbClr val="2EB8CF"/>
                </a:solidFill>
                <a:effectLst/>
                <a:uLnTx/>
                <a:uFillTx/>
                <a:latin typeface="Calibri" panose="020F0502020204030204"/>
                <a:ea typeface="+mn-ea"/>
                <a:cs typeface="+mn-cs"/>
              </a:rPr>
              <a:t>: 87.4%    </a:t>
            </a:r>
            <a:r>
              <a:rPr kumimoji="0" lang="en-US" sz="1400" b="1" i="0" u="none" strike="noStrike" kern="1200" cap="none" spc="0" normalizeH="0" baseline="0" noProof="0" dirty="0">
                <a:ln>
                  <a:noFill/>
                </a:ln>
                <a:solidFill>
                  <a:srgbClr val="FFFFFF"/>
                </a:solidFill>
                <a:effectLst/>
                <a:uLnTx/>
                <a:uFillTx/>
                <a:latin typeface="Calibri" panose="020F0502020204030204"/>
                <a:ea typeface="+mn-ea"/>
                <a:cs typeface="+mn-cs"/>
              </a:rPr>
              <a:t>  F1: 84.2%</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57200" y="2926080"/>
            <a:ext cx="8229600" cy="457200"/>
          </a:xfrm>
          <a:prstGeom prst="rect">
            <a:avLst/>
          </a:prstGeom>
          <a:noFill/>
          <a:ln/>
        </p:spPr>
        <p:txBody>
          <a:bodyPr wrap="square" rtlCol="0" anchor="ctr"/>
          <a:lstStyle/>
          <a:p>
            <a:pPr marL="0" indent="0">
              <a:buNone/>
            </a:pPr>
            <a:endParaRPr lang="en-US" sz="1400" dirty="0"/>
          </a:p>
        </p:txBody>
      </p:sp>
      <p:sp>
        <p:nvSpPr>
          <p:cNvPr id="7" name="Text 5"/>
          <p:cNvSpPr/>
          <p:nvPr/>
        </p:nvSpPr>
        <p:spPr>
          <a:xfrm>
            <a:off x="457200" y="4206240"/>
            <a:ext cx="8229600" cy="34747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KITTI Autonomous Driving Detection  |  Temporal FPN + Bi-LSTM  |  Task 2</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135</TotalTime>
  <Words>3146</Words>
  <Application>Microsoft Office PowerPoint</Application>
  <PresentationFormat>On-screen Show (16:9)</PresentationFormat>
  <Paragraphs>521</Paragraphs>
  <Slides>38</Slides>
  <Notes>38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KITTI Autonomous Driving Detection – ML Project Presentation</dc:title>
  <dc:subject>PptxGenJS Presentation</dc:subject>
  <dc:creator>PptxGenJS</dc:creator>
  <cp:lastModifiedBy>Kumbi Shonhiwa (Student)</cp:lastModifiedBy>
  <cp:revision>3</cp:revision>
  <dcterms:created xsi:type="dcterms:W3CDTF">2026-05-12T17:41:17Z</dcterms:created>
  <dcterms:modified xsi:type="dcterms:W3CDTF">2026-05-13T21:44:33Z</dcterms:modified>
</cp:coreProperties>
</file>