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1.xml" ContentType="application/vnd.openxmlformats-officedocument.drawingml.chart+xml"/>
  <Override PartName="/ppt/notesSlides/notesSlide17.xml" ContentType="application/vnd.openxmlformats-officedocument.presentationml.notesSlide+xml"/>
  <Override PartName="/ppt/charts/chart2.xml" ContentType="application/vnd.openxmlformats-officedocument.drawingml.chart+xml"/>
  <Override PartName="/ppt/notesSlides/notesSlide18.xml" ContentType="application/vnd.openxmlformats-officedocument.presentationml.notesSlide+xml"/>
  <Override PartName="/ppt/charts/chart3.xml" ContentType="application/vnd.openxmlformats-officedocument.drawingml.chart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1" d="100"/>
          <a:sy n="101" d="100"/>
        </p:scale>
        <p:origin x="66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ZA" sz="1800" b="0" i="0" u="none" strike="noStrike">
                <a:solidFill>
                  <a:srgbClr val="000000"/>
                </a:solidFill>
                <a:latin typeface="Arial"/>
              </a:rPr>
              <a:t>Per-Class Average Precision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Precision (%)</c:v>
                </c:pt>
              </c:strCache>
            </c:strRef>
          </c:tx>
          <c:spPr>
            <a:solidFill>
              <a:srgbClr val="1A7AC8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1A7AC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781C-4CE2-87BD-8208879C2D6C}"/>
              </c:ext>
            </c:extLst>
          </c:dPt>
          <c:dPt>
            <c:idx val="1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1C-4CE2-87BD-8208879C2D6C}"/>
              </c:ext>
            </c:extLst>
          </c:dPt>
          <c:dPt>
            <c:idx val="2"/>
            <c:invertIfNegative val="0"/>
            <c:bubble3D val="0"/>
            <c:spPr>
              <a:solidFill>
                <a:srgbClr val="F0A5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81C-4CE2-87BD-8208879C2D6C}"/>
              </c:ext>
            </c:extLst>
          </c:dPt>
          <c:dPt>
            <c:idx val="3"/>
            <c:invertIfNegative val="0"/>
            <c:bubble3D val="0"/>
            <c:spPr>
              <a:solidFill>
                <a:srgbClr val="9B59B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81C-4CE2-87BD-8208879C2D6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Car</c:v>
                </c:pt>
                <c:pt idx="1">
                  <c:v>Pedestrian</c:v>
                </c:pt>
                <c:pt idx="2">
                  <c:v>Cyclist</c:v>
                </c:pt>
                <c:pt idx="3">
                  <c:v>Train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85</c:v>
                </c:pt>
                <c:pt idx="2">
                  <c:v>80</c:v>
                </c:pt>
                <c:pt idx="3">
                  <c:v>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781C-4CE2-87BD-8208879C2D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4F7FB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800" b="0" i="0" u="none" strike="noStrike">
                <a:solidFill>
                  <a:srgbClr val="000000"/>
                </a:solidFill>
                <a:latin typeface="Arial"/>
              </a:rPr>
              <a:t>Overall Accuracy by Fine-Tuning Stage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2471A3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471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1E1-48D3-9AD4-A57703D176FD}"/>
              </c:ext>
            </c:extLst>
          </c:dPt>
          <c:dPt>
            <c:idx val="1"/>
            <c:invertIfNegative val="0"/>
            <c:bubble3D val="0"/>
            <c:spPr>
              <a:solidFill>
                <a:srgbClr val="0E7C7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1E1-48D3-9AD4-A57703D176FD}"/>
              </c:ext>
            </c:extLst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1E1-48D3-9AD4-A57703D176F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Stage 1
(Frozen)</c:v>
                </c:pt>
                <c:pt idx="1">
                  <c:v>Stage 2
(Partial)</c:v>
                </c:pt>
                <c:pt idx="2">
                  <c:v>Stage 3
(Full)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81</c:v>
                </c:pt>
                <c:pt idx="1">
                  <c:v>78</c:v>
                </c:pt>
                <c:pt idx="2">
                  <c:v>89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1E1-48D3-9AD4-A57703D176F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ZA" sz="1800" b="0" i="0" u="none" strike="noStrike">
                <a:solidFill>
                  <a:srgbClr val="000000"/>
                </a:solidFill>
                <a:latin typeface="Arial"/>
              </a:rPr>
              <a:t>Single-Frame vs Temporal Model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Single-Frame Baseline</c:v>
                </c:pt>
              </c:strCache>
            </c:strRef>
          </c:tx>
          <c:spPr>
            <a:solidFill>
              <a:srgbClr val="8899A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mAP</c:v>
                </c:pt>
                <c:pt idx="2">
                  <c:v>F1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87.3</c:v>
                </c:pt>
                <c:pt idx="1">
                  <c:v>82.1</c:v>
                </c:pt>
                <c:pt idx="2">
                  <c:v>78.900000000000006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87-46C3-8130-E22DE3F9558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Temporal FPN + Bi-LSTM</c:v>
                </c:pt>
              </c:strCache>
            </c:strRef>
          </c:tx>
          <c:spPr>
            <a:solidFill>
              <a:srgbClr val="0E7C7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Accuracy</c:v>
                </c:pt>
                <c:pt idx="1">
                  <c:v>mAP</c:v>
                </c:pt>
                <c:pt idx="2">
                  <c:v>F1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91.7</c:v>
                </c:pt>
                <c:pt idx="1">
                  <c:v>87.4</c:v>
                </c:pt>
                <c:pt idx="2">
                  <c:v>84.2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687-46C3-8130-E22DE3F9558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99907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00B4D8"/>
                </a:solidFill>
              </a:rPr>
              <a:t>UNIVERSITY OF SUNDERLAND  ·  CET3013 DEEP LEARNING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65760" y="100584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Convolutional Neural Networks</a:t>
            </a:r>
            <a:endParaRPr lang="en-US" sz="3600" dirty="0"/>
          </a:p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 MNIST &amp; KITTI Datasets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3063240"/>
            <a:ext cx="3200400" cy="457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365760" y="3246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4C8"/>
                </a:solidFill>
              </a:rPr>
              <a:t>Assignment Two  ·  Kumbirai Shonhiwa  ·  24th May 2026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438912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1B4F72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65760" y="4389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PyTorch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103120" y="438912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1B4F72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2103120" y="4389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ResNet-50 FPN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0" y="438912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1B4F72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840480" y="4389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Faster R-CNN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577840" y="438912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1B4F72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5577840" y="4389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Bi-LSTM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7315200" y="4389120"/>
            <a:ext cx="1600200" cy="411480"/>
          </a:xfrm>
          <a:prstGeom prst="roundRect">
            <a:avLst>
              <a:gd name="adj" fmla="val 17778"/>
            </a:avLst>
          </a:prstGeom>
          <a:solidFill>
            <a:srgbClr val="1B4F72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7315200" y="438912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B4D8"/>
                </a:solidFill>
              </a:rPr>
              <a:t>Transfer Learning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850392"/>
            <a:ext cx="82296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4572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87552" y="10972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Introduction &amp; Background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87552" y="145389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MNIST benchmark, problem overview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4572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987552" y="20574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Literature Review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87552" y="241401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LeNet-5 to ResNet — key contributions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457200" y="2971800"/>
            <a:ext cx="4572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457200" y="297180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987552" y="30175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Task 1: CNN Architectures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87552" y="337413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Models A, B, C for digit classification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9319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4572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457200" y="393192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87552" y="39776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Task 1: Results &amp; Analysis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87552" y="433425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Accuracy, confusion matrices, comparison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105156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4800600" y="1051560"/>
            <a:ext cx="4572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4800600" y="105156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30952" y="10972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Task 2: KITTI Object Detection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30952" y="145389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Dataset, Faster R-CNN, fine-tuning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01168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4800600" y="2011680"/>
            <a:ext cx="4572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4800600" y="201168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330952" y="20574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Task 2: Temporal Modelling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30952" y="241401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Bidirectional LSTM integration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800600" y="297180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5" name="Shape 33"/>
          <p:cNvSpPr/>
          <p:nvPr/>
        </p:nvSpPr>
        <p:spPr>
          <a:xfrm>
            <a:off x="4800600" y="2971800"/>
            <a:ext cx="4572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4800600" y="297180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07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30952" y="30175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Task 2: Results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30952" y="337413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mAP 87.4%, accuracy 91.7%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9319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0" name="Shape 38"/>
          <p:cNvSpPr/>
          <p:nvPr/>
        </p:nvSpPr>
        <p:spPr>
          <a:xfrm>
            <a:off x="4800600" y="3931920"/>
            <a:ext cx="4572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4800600" y="3931920"/>
            <a:ext cx="457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08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330952" y="39776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Conclusions &amp; Future Work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30952" y="433425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Summary of findings and next steps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1143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The Problem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600200"/>
            <a:ext cx="201168" cy="20116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640080" y="156362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Handwritten digit recognition is foundational to computer vision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258568"/>
            <a:ext cx="201168" cy="20116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640080" y="2221992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Real-world applications: postal sorting, bank cheque processing, form digitisation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916936"/>
            <a:ext cx="201168" cy="201168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640080" y="28803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Challenges: style variation, stroke differences, image noise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46320" y="1097280"/>
            <a:ext cx="3931920" cy="3566160"/>
          </a:xfrm>
          <a:prstGeom prst="rect">
            <a:avLst/>
          </a:prstGeom>
          <a:solidFill>
            <a:srgbClr val="EFF4FB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2" name="Shape 10"/>
          <p:cNvSpPr/>
          <p:nvPr/>
        </p:nvSpPr>
        <p:spPr>
          <a:xfrm>
            <a:off x="4846320" y="1097280"/>
            <a:ext cx="393192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489204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MNIST Dataset At a Glance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</a:rPr>
              <a:t>70,000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720840" y="17190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</a:rPr>
              <a:t>Total Images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2221992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</a:rPr>
              <a:t>60,000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720840" y="22494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</a:rPr>
              <a:t>Training Images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29200" y="2752344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</a:rPr>
              <a:t>10,000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0840" y="27797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</a:rPr>
              <a:t>Test Images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0" y="3282696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</a:rPr>
              <a:t>28×28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720840" y="3310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</a:rPr>
              <a:t>Pixel Resolution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0" y="3813048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E7C7B"/>
                </a:solidFill>
              </a:rPr>
              <a:t>10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6720840" y="3840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</a:rPr>
              <a:t>Digit Classes (0–9)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434840"/>
            <a:ext cx="8412480" cy="457200"/>
          </a:xfrm>
          <a:prstGeom prst="rect">
            <a:avLst/>
          </a:prstGeom>
          <a:solidFill>
            <a:srgbClr val="0E7C7B">
              <a:alpha val="12000"/>
            </a:srgbClr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457200" y="445312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4F72"/>
                </a:solidFill>
              </a:rPr>
              <a:t>Project scope: 3 CNN architectures (MNIST) + Fine-tuned Faster R-CNN with Bi-LSTM (KITTI)  |  Framework: PyTorch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Literature Review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6858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1998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07008" y="9692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LeCun et al.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07008" y="12984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LeNet-5 — conv+pool+FC template; &lt;1% MNIST error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00600" y="91440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4800600" y="914400"/>
            <a:ext cx="6858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4800600" y="91440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2010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550408" y="96926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Glorot &amp; Bengio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550408" y="129844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Vanishing gradients; ReLU recommendation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18745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457200" y="1874520"/>
            <a:ext cx="6858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457200" y="187452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2014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07008" y="192938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Srivastava et al.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07008" y="22585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Dropout regularisation to prevent overfitting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00600" y="187452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4800600" y="1874520"/>
            <a:ext cx="6858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4800600" y="187452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2015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550408" y="192938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Ioffe &amp; Szegedy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550408" y="225856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Batch Normalisation — reduces covariate shift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283464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Shape 23"/>
          <p:cNvSpPr/>
          <p:nvPr/>
        </p:nvSpPr>
        <p:spPr>
          <a:xfrm>
            <a:off x="457200" y="2834640"/>
            <a:ext cx="6858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457200" y="283464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2015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07008" y="288950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Ren et al.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07008" y="321868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Faster R-CNN — unified RPN + detection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283464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0" name="Shape 28"/>
          <p:cNvSpPr/>
          <p:nvPr/>
        </p:nvSpPr>
        <p:spPr>
          <a:xfrm>
            <a:off x="4800600" y="2834640"/>
            <a:ext cx="6858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4800600" y="283464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2016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550408" y="288950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He et al.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550408" y="321868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ResNet — residual skip connections; ImageNet SOTA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79476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35" name="Shape 33"/>
          <p:cNvSpPr/>
          <p:nvPr/>
        </p:nvSpPr>
        <p:spPr>
          <a:xfrm>
            <a:off x="457200" y="3794760"/>
            <a:ext cx="6858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4"/>
          <p:cNvSpPr/>
          <p:nvPr/>
        </p:nvSpPr>
        <p:spPr>
          <a:xfrm>
            <a:off x="457200" y="379476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2017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1207008" y="384962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Lin et al.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07008" y="417880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Feature Pyramid Network (FPN) for multi-scale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00600" y="3794760"/>
            <a:ext cx="40233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5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40" name="Shape 38"/>
          <p:cNvSpPr/>
          <p:nvPr/>
        </p:nvSpPr>
        <p:spPr>
          <a:xfrm>
            <a:off x="4800600" y="3794760"/>
            <a:ext cx="685800" cy="8046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4800600" y="3794760"/>
            <a:ext cx="6858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</a:rPr>
              <a:t>2018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5550408" y="3849624"/>
            <a:ext cx="3154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Liu &amp; Zhu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550408" y="4178808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A6A7A"/>
                </a:solidFill>
              </a:rPr>
              <a:t>Temporal feature maps with conv-LSTM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Overview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95528"/>
            <a:ext cx="82296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4023360" cy="3931920"/>
          </a:xfrm>
          <a:prstGeom prst="rect">
            <a:avLst/>
          </a:prstGeom>
          <a:solidFill>
            <a:srgbClr val="152535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4023360" cy="47548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Task 1 — MNIST Classification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94360" y="1600200"/>
            <a:ext cx="137160" cy="1371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804672" y="15544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MNIST loaded via torchvision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112264"/>
            <a:ext cx="137160" cy="1371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804672" y="20665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60K train → 42K train / 9K val / 9K test split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624328"/>
            <a:ext cx="137160" cy="1371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804672" y="25786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Three progressive CNN architectures (A, B, C)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136392"/>
            <a:ext cx="137160" cy="1371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804672" y="30906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Adam optimiser, lr=0.001, ReduceLROnPlateau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3648456"/>
            <a:ext cx="137160" cy="1371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804672" y="36027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Cross-Entropy loss, batch size 128, max 25 epochs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94360" y="4160520"/>
            <a:ext cx="137160" cy="13716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804672" y="41148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Early stopping after 7 epochs of no improvement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46320" y="960120"/>
            <a:ext cx="4023360" cy="3931920"/>
          </a:xfrm>
          <a:prstGeom prst="rect">
            <a:avLst/>
          </a:prstGeom>
          <a:solidFill>
            <a:srgbClr val="152535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4846320" y="960120"/>
            <a:ext cx="4023360" cy="47548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4937760" y="96012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Task 2 — KITTI Object Detection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83480" y="1600200"/>
            <a:ext cx="137160" cy="1371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5193792" y="15544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4 classes: Car, Pedestrian, Cyclist, Train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83480" y="2112264"/>
            <a:ext cx="137160" cy="1371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5193792" y="2066544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Train: seqs 01–06 | Val: 07–08 | Test: 09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83480" y="2624328"/>
            <a:ext cx="137160" cy="1371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5193792" y="2578608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Sequence-level split to prevent data leakage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83480" y="3136392"/>
            <a:ext cx="137160" cy="1371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5193792" y="3090672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Pre-trained Faster R-CNN (ResNet-50 FPN)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983480" y="3648456"/>
            <a:ext cx="137160" cy="1371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5193792" y="3602736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3-stage progressive fine-tuning strategy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83480" y="4160520"/>
            <a:ext cx="137160" cy="13716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5193792" y="41148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8D8E8"/>
                </a:solidFill>
              </a:rPr>
              <a:t>Bidirectional LSTM for temporal modelling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A — Baseline CNN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1A3A5C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274320" y="1188720"/>
            <a:ext cx="10515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28×28×1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25880" y="1577340"/>
            <a:ext cx="164592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1490472" y="118872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0E7C7B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1490472" y="1188720"/>
            <a:ext cx="10515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Conv2D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1→32, 3×3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42032" y="1577340"/>
            <a:ext cx="164592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2706624" y="118872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2A8A5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2706624" y="1188720"/>
            <a:ext cx="10515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ReLU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758184" y="1577340"/>
            <a:ext cx="164592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3922776" y="118872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8B5A2B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922776" y="1188720"/>
            <a:ext cx="10515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MaxPool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2×2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14×14×32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974336" y="1577340"/>
            <a:ext cx="164592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5138928" y="118872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555555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138928" y="1188720"/>
            <a:ext cx="10515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Flatten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6,272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90488" y="1577340"/>
            <a:ext cx="164592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6355080" y="118872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1B4F72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6355080" y="1188720"/>
            <a:ext cx="10515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FC 128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+ ReLU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406640" y="1577340"/>
            <a:ext cx="164592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7571232" y="1188720"/>
            <a:ext cx="1051560" cy="777240"/>
          </a:xfrm>
          <a:prstGeom prst="roundRect">
            <a:avLst>
              <a:gd name="adj" fmla="val 9412"/>
            </a:avLst>
          </a:prstGeom>
          <a:solidFill>
            <a:srgbClr val="0D1B2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7571232" y="1188720"/>
            <a:ext cx="1051560" cy="777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Output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10 logits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Architecture Specifications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2743200"/>
            <a:ext cx="109728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658368" y="272491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Single convolutional block (1→32 channels, 3×3 kernel, same padding)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218688"/>
            <a:ext cx="109728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658368" y="32004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No Batch Normalisation, no Dropout — pure baseline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694176"/>
            <a:ext cx="109728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658368" y="3675888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Flattened to 6,272 units → FC(128) → FC(10 logits)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169664"/>
            <a:ext cx="109728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658368" y="4151376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Establishes a lower-bound for comparison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43600" y="2240280"/>
            <a:ext cx="2834640" cy="777240"/>
          </a:xfrm>
          <a:prstGeom prst="roundRect">
            <a:avLst>
              <a:gd name="adj" fmla="val 11765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5943600" y="2240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Test Accuracy: 98.5%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B — Medium CNN with Batch Normalisation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320040" y="1143000"/>
            <a:ext cx="1234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28×28×1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54480" y="1600200"/>
            <a:ext cx="210312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1764792" y="11430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1764792" y="1143000"/>
            <a:ext cx="1234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Conv Block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Conv+BN+ReLU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+MaxPool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14×14×32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999232" y="1600200"/>
            <a:ext cx="210312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3209544" y="11430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0D7377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3209544" y="1143000"/>
            <a:ext cx="1234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Conv Block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Conv+BN+ReLU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+MaxPool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7×7×64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43984" y="1600200"/>
            <a:ext cx="210312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4654296" y="11430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555555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4654296" y="1143000"/>
            <a:ext cx="1234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Flatten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3,136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888736" y="1600200"/>
            <a:ext cx="210312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6099048" y="11430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1B4F72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6099048" y="1143000"/>
            <a:ext cx="1234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FC 256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+BN+ReLU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7333488" y="1600200"/>
            <a:ext cx="210312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7543800" y="1143000"/>
            <a:ext cx="123444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7543800" y="1143000"/>
            <a:ext cx="123444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Output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10 logits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Key Improvements over Model 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2816352"/>
            <a:ext cx="182880" cy="1828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713232" y="2779776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Second conv block enables hierarchical feature learning (edges → textures → shapes)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291840"/>
            <a:ext cx="182880" cy="1828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713232" y="3255264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Batch Normalisation after each conv layer reduces internal covariate shift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767328"/>
            <a:ext cx="182880" cy="1828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713232" y="3730752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More stable learning curves with smaller train-validation gap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242816"/>
            <a:ext cx="182880" cy="182880"/>
          </a:xfrm>
          <a:prstGeom prst="ellipse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713232" y="420624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Wider classifier head: 256 hidden units (vs 128 in Model A)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943600" y="2286000"/>
            <a:ext cx="2834640" cy="777240"/>
          </a:xfrm>
          <a:prstGeom prst="roundRect">
            <a:avLst>
              <a:gd name="adj" fmla="val 11765"/>
            </a:avLst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5943600" y="22860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Test Accuracy: 99.1%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Model C — Deep CNN with Dropout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1A3A5C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228600" y="1143000"/>
            <a:ext cx="10972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Input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28×28×1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325880" y="1600200"/>
            <a:ext cx="146304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1472184" y="114300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155E75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1472184" y="1143000"/>
            <a:ext cx="10972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Block 1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1→32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+BN+Pool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14×14×32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569464" y="1600200"/>
            <a:ext cx="146304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2715768" y="114300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0E7C7B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2715768" y="1143000"/>
            <a:ext cx="10972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Block 2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32→64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+BN+Pool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7×7×64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813048" y="1600200"/>
            <a:ext cx="146304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3959352" y="114300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0D5E5F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3959352" y="1143000"/>
            <a:ext cx="10972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Block 3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64→128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+BN+Pool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3×3×128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56632" y="1600200"/>
            <a:ext cx="146304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5202936" y="114300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444444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5202936" y="1143000"/>
            <a:ext cx="10972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Flatten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1,152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300216" y="1600200"/>
            <a:ext cx="146304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6446520" y="114300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9B2335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6446520" y="1143000"/>
            <a:ext cx="10972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Dropout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p=0.4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543800" y="1600200"/>
            <a:ext cx="146304" cy="0"/>
          </a:xfrm>
          <a:prstGeom prst="line">
            <a:avLst/>
          </a:prstGeom>
          <a:noFill/>
          <a:ln w="254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7690104" y="1143000"/>
            <a:ext cx="1097280" cy="914400"/>
          </a:xfrm>
          <a:prstGeom prst="roundRect">
            <a:avLst>
              <a:gd name="adj" fmla="val 8000"/>
            </a:avLst>
          </a:prstGeom>
          <a:solidFill>
            <a:srgbClr val="0D1B2A"/>
          </a:solidFill>
          <a:ln w="12700">
            <a:solidFill>
              <a:srgbClr val="AAAAA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7690104" y="1143000"/>
            <a:ext cx="10972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FC 256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</a:rPr>
              <a:t>+ Output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5720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Regularisation Strategy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2798064"/>
            <a:ext cx="109728" cy="23774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640080" y="2770632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Dropout (p=0.4) prevents co-adaptation of feature detectors during training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273552"/>
            <a:ext cx="109728" cy="23774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8" name="Text 26"/>
          <p:cNvSpPr/>
          <p:nvPr/>
        </p:nvSpPr>
        <p:spPr>
          <a:xfrm>
            <a:off x="640080" y="3246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Three pooling stages reduce spatial dims to 3×3 → compact 1,152-dim representation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749040"/>
            <a:ext cx="109728" cy="23774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640080" y="372160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Slightly slower convergence compensated by superior generalisation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4224528"/>
            <a:ext cx="109728" cy="23774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640080" y="4197096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Best of three: lowest validation loss, closest train-val accuracy gap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5943600" y="2286000"/>
            <a:ext cx="2834640" cy="777240"/>
          </a:xfrm>
          <a:prstGeom prst="roundRect">
            <a:avLst>
              <a:gd name="adj" fmla="val 11765"/>
            </a:avLst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Text 32"/>
          <p:cNvSpPr/>
          <p:nvPr/>
        </p:nvSpPr>
        <p:spPr>
          <a:xfrm>
            <a:off x="5943600" y="22860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Test Accuracy: 99.3%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 Protocol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59436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A7A"/>
                </a:solidFill>
              </a:rPr>
              <a:t>Optimiser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94360" y="12984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</a:rPr>
              <a:t>Adam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594360" y="1664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7A"/>
                </a:solidFill>
              </a:rPr>
              <a:t>Kingma &amp; Ba (2014) — adaptive learning rate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800600" y="91440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4937760" y="10058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A7A"/>
                </a:solidFill>
              </a:rPr>
              <a:t>Learning Rate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937760" y="129844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</a:rPr>
              <a:t>0.001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937760" y="1664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7A"/>
                </a:solidFill>
              </a:rPr>
              <a:t>ReduceLROnPlateau: halved after 3 plateau epochs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59436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A7A"/>
                </a:solidFill>
              </a:rPr>
              <a:t>Loss Function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94360" y="26243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</a:rPr>
              <a:t>Cross-Entropy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4360" y="2990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7A"/>
                </a:solidFill>
              </a:rPr>
              <a:t>Standard multi-class classification loss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800600" y="224028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493776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A7A"/>
                </a:solidFill>
              </a:rPr>
              <a:t>Batch Size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62432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</a:rPr>
              <a:t>128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937760" y="299008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7A"/>
                </a:solidFill>
              </a:rPr>
              <a:t>Balances training stability and efficiency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59436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A7A"/>
                </a:solidFill>
              </a:rPr>
              <a:t>Max Epochs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94360" y="3950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</a:rPr>
              <a:t>25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594360" y="4315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7A"/>
                </a:solidFill>
              </a:rPr>
              <a:t>Early stopping after 7 no-improvement epochs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3566160"/>
            <a:ext cx="4023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4937760" y="36576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A6A7A"/>
                </a:solidFill>
              </a:rPr>
              <a:t>Data Split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37760" y="39502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1B2A"/>
                </a:solidFill>
              </a:rPr>
              <a:t>42K / 9K / 9K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4937760" y="43159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A6A7A"/>
                </a:solidFill>
              </a:rPr>
              <a:t>Train / Validation / Test (seeded, reproducible)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1 Results — Model Comparison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1389888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 Blocks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Norm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Dropout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 Acc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Acc (%)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CC44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AA77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C ★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(0.4)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0077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DF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A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</a:rPr>
              <a:t>Key Insights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3291840"/>
            <a:ext cx="137160" cy="274320"/>
          </a:xfrm>
          <a:prstGeom prst="rect">
            <a:avLst/>
          </a:prstGeom>
          <a:solidFill>
            <a:srgbClr val="CC4400"/>
          </a:solidFill>
          <a:ln w="12700">
            <a:solidFill>
              <a:srgbClr val="CC44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667512" y="3264408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Model A (98.5%): Fast convergence but mild overfitting due to widening train-val gap in late epochs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3822192"/>
            <a:ext cx="137160" cy="274320"/>
          </a:xfrm>
          <a:prstGeom prst="rect">
            <a:avLst/>
          </a:prstGeom>
          <a:solidFill>
            <a:srgbClr val="AA7700"/>
          </a:solidFill>
          <a:ln w="12700">
            <a:solidFill>
              <a:srgbClr val="AA77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667512" y="379476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Model B (99.1%): Batch Norm </a:t>
            </a:r>
            <a:r>
              <a:rPr lang="en-US" sz="1200" dirty="0" err="1">
                <a:solidFill>
                  <a:srgbClr val="1A2B3C"/>
                </a:solidFill>
              </a:rPr>
              <a:t>stabilises</a:t>
            </a:r>
            <a:r>
              <a:rPr lang="en-US" sz="1200" dirty="0">
                <a:solidFill>
                  <a:srgbClr val="1A2B3C"/>
                </a:solidFill>
              </a:rPr>
              <a:t> learning, hierarchical features improve generalisation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4352544"/>
            <a:ext cx="137160" cy="274320"/>
          </a:xfrm>
          <a:prstGeom prst="rect">
            <a:avLst/>
          </a:prstGeom>
          <a:solidFill>
            <a:srgbClr val="007744"/>
          </a:solidFill>
          <a:ln w="12700">
            <a:solidFill>
              <a:srgbClr val="007744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8"/>
          <p:cNvSpPr/>
          <p:nvPr/>
        </p:nvSpPr>
        <p:spPr>
          <a:xfrm>
            <a:off x="667512" y="4325112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Model C (99.3%): Dropout closes the train-</a:t>
            </a:r>
            <a:r>
              <a:rPr lang="en-US" sz="1200" dirty="0" err="1">
                <a:solidFill>
                  <a:srgbClr val="1A2B3C"/>
                </a:solidFill>
              </a:rPr>
              <a:t>val</a:t>
            </a:r>
            <a:r>
              <a:rPr lang="en-US" sz="1200" dirty="0">
                <a:solidFill>
                  <a:srgbClr val="1A2B3C"/>
                </a:solidFill>
              </a:rPr>
              <a:t> gap, depth + regularisation is a winning combination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Confusion Matrix Analysis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2" name="Text 100"/>
          <p:cNvSpPr/>
          <p:nvPr/>
        </p:nvSpPr>
        <p:spPr>
          <a:xfrm>
            <a:off x="8348472" y="2980944"/>
            <a:ext cx="4846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103" name="Shape 101"/>
          <p:cNvSpPr/>
          <p:nvPr/>
        </p:nvSpPr>
        <p:spPr>
          <a:xfrm>
            <a:off x="457200" y="3657600"/>
            <a:ext cx="8229600" cy="1234440"/>
          </a:xfrm>
          <a:prstGeom prst="rect">
            <a:avLst/>
          </a:prstGeom>
          <a:solidFill>
            <a:srgbClr val="EEF4FB"/>
          </a:solidFill>
          <a:ln w="12700">
            <a:solidFill>
              <a:srgbClr val="C8D8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4" name="Text 102"/>
          <p:cNvSpPr/>
          <p:nvPr/>
        </p:nvSpPr>
        <p:spPr>
          <a:xfrm>
            <a:off x="640080" y="3730752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Common Misclassification Pairs</a:t>
            </a:r>
            <a:endParaRPr lang="en-US" sz="1300" dirty="0"/>
          </a:p>
        </p:txBody>
      </p:sp>
      <p:sp>
        <p:nvSpPr>
          <p:cNvPr id="105" name="Shape 103"/>
          <p:cNvSpPr/>
          <p:nvPr/>
        </p:nvSpPr>
        <p:spPr>
          <a:xfrm>
            <a:off x="594360" y="4114800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6" name="Text 104"/>
          <p:cNvSpPr/>
          <p:nvPr/>
        </p:nvSpPr>
        <p:spPr>
          <a:xfrm>
            <a:off x="777240" y="4078224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4 ↔ 9 — Structural similarity: both feature a closed loop at top with a descending stroke</a:t>
            </a:r>
            <a:endParaRPr lang="en-US" sz="1100" dirty="0"/>
          </a:p>
        </p:txBody>
      </p:sp>
      <p:sp>
        <p:nvSpPr>
          <p:cNvPr id="107" name="Shape 105"/>
          <p:cNvSpPr/>
          <p:nvPr/>
        </p:nvSpPr>
        <p:spPr>
          <a:xfrm>
            <a:off x="594360" y="4361688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8" name="Text 106"/>
          <p:cNvSpPr/>
          <p:nvPr/>
        </p:nvSpPr>
        <p:spPr>
          <a:xfrm>
            <a:off x="777240" y="432511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7 ↔ 9 — Cursive style variants cause confusion; upper curvature can be ambiguous</a:t>
            </a:r>
            <a:endParaRPr lang="en-US" sz="1100" dirty="0"/>
          </a:p>
        </p:txBody>
      </p:sp>
      <p:sp>
        <p:nvSpPr>
          <p:cNvPr id="109" name="Shape 107"/>
          <p:cNvSpPr/>
          <p:nvPr/>
        </p:nvSpPr>
        <p:spPr>
          <a:xfrm>
            <a:off x="594360" y="4608576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0" name="Text 108"/>
          <p:cNvSpPr/>
          <p:nvPr/>
        </p:nvSpPr>
        <p:spPr>
          <a:xfrm>
            <a:off x="777240" y="4572000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All models degrade gracefully; Model C shows the fewest off-diagonal errors</a:t>
            </a:r>
            <a:endParaRPr lang="en-US" sz="1100" dirty="0"/>
          </a:p>
        </p:txBody>
      </p:sp>
      <p:pic>
        <p:nvPicPr>
          <p:cNvPr id="111" name="Picture 110">
            <a:extLst>
              <a:ext uri="{FF2B5EF4-FFF2-40B4-BE49-F238E27FC236}">
                <a16:creationId xmlns:a16="http://schemas.microsoft.com/office/drawing/2014/main" id="{B5BC13BF-584C-A228-6FD8-0BB4DBD7D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036" y="801375"/>
            <a:ext cx="8011927" cy="280465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2 — KITTI Vision Benchmark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920240" cy="1920240"/>
          </a:xfrm>
          <a:prstGeom prst="rect">
            <a:avLst/>
          </a:prstGeom>
          <a:solidFill>
            <a:srgbClr val="152535"/>
          </a:solidFill>
          <a:ln w="12700">
            <a:solidFill>
              <a:srgbClr val="1A7AC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1920240" cy="384048"/>
          </a:xfrm>
          <a:prstGeom prst="rect">
            <a:avLst/>
          </a:prstGeom>
          <a:solidFill>
            <a:srgbClr val="1A7AC8"/>
          </a:solidFill>
          <a:ln w="12700">
            <a:solidFill>
              <a:srgbClr val="1A7AC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Car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A7AC8"/>
                </a:solidFill>
              </a:rPr>
              <a:t>65%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of dataset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914400"/>
            <a:ext cx="1920240" cy="1920240"/>
          </a:xfrm>
          <a:prstGeom prst="rect">
            <a:avLst/>
          </a:prstGeom>
          <a:solidFill>
            <a:srgbClr val="152535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2606040" y="914400"/>
            <a:ext cx="192024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2606040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Pedestrian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06040" y="1371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7AE60"/>
                </a:solidFill>
              </a:rPr>
              <a:t>20%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260604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of dataset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914400"/>
            <a:ext cx="1920240" cy="1920240"/>
          </a:xfrm>
          <a:prstGeom prst="rect">
            <a:avLst/>
          </a:prstGeom>
          <a:solidFill>
            <a:srgbClr val="152535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1920240" cy="384048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4754880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Cyclist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754880" y="1371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0A500"/>
                </a:solidFill>
              </a:rPr>
              <a:t>10%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75488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of dataset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03720" y="914400"/>
            <a:ext cx="1920240" cy="1920240"/>
          </a:xfrm>
          <a:prstGeom prst="rect">
            <a:avLst/>
          </a:prstGeom>
          <a:solidFill>
            <a:srgbClr val="152535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Shape 18"/>
          <p:cNvSpPr/>
          <p:nvPr/>
        </p:nvSpPr>
        <p:spPr>
          <a:xfrm>
            <a:off x="6903720" y="914400"/>
            <a:ext cx="1920240" cy="3840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6903720" y="91440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Train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03720" y="1371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9B59B6"/>
                </a:solidFill>
              </a:rPr>
              <a:t>5%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6903720" y="192024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</a:rPr>
              <a:t>of dataset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017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0A500"/>
                </a:solidFill>
              </a:rPr>
              <a:t>Data Partitioning Strategy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57200" y="3429000"/>
            <a:ext cx="2651760" cy="914400"/>
          </a:xfrm>
          <a:prstGeom prst="rect">
            <a:avLst/>
          </a:prstGeom>
          <a:solidFill>
            <a:srgbClr val="152535"/>
          </a:solidFill>
          <a:ln w="12700">
            <a:solidFill>
              <a:srgbClr val="1A7AC8"/>
            </a:solidFill>
            <a:prstDash val="solid"/>
          </a:ln>
        </p:spPr>
        <p:txBody>
          <a:bodyPr/>
          <a:lstStyle/>
          <a:p>
            <a:endParaRPr lang="en-ZA" dirty="0"/>
          </a:p>
        </p:txBody>
      </p:sp>
      <p:sp>
        <p:nvSpPr>
          <p:cNvPr id="26" name="Text 24"/>
          <p:cNvSpPr/>
          <p:nvPr/>
        </p:nvSpPr>
        <p:spPr>
          <a:xfrm>
            <a:off x="457200" y="34564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7AC8"/>
                </a:solidFill>
              </a:rPr>
              <a:t>TRAINING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38404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D8"/>
                </a:solidFill>
              </a:rPr>
              <a:t>Sequences 01-06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355848" y="3429000"/>
            <a:ext cx="2651760" cy="914400"/>
          </a:xfrm>
          <a:prstGeom prst="rect">
            <a:avLst/>
          </a:prstGeom>
          <a:solidFill>
            <a:srgbClr val="152535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3355848" y="34564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7AE60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55848" y="38404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D8"/>
                </a:solidFill>
              </a:rPr>
              <a:t>Sequences 07 &amp; 08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254496" y="3429000"/>
            <a:ext cx="2651760" cy="914400"/>
          </a:xfrm>
          <a:prstGeom prst="rect">
            <a:avLst/>
          </a:prstGeom>
          <a:solidFill>
            <a:srgbClr val="152535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6254496" y="3456432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74C3C"/>
                </a:solidFill>
              </a:rPr>
              <a:t>TEST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254496" y="3840480"/>
            <a:ext cx="2651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B0C4D8"/>
                </a:solidFill>
              </a:rPr>
              <a:t>Sequence 09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4480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0A500"/>
                </a:solidFill>
              </a:rPr>
              <a:t>⚠  Sequence-level (not frame-level) splits prevent data leakage due to temporal correlation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R-CNN + ResNet-50 FPN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1A3A5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128016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RGB Frame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(Calibrated)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554480" y="1463040"/>
            <a:ext cx="18288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Shape 5"/>
          <p:cNvSpPr/>
          <p:nvPr/>
        </p:nvSpPr>
        <p:spPr>
          <a:xfrm>
            <a:off x="1737360" y="9144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0E7C7B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1737360" y="914400"/>
            <a:ext cx="128016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ResNet-50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Backbone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(Pre-trained)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017520" y="1463040"/>
            <a:ext cx="18288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0D7377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3200400" y="914400"/>
            <a:ext cx="128016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Feature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Pyramid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Network (FPN)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480560" y="1463040"/>
            <a:ext cx="18288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1B4F72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4663440" y="914400"/>
            <a:ext cx="128016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Region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Proposal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Network (RPN)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43600" y="1463040"/>
            <a:ext cx="18288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6126480" y="9144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6A3A9C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6126480" y="914400"/>
            <a:ext cx="128016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RoI Align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/ Pooling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7406640" y="1463040"/>
            <a:ext cx="182880" cy="0"/>
          </a:xfrm>
          <a:prstGeom prst="line">
            <a:avLst/>
          </a:prstGeom>
          <a:noFill/>
          <a:ln w="254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Shape 17"/>
          <p:cNvSpPr/>
          <p:nvPr/>
        </p:nvSpPr>
        <p:spPr>
          <a:xfrm>
            <a:off x="7589520" y="914400"/>
            <a:ext cx="1280160" cy="1097280"/>
          </a:xfrm>
          <a:prstGeom prst="roundRect">
            <a:avLst>
              <a:gd name="adj" fmla="val 8333"/>
            </a:avLst>
          </a:prstGeom>
          <a:solidFill>
            <a:srgbClr val="9B2335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7589520" y="914400"/>
            <a:ext cx="1280160" cy="109728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Detection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Head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</a:rPr>
              <a:t>(Class + BBox)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57200" y="2286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Why This Architecture?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2788920"/>
            <a:ext cx="182880" cy="1828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713232" y="275234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Transfer learning from ImageNet pre-training provides powerful, general-purpose visual features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264408"/>
            <a:ext cx="182880" cy="1828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713232" y="3227832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FPN enables multi-scale detection, handles objects from very small to very large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" y="3739896"/>
            <a:ext cx="182880" cy="1828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713232" y="37033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Shared convolutional layers between RPN and detection head significantly reduce compute costs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4215384"/>
            <a:ext cx="182880" cy="182880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713232" y="4178808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Strong benchmark performance on complex real-world detection datasets (COCO, VOC)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Three-Stage Fine-Tuning Strategy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51560"/>
            <a:ext cx="2697480" cy="3794760"/>
          </a:xfrm>
          <a:prstGeom prst="rect">
            <a:avLst/>
          </a:prstGeom>
          <a:solidFill>
            <a:srgbClr val="F8FBFF"/>
          </a:solidFill>
          <a:ln w="12700">
            <a:solidFill>
              <a:srgbClr val="2471A3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2697480" cy="548640"/>
          </a:xfrm>
          <a:prstGeom prst="rect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Stage 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Freeze Backbone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02920" y="1783080"/>
            <a:ext cx="146304" cy="146304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7"/>
          <p:cNvSpPr/>
          <p:nvPr/>
        </p:nvSpPr>
        <p:spPr>
          <a:xfrm>
            <a:off x="713232" y="1737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ResNet-50 FPN backbone fully frozen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2441448"/>
            <a:ext cx="146304" cy="146304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713232" y="23957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Only detection head trained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3099816"/>
            <a:ext cx="146304" cy="146304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1"/>
          <p:cNvSpPr/>
          <p:nvPr/>
        </p:nvSpPr>
        <p:spPr>
          <a:xfrm>
            <a:off x="713232" y="305409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Preserves ImageNet representations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758184"/>
            <a:ext cx="146304" cy="146304"/>
          </a:xfrm>
          <a:prstGeom prst="ellipse">
            <a:avLst/>
          </a:prstGeom>
          <a:solidFill>
            <a:srgbClr val="2471A3"/>
          </a:solidFill>
          <a:ln w="12700">
            <a:solidFill>
              <a:srgbClr val="2471A3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713232" y="371246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Establishes transfer learning baseline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1051560"/>
            <a:ext cx="2697480" cy="3794760"/>
          </a:xfrm>
          <a:prstGeom prst="rect">
            <a:avLst/>
          </a:prstGeom>
          <a:solidFill>
            <a:srgbClr val="F8FBFF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7" name="Shape 15"/>
          <p:cNvSpPr/>
          <p:nvPr/>
        </p:nvSpPr>
        <p:spPr>
          <a:xfrm>
            <a:off x="3291840" y="1051560"/>
            <a:ext cx="2697480" cy="54864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Text 16"/>
          <p:cNvSpPr/>
          <p:nvPr/>
        </p:nvSpPr>
        <p:spPr>
          <a:xfrm>
            <a:off x="3383280" y="1051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Stage 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023360" y="1051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Unfreeze Final ResNet Block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29000" y="1783080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3639312" y="1737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Highest-level conv blocks unfrozen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429000" y="2441448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3639312" y="23957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High-level semantic features adapt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429000" y="3099816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3639312" y="305409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Network begins to learn KITTI-specific patterns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29000" y="3758184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3639312" y="371246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Balances generality and specialisation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17920" y="1051560"/>
            <a:ext cx="2697480" cy="3794760"/>
          </a:xfrm>
          <a:prstGeom prst="rect">
            <a:avLst/>
          </a:prstGeom>
          <a:solidFill>
            <a:srgbClr val="F8FBFF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29" name="Shape 27"/>
          <p:cNvSpPr/>
          <p:nvPr/>
        </p:nvSpPr>
        <p:spPr>
          <a:xfrm>
            <a:off x="6217920" y="1051560"/>
            <a:ext cx="2697480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Text 28"/>
          <p:cNvSpPr/>
          <p:nvPr/>
        </p:nvSpPr>
        <p:spPr>
          <a:xfrm>
            <a:off x="6309360" y="105156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Stage 3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49440" y="1051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Unfreeze Deeper Layers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355080" y="1783080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6565392" y="17373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Broader backbone sections unfrozen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355080" y="2441448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6565392" y="239572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Maximises domain adaptation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355080" y="3099816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6565392" y="3054096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Handles KITTI's varying illumination &amp; occlusions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355080" y="3758184"/>
            <a:ext cx="146304" cy="146304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6565392" y="3712464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B3C"/>
                </a:solidFill>
              </a:rPr>
              <a:t>Best trade-off: generic + domain-specific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Temporal Modelling — Bi-LSTM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841248"/>
          </a:xfrm>
          <a:prstGeom prst="rect">
            <a:avLst/>
          </a:prstGeom>
          <a:solidFill>
            <a:srgbClr val="152535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1508760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REJECTED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05156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Feature Stacking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103120" y="1389888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8CC"/>
                </a:solidFill>
              </a:rPr>
              <a:t>High memory overhead, scales poorly with sequence length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1993392"/>
            <a:ext cx="8229600" cy="841248"/>
          </a:xfrm>
          <a:prstGeom prst="rect">
            <a:avLst/>
          </a:prstGeom>
          <a:solidFill>
            <a:srgbClr val="152535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457200" y="1993392"/>
            <a:ext cx="1508760" cy="8412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457200" y="1993392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REJECTED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03911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3D CNNs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2377440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8CC"/>
                </a:solidFill>
              </a:rPr>
              <a:t>Computationally prohibitive for real-time deployment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80944"/>
            <a:ext cx="8229600" cy="841248"/>
          </a:xfrm>
          <a:prstGeom prst="rect">
            <a:avLst/>
          </a:prstGeom>
          <a:solidFill>
            <a:srgbClr val="152535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Shape 13"/>
          <p:cNvSpPr/>
          <p:nvPr/>
        </p:nvSpPr>
        <p:spPr>
          <a:xfrm>
            <a:off x="457200" y="2980944"/>
            <a:ext cx="1508760" cy="8412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Text 14"/>
          <p:cNvSpPr/>
          <p:nvPr/>
        </p:nvSpPr>
        <p:spPr>
          <a:xfrm>
            <a:off x="457200" y="2980944"/>
            <a:ext cx="15087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SELECTED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3026664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Bi-LSTM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03120" y="3364992"/>
            <a:ext cx="6400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0B8CC"/>
                </a:solidFill>
              </a:rPr>
              <a:t>Solves vanishing gradient via gated memory cells; efficient propagation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041648"/>
            <a:ext cx="8229600" cy="868680"/>
          </a:xfrm>
          <a:prstGeom prst="rect">
            <a:avLst/>
          </a:prstGeom>
          <a:solidFill>
            <a:srgbClr val="0D3F2A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594360" y="409651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0A500"/>
                </a:solidFill>
              </a:rPr>
              <a:t>Bi-LSTM Benefits: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94360" y="4407408"/>
            <a:ext cx="7955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</a:rPr>
              <a:t>Propagates historical frame context forward AND backward · Smooths frame-by-frame detection noise · Improves stability during partial occlusions · Enhances small dynamic object recognition (e.g. cyclists)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Task 2 Results — KITTI Detection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51760" cy="10972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D1B2A"/>
                </a:solidFill>
              </a:rPr>
              <a:t>89%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7556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</a:rPr>
              <a:t>Overall Accuracy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55848" y="9144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9" name="Shape 7"/>
          <p:cNvSpPr/>
          <p:nvPr/>
        </p:nvSpPr>
        <p:spPr>
          <a:xfrm>
            <a:off x="3355848" y="914400"/>
            <a:ext cx="2651760" cy="10972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3355848" y="1005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E7C7B"/>
                </a:solidFill>
              </a:rPr>
              <a:t>84%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3355848" y="17556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</a:rPr>
              <a:t>Weighted mAP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54496" y="914400"/>
            <a:ext cx="265176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Shape 11"/>
          <p:cNvSpPr/>
          <p:nvPr/>
        </p:nvSpPr>
        <p:spPr>
          <a:xfrm>
            <a:off x="6254496" y="914400"/>
            <a:ext cx="2651760" cy="1097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6254496" y="10058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27AE60"/>
                </a:solidFill>
              </a:rPr>
              <a:t>50%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254496" y="17556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</a:rPr>
              <a:t>Macro F1 Score</a:t>
            </a:r>
            <a:endParaRPr lang="en-US" sz="1300" dirty="0"/>
          </a:p>
        </p:txBody>
      </p:sp>
      <p:graphicFrame>
        <p:nvGraphicFramePr>
          <p:cNvPr id="16" name="Chart 0"/>
          <p:cNvGraphicFramePr/>
          <p:nvPr/>
        </p:nvGraphicFramePr>
        <p:xfrm>
          <a:off x="457200" y="2514600"/>
          <a:ext cx="54864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7" name="Shape 14"/>
          <p:cNvSpPr/>
          <p:nvPr/>
        </p:nvSpPr>
        <p:spPr>
          <a:xfrm>
            <a:off x="6217920" y="2514600"/>
            <a:ext cx="2560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8" name="Shape 15"/>
          <p:cNvSpPr/>
          <p:nvPr/>
        </p:nvSpPr>
        <p:spPr>
          <a:xfrm>
            <a:off x="6217920" y="2514600"/>
            <a:ext cx="2560320" cy="41148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6"/>
          <p:cNvSpPr/>
          <p:nvPr/>
        </p:nvSpPr>
        <p:spPr>
          <a:xfrm>
            <a:off x="6263640" y="25146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IoU Metric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309360" y="2999232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IoU = Area of Overlap ÷ Area of Union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Measures spatial accuracy of predicted vs. ground-truth bounding boxes</a:t>
            </a:r>
            <a:endParaRPr lang="en-US" sz="1050" dirty="0"/>
          </a:p>
          <a:p>
            <a:pPr marL="0" indent="0">
              <a:buNone/>
            </a:pP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Car class achieves highest AP due to dominant dataset presence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" name="Text 1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Fine-Tuning Strategy Comparison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>
            <p:extLst>
              <p:ext uri="{D42A27DB-BD31-4B8C-83A1-F6EECF244321}">
                <p14:modId xmlns:p14="http://schemas.microsoft.com/office/powerpoint/2010/main" val="2783019313"/>
              </p:ext>
            </p:extLst>
          </p:nvPr>
        </p:nvGraphicFramePr>
        <p:xfrm>
          <a:off x="457200" y="1051560"/>
          <a:ext cx="502920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10515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Analysis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760720" y="1536192"/>
            <a:ext cx="3017520" cy="987552"/>
          </a:xfrm>
          <a:prstGeom prst="rect">
            <a:avLst/>
          </a:prstGeom>
          <a:solidFill>
            <a:srgbClr val="F4F7FB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5852160" y="15819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Stage 1 (81%)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852160" y="19019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</a:rPr>
              <a:t>Frozen backbone: robust features but fails to adapt to KITTI domain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760720" y="2706624"/>
            <a:ext cx="3017520" cy="987552"/>
          </a:xfrm>
          <a:prstGeom prst="rect">
            <a:avLst/>
          </a:prstGeom>
          <a:solidFill>
            <a:srgbClr val="F4F7FB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0" name="Text 7"/>
          <p:cNvSpPr/>
          <p:nvPr/>
        </p:nvSpPr>
        <p:spPr>
          <a:xfrm>
            <a:off x="5852160" y="2752344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Stage 2 (78%)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852160" y="3072384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</a:rPr>
              <a:t>High-level block unfrozen: semantic features start adapting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760720" y="3877056"/>
            <a:ext cx="3017520" cy="987552"/>
          </a:xfrm>
          <a:prstGeom prst="rect">
            <a:avLst/>
          </a:prstGeom>
          <a:solidFill>
            <a:srgbClr val="F4F7FB"/>
          </a:solidFill>
          <a:ln w="12700">
            <a:solidFill>
              <a:srgbClr val="D0DF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/>
          <p:nvPr/>
        </p:nvSpPr>
        <p:spPr>
          <a:xfrm>
            <a:off x="5852160" y="3922776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</a:rPr>
              <a:t>Stage 3 (89%)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852160" y="4242816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</a:rPr>
              <a:t>Best result: optimum trade-off between ImageNet preservation and KITTI adaptation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Impact of Temporal Modelling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91440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5760720" y="9144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Temporal Benefits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760720" y="1417320"/>
            <a:ext cx="164592" cy="16459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4"/>
          <p:cNvSpPr/>
          <p:nvPr/>
        </p:nvSpPr>
        <p:spPr>
          <a:xfrm>
            <a:off x="5989320" y="13807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+4.4% accuracy improvement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760720" y="1874520"/>
            <a:ext cx="164592" cy="16459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9" name="Text 6"/>
          <p:cNvSpPr/>
          <p:nvPr/>
        </p:nvSpPr>
        <p:spPr>
          <a:xfrm>
            <a:off x="5989320" y="18379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+5.3 mAP gain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760720" y="2331720"/>
            <a:ext cx="164592" cy="16459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8"/>
          <p:cNvSpPr/>
          <p:nvPr/>
        </p:nvSpPr>
        <p:spPr>
          <a:xfrm>
            <a:off x="5989320" y="22951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+5.3 F1 score improvement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760720" y="2788920"/>
            <a:ext cx="164592" cy="16459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3" name="Text 10"/>
          <p:cNvSpPr/>
          <p:nvPr/>
        </p:nvSpPr>
        <p:spPr>
          <a:xfrm>
            <a:off x="5989320" y="27523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Smoother frame-to-frame bounding boxes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760720" y="3246120"/>
            <a:ext cx="164592" cy="16459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2"/>
          <p:cNvSpPr/>
          <p:nvPr/>
        </p:nvSpPr>
        <p:spPr>
          <a:xfrm>
            <a:off x="5989320" y="32095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Better cyclist detection (+12%)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760720" y="3703320"/>
            <a:ext cx="164592" cy="164592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4"/>
          <p:cNvSpPr/>
          <p:nvPr/>
        </p:nvSpPr>
        <p:spPr>
          <a:xfrm>
            <a:off x="5989320" y="3666744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B3C"/>
                </a:solidFill>
              </a:rPr>
              <a:t>Robust under partial occlusions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solidFill>
            <a:srgbClr val="E8F4FD"/>
          </a:solidFill>
          <a:ln w="12700">
            <a:solidFill>
              <a:srgbClr val="BDDAF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6"/>
          <p:cNvSpPr/>
          <p:nvPr/>
        </p:nvSpPr>
        <p:spPr>
          <a:xfrm>
            <a:off x="594360" y="4279392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1B4F72"/>
                </a:solidFill>
              </a:rPr>
              <a:t>Combining foundational transfer learning with temporal sequence modelling provides a highly effective approach for autonomous driving perception — confirming the value of the Bi-LSTM integration.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3931920" cy="3931920"/>
          </a:xfrm>
          <a:prstGeom prst="rect">
            <a:avLst/>
          </a:prstGeom>
          <a:solidFill>
            <a:srgbClr val="0D2030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3931920" cy="45720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Text 4"/>
          <p:cNvSpPr/>
          <p:nvPr/>
        </p:nvSpPr>
        <p:spPr>
          <a:xfrm>
            <a:off x="548640" y="914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Task 1 — MNIST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94360" y="1508760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8" name="Text 6"/>
          <p:cNvSpPr/>
          <p:nvPr/>
        </p:nvSpPr>
        <p:spPr>
          <a:xfrm>
            <a:off x="804672" y="146304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4E8"/>
                </a:solidFill>
              </a:rPr>
              <a:t>Shallow baseline (Model A) achieves 98.5% without regularisation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94360" y="2176272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804672" y="213055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4E8"/>
                </a:solidFill>
              </a:rPr>
              <a:t>Batch Norm + second conv block raises this to 99.1% (Model B)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4360" y="2843784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2" name="Text 10"/>
          <p:cNvSpPr/>
          <p:nvPr/>
        </p:nvSpPr>
        <p:spPr>
          <a:xfrm>
            <a:off x="804672" y="279806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4E8"/>
                </a:solidFill>
              </a:rPr>
              <a:t>Dropout + depth reaches 99.3% (Model C) — best generalisation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4360" y="3511296"/>
            <a:ext cx="146304" cy="146304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804672" y="3465576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4E8"/>
                </a:solidFill>
              </a:rPr>
              <a:t>Architectural depth + regularisation is a reliable improvement strategy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754880" y="914400"/>
            <a:ext cx="3931920" cy="3931920"/>
          </a:xfrm>
          <a:prstGeom prst="rect">
            <a:avLst/>
          </a:prstGeom>
          <a:solidFill>
            <a:srgbClr val="0D203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6" name="Shape 14"/>
          <p:cNvSpPr/>
          <p:nvPr/>
        </p:nvSpPr>
        <p:spPr>
          <a:xfrm>
            <a:off x="4754880" y="914400"/>
            <a:ext cx="3931920" cy="457200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7" name="Text 15"/>
          <p:cNvSpPr/>
          <p:nvPr/>
        </p:nvSpPr>
        <p:spPr>
          <a:xfrm>
            <a:off x="4846320" y="91440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</a:rPr>
              <a:t>Task 2 — KITTI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92040" y="1508760"/>
            <a:ext cx="146304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5102352" y="1463040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4E8"/>
                </a:solidFill>
              </a:rPr>
              <a:t>Faster R-CNN + ResNet-50 FPN achieves 91.7% accuracy, 87.4% mAP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892040" y="2176272"/>
            <a:ext cx="146304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1" name="Text 19"/>
          <p:cNvSpPr/>
          <p:nvPr/>
        </p:nvSpPr>
        <p:spPr>
          <a:xfrm>
            <a:off x="5102352" y="2130552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4E8"/>
                </a:solidFill>
              </a:rPr>
              <a:t>Partial fine-tuning (Stage 3) outperforms fully frozen or fully unfrozen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92040" y="2843784"/>
            <a:ext cx="146304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5102352" y="2798064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4E8"/>
                </a:solidFill>
              </a:rPr>
              <a:t>Bi-LSTM temporal modelling adds +4.4% over single-frame baseline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92040" y="3511296"/>
            <a:ext cx="146304" cy="146304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5" name="Text 23"/>
          <p:cNvSpPr/>
          <p:nvPr/>
        </p:nvSpPr>
        <p:spPr>
          <a:xfrm>
            <a:off x="5102352" y="3465576"/>
            <a:ext cx="3383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0D4E8"/>
                </a:solidFill>
              </a:rPr>
              <a:t>Transfer learning + temporal modelling = effective autonomous driving perception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 &amp; Key 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713232"/>
            <a:ext cx="8229600" cy="3657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Future Directions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A7AC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6" name="Shape 4"/>
          <p:cNvSpPr/>
          <p:nvPr/>
        </p:nvSpPr>
        <p:spPr>
          <a:xfrm>
            <a:off x="457200" y="1298448"/>
            <a:ext cx="502920" cy="438912"/>
          </a:xfrm>
          <a:prstGeom prst="rect">
            <a:avLst/>
          </a:prstGeom>
          <a:solidFill>
            <a:srgbClr val="1A7AC8"/>
          </a:solidFill>
          <a:ln w="12700">
            <a:solidFill>
              <a:srgbClr val="1A7AC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Task 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24128" y="131673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Data augmentation (rotations, elastic distortions) — target &gt;99.6%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1810512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A7AC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Shape 8"/>
          <p:cNvSpPr/>
          <p:nvPr/>
        </p:nvSpPr>
        <p:spPr>
          <a:xfrm>
            <a:off x="457200" y="1810512"/>
            <a:ext cx="502920" cy="438912"/>
          </a:xfrm>
          <a:prstGeom prst="rect">
            <a:avLst/>
          </a:prstGeom>
          <a:solidFill>
            <a:srgbClr val="1A7AC8"/>
          </a:solidFill>
          <a:ln w="12700">
            <a:solidFill>
              <a:srgbClr val="1A7AC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1" name="Text 9"/>
          <p:cNvSpPr/>
          <p:nvPr/>
        </p:nvSpPr>
        <p:spPr>
          <a:xfrm>
            <a:off x="457200" y="1810512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Task 1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1024128" y="182880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Squeeze-and-Excitation blocks for adaptive channel weighting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57200" y="2322576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1A7AC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Shape 12"/>
          <p:cNvSpPr/>
          <p:nvPr/>
        </p:nvSpPr>
        <p:spPr>
          <a:xfrm>
            <a:off x="457200" y="2322576"/>
            <a:ext cx="502920" cy="438912"/>
          </a:xfrm>
          <a:prstGeom prst="rect">
            <a:avLst/>
          </a:prstGeom>
          <a:solidFill>
            <a:srgbClr val="1A7AC8"/>
          </a:solidFill>
          <a:ln w="12700">
            <a:solidFill>
              <a:srgbClr val="1A7AC8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5" name="Text 13"/>
          <p:cNvSpPr/>
          <p:nvPr/>
        </p:nvSpPr>
        <p:spPr>
          <a:xfrm>
            <a:off x="457200" y="2322576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Task 1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24128" y="2340864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Residual connections for significantly deeper architectures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8" name="Shape 16"/>
          <p:cNvSpPr/>
          <p:nvPr/>
        </p:nvSpPr>
        <p:spPr>
          <a:xfrm>
            <a:off x="457200" y="2834640"/>
            <a:ext cx="502920" cy="43891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9" name="Text 17"/>
          <p:cNvSpPr/>
          <p:nvPr/>
        </p:nvSpPr>
        <p:spPr>
          <a:xfrm>
            <a:off x="457200" y="2834640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Task 2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024128" y="2852928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Transformer-based temporal modelling for video understanding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457200" y="3346704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2" name="Shape 20"/>
          <p:cNvSpPr/>
          <p:nvPr/>
        </p:nvSpPr>
        <p:spPr>
          <a:xfrm>
            <a:off x="457200" y="3346704"/>
            <a:ext cx="502920" cy="43891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457200" y="3346704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Task 2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1024128" y="3364992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Additional KITTI sequences for broader environmental coverage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858768"/>
            <a:ext cx="3931920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Shape 24"/>
          <p:cNvSpPr/>
          <p:nvPr/>
        </p:nvSpPr>
        <p:spPr>
          <a:xfrm>
            <a:off x="457200" y="3858768"/>
            <a:ext cx="502920" cy="438912"/>
          </a:xfrm>
          <a:prstGeom prst="rect">
            <a:avLst/>
          </a:prstGeom>
          <a:solidFill>
            <a:srgbClr val="F0A500"/>
          </a:solidFill>
          <a:ln w="12700">
            <a:solidFill>
              <a:srgbClr val="F0A50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5"/>
          <p:cNvSpPr/>
          <p:nvPr/>
        </p:nvSpPr>
        <p:spPr>
          <a:xfrm>
            <a:off x="457200" y="3858768"/>
            <a:ext cx="502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Task 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1024128" y="3877056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3C"/>
                </a:solidFill>
              </a:rPr>
              <a:t>Model quantisation &amp; pruning for real-time embedded deployment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572000" y="86868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1B2A"/>
                </a:solidFill>
              </a:rPr>
              <a:t>Key References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0" y="1344168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Text 29"/>
          <p:cNvSpPr/>
          <p:nvPr/>
        </p:nvSpPr>
        <p:spPr>
          <a:xfrm>
            <a:off x="4754880" y="131673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</a:rPr>
              <a:t>LeCun et al. (1998) — LeNet-5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0" y="1691640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1"/>
          <p:cNvSpPr/>
          <p:nvPr/>
        </p:nvSpPr>
        <p:spPr>
          <a:xfrm>
            <a:off x="4754880" y="166420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</a:rPr>
              <a:t>Srivastava et al. (2014) — Dropout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0" y="2039112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Text 33"/>
          <p:cNvSpPr/>
          <p:nvPr/>
        </p:nvSpPr>
        <p:spPr>
          <a:xfrm>
            <a:off x="4754880" y="201168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</a:rPr>
              <a:t>Ioffe &amp; Szegedy (2015) — Batch Norm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0" y="2386584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7" name="Text 35"/>
          <p:cNvSpPr/>
          <p:nvPr/>
        </p:nvSpPr>
        <p:spPr>
          <a:xfrm>
            <a:off x="4754880" y="23591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</a:rPr>
              <a:t>He et al. (2016) — ResNet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0" y="2734056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7"/>
          <p:cNvSpPr/>
          <p:nvPr/>
        </p:nvSpPr>
        <p:spPr>
          <a:xfrm>
            <a:off x="4754880" y="2706624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</a:rPr>
              <a:t>Ren et al. (2015) — Faster R-CNN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0" y="3081528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9"/>
          <p:cNvSpPr/>
          <p:nvPr/>
        </p:nvSpPr>
        <p:spPr>
          <a:xfrm>
            <a:off x="4754880" y="3054096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</a:rPr>
              <a:t>Lin et al. (2017) — FPN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4572000" y="3429000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3" name="Text 41"/>
          <p:cNvSpPr/>
          <p:nvPr/>
        </p:nvSpPr>
        <p:spPr>
          <a:xfrm>
            <a:off x="4754880" y="3401568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</a:rPr>
              <a:t>Geiger et al. (2012) — KITTI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0" y="3776472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Text 43"/>
          <p:cNvSpPr/>
          <p:nvPr/>
        </p:nvSpPr>
        <p:spPr>
          <a:xfrm>
            <a:off x="4754880" y="37490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</a:rPr>
              <a:t>Liu &amp; Zhu (2018) — Temporal FPN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572000" y="4123944"/>
            <a:ext cx="128016" cy="128016"/>
          </a:xfrm>
          <a:prstGeom prst="ellipse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7" name="Text 45"/>
          <p:cNvSpPr/>
          <p:nvPr/>
        </p:nvSpPr>
        <p:spPr>
          <a:xfrm>
            <a:off x="4754880" y="40965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A7A"/>
                </a:solidFill>
              </a:rPr>
              <a:t>Kingma &amp; Ba (2014) — Adam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9" name="Text 47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</a:rPr>
              <a:t>Kumbirai Shonhiwa  ·  CET3013 Deep Learning  ·  University of Sunderland  ·  May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</TotalTime>
  <Words>1638</Words>
  <Application>Microsoft Office PowerPoint</Application>
  <PresentationFormat>On-screen Show (16:9)</PresentationFormat>
  <Paragraphs>379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Learning: CNNs on MNIST and KITTI</dc:title>
  <dc:subject>PptxGenJS Presentation</dc:subject>
  <dc:creator>Kumbirai Shonhiwa</dc:creator>
  <cp:lastModifiedBy>Kumbi Shonhiwa (Student)</cp:lastModifiedBy>
  <cp:revision>2</cp:revision>
  <dcterms:created xsi:type="dcterms:W3CDTF">2026-05-21T11:48:12Z</dcterms:created>
  <dcterms:modified xsi:type="dcterms:W3CDTF">2026-05-21T22:08:10Z</dcterms:modified>
</cp:coreProperties>
</file>