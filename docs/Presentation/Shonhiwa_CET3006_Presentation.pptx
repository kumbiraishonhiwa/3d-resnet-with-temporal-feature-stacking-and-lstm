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108" y="13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6733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Here's a quick roadmap so you know where we're headed. I'll walk you through the problem context first — why healthcare fraud is so hard to detect. Then I'll cover the key literature that informed my design choices, followed by the four-layer pipeline architecture I built. After that, we'll look at the results, dig into the explainability analysis, and finish with conclusions and future directions.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how big is the problem?</a:t>
            </a:r>
          </a:p>
          <a:p>
            <a:r>
              <a:rPr lang="en-GB" dirty="0"/>
              <a:t>Healthcare fraud costs the United States somewhere between </a:t>
            </a:r>
            <a:r>
              <a:rPr lang="en-GB" b="1" dirty="0"/>
              <a:t>$600 and $850 billion every single year</a:t>
            </a:r>
            <a:r>
              <a:rPr lang="en-GB" dirty="0"/>
              <a:t>. To put that in perspective, that's roughly the entire GDP of Switzerland — lost annually to fraudulent claims. About 25 to 35 percent of claim denials are linked to fraud, and yet the actual fraction of fraudulent claims in any given dataset is around just </a:t>
            </a:r>
            <a:r>
              <a:rPr lang="en-GB" b="1" dirty="0"/>
              <a:t>1 percent</a:t>
            </a:r>
            <a:r>
              <a:rPr lang="en-GB" dirty="0"/>
              <a:t>. That extreme rarity is actually a core technical challenge.</a:t>
            </a:r>
          </a:p>
          <a:p>
            <a:r>
              <a:rPr lang="en-GB" dirty="0"/>
              <a:t>My research identifies </a:t>
            </a:r>
            <a:r>
              <a:rPr lang="en-GB" b="1" dirty="0"/>
              <a:t>three critical bottlenecks</a:t>
            </a:r>
            <a:r>
              <a:rPr lang="en-GB" dirty="0"/>
              <a:t> that any solution must address simultaneously:</a:t>
            </a:r>
          </a:p>
          <a:p>
            <a:r>
              <a:rPr lang="en-GB" b="1" dirty="0"/>
              <a:t>First, class imbalance.</a:t>
            </a:r>
            <a:r>
              <a:rPr lang="en-GB" dirty="0"/>
              <a:t> Because fraudulent claims make up only 1% of records, standard machine learning models simply learn to predict "not fraud" for everything and still achieve 99% accuracy. The minority class gets completely ignored.</a:t>
            </a:r>
          </a:p>
          <a:p>
            <a:r>
              <a:rPr lang="en-GB" b="1" dirty="0"/>
              <a:t>Second, the black-box dilemma.</a:t>
            </a:r>
            <a:r>
              <a:rPr lang="en-GB" dirty="0"/>
              <a:t> Even when a neural network catches fraud, it can't explain </a:t>
            </a:r>
            <a:r>
              <a:rPr lang="en-GB" i="1" dirty="0"/>
              <a:t>why</a:t>
            </a:r>
            <a:r>
              <a:rPr lang="en-GB" dirty="0"/>
              <a:t> it flagged a claim. Under HIPAA in the US and GDPR in Europe, insurers have a legal obligation to justify claim denials. A model that can't provide that explanation is, essentially, unusable in production.</a:t>
            </a:r>
          </a:p>
          <a:p>
            <a:r>
              <a:rPr lang="en-GB" b="1" dirty="0"/>
              <a:t>Third, data privacy.</a:t>
            </a:r>
            <a:r>
              <a:rPr lang="en-GB" dirty="0"/>
              <a:t> Healthcare records are among the most sensitive data imaginable. Regulations prevent centralising data across hospitals or insurers, creating data silos that make it extremely hard to train a generalised model.</a:t>
            </a:r>
          </a:p>
          <a:p>
            <a:r>
              <a:rPr lang="en-GB" dirty="0"/>
              <a:t>These three bottlenecks — imbalance, opacity, and privacy — are the problem I set out to solve.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11480" y="777240"/>
            <a:ext cx="6583680" cy="1463040"/>
          </a:xfrm>
          <a:prstGeom prst="rect">
            <a:avLst/>
          </a:prstGeom>
          <a:noFill/>
          <a:ln/>
        </p:spPr>
        <p:txBody>
          <a:bodyPr wrap="square" lIns="0" tIns="0" rIns="0" bIns="0"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Explainable Fraud Detection</a:t>
            </a:r>
            <a:endParaRPr lang="en-US" sz="3400" dirty="0"/>
          </a:p>
          <a:p>
            <a:pPr marL="0" indent="0" algn="l">
              <a:buNone/>
            </a:pPr>
            <a:r>
              <a:rPr lang="en-US" sz="3400" b="1" dirty="0">
                <a:solidFill>
                  <a:srgbClr val="FFFFFF"/>
                </a:solidFill>
                <a:latin typeface="Calibri" pitchFamily="34" charset="0"/>
                <a:ea typeface="Calibri" pitchFamily="34" charset="-122"/>
                <a:cs typeface="Calibri" pitchFamily="34" charset="-120"/>
              </a:rPr>
              <a:t>in Healthcare Claims</a:t>
            </a:r>
            <a:endParaRPr lang="en-US" sz="3400" dirty="0"/>
          </a:p>
        </p:txBody>
      </p:sp>
      <p:sp>
        <p:nvSpPr>
          <p:cNvPr id="4" name="Text 2"/>
          <p:cNvSpPr/>
          <p:nvPr/>
        </p:nvSpPr>
        <p:spPr>
          <a:xfrm>
            <a:off x="411480" y="2286000"/>
            <a:ext cx="6583680" cy="457200"/>
          </a:xfrm>
          <a:prstGeom prst="rect">
            <a:avLst/>
          </a:prstGeom>
          <a:noFill/>
          <a:ln/>
        </p:spPr>
        <p:txBody>
          <a:bodyPr wrap="square" lIns="0" tIns="0" rIns="0" bIns="0" rtlCol="0" anchor="ctr"/>
          <a:lstStyle/>
          <a:p>
            <a:pPr marL="0" indent="0" algn="l">
              <a:buNone/>
            </a:pPr>
            <a:r>
              <a:rPr lang="en-US" sz="1800" dirty="0">
                <a:solidFill>
                  <a:srgbClr val="C8EEF2"/>
                </a:solidFill>
                <a:latin typeface="Calibri" pitchFamily="34" charset="0"/>
                <a:ea typeface="Calibri" pitchFamily="34" charset="-122"/>
                <a:cs typeface="Calibri" pitchFamily="34" charset="-120"/>
              </a:rPr>
              <a:t>with Tabular Diffusion and Transformer Models</a:t>
            </a:r>
            <a:endParaRPr lang="en-US" sz="1800" dirty="0"/>
          </a:p>
        </p:txBody>
      </p:sp>
      <p:sp>
        <p:nvSpPr>
          <p:cNvPr id="5" name="Shape 3"/>
          <p:cNvSpPr/>
          <p:nvPr/>
        </p:nvSpPr>
        <p:spPr>
          <a:xfrm>
            <a:off x="411480" y="2834640"/>
            <a:ext cx="5486400" cy="36576"/>
          </a:xfrm>
          <a:prstGeom prst="rect">
            <a:avLst/>
          </a:prstGeom>
          <a:solidFill>
            <a:srgbClr val="0E9AA7"/>
          </a:solidFill>
          <a:ln w="12700">
            <a:solidFill>
              <a:srgbClr val="0E9AA7"/>
            </a:solidFill>
            <a:prstDash val="solid"/>
          </a:ln>
        </p:spPr>
        <p:txBody>
          <a:bodyPr/>
          <a:lstStyle/>
          <a:p>
            <a:endParaRPr lang="en-ZA"/>
          </a:p>
        </p:txBody>
      </p:sp>
      <p:sp>
        <p:nvSpPr>
          <p:cNvPr id="6" name="Text 4"/>
          <p:cNvSpPr/>
          <p:nvPr/>
        </p:nvSpPr>
        <p:spPr>
          <a:xfrm>
            <a:off x="411480" y="2971800"/>
            <a:ext cx="6400800" cy="731520"/>
          </a:xfrm>
          <a:prstGeom prst="rect">
            <a:avLst/>
          </a:prstGeom>
          <a:noFill/>
          <a:ln/>
        </p:spPr>
        <p:txBody>
          <a:bodyPr wrap="square" lIns="0" tIns="0" rIns="0" bIns="0" rtlCol="0" anchor="ctr"/>
          <a:lstStyle/>
          <a:p>
            <a:pPr marL="0" indent="0" algn="l">
              <a:buNone/>
            </a:pPr>
            <a:r>
              <a:rPr lang="en-US" sz="1400" b="1" dirty="0">
                <a:solidFill>
                  <a:srgbClr val="E2EBF0"/>
                </a:solidFill>
                <a:latin typeface="Calibri" pitchFamily="34" charset="0"/>
                <a:ea typeface="Calibri" pitchFamily="34" charset="-122"/>
                <a:cs typeface="Calibri" pitchFamily="34" charset="-120"/>
              </a:rPr>
              <a:t>Kumbirai Shonhiwa</a:t>
            </a:r>
            <a:endParaRPr lang="en-US" sz="1400" dirty="0"/>
          </a:p>
          <a:p>
            <a:pPr marL="0" indent="0" algn="l">
              <a:buNone/>
            </a:pPr>
            <a:r>
              <a:rPr lang="en-US" sz="1400" dirty="0">
                <a:solidFill>
                  <a:srgbClr val="E2EBF0"/>
                </a:solidFill>
                <a:latin typeface="Calibri" pitchFamily="34" charset="0"/>
                <a:ea typeface="Calibri" pitchFamily="34" charset="-122"/>
                <a:cs typeface="Calibri" pitchFamily="34" charset="-120"/>
              </a:rPr>
              <a:t>BSc (Hons) Computer Systems Engineering  |  University of Sunderland</a:t>
            </a:r>
            <a:endParaRPr lang="en-US" sz="1400" dirty="0"/>
          </a:p>
        </p:txBody>
      </p:sp>
      <p:sp>
        <p:nvSpPr>
          <p:cNvPr id="7" name="Text 5"/>
          <p:cNvSpPr/>
          <p:nvPr/>
        </p:nvSpPr>
        <p:spPr>
          <a:xfrm>
            <a:off x="411480" y="4389120"/>
            <a:ext cx="5486400" cy="320040"/>
          </a:xfrm>
          <a:prstGeom prst="rect">
            <a:avLst/>
          </a:prstGeom>
          <a:noFill/>
          <a:ln/>
        </p:spPr>
        <p:txBody>
          <a:bodyPr wrap="square" lIns="0" tIns="0" rIns="0" bIns="0" rtlCol="0" anchor="ctr"/>
          <a:lstStyle/>
          <a:p>
            <a:pPr marL="0" indent="0" algn="l">
              <a:buNone/>
            </a:pPr>
            <a:r>
              <a:rPr lang="en-US" sz="1200" dirty="0">
                <a:solidFill>
                  <a:srgbClr val="64748B"/>
                </a:solidFill>
                <a:latin typeface="Calibri" pitchFamily="34" charset="0"/>
                <a:ea typeface="Calibri" pitchFamily="34" charset="-122"/>
                <a:cs typeface="Calibri" pitchFamily="34" charset="-120"/>
              </a:rPr>
              <a:t>CET3006 Research Paper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OVERVIEW</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1A2E3B"/>
                </a:solidFill>
                <a:latin typeface="Calibri" pitchFamily="34" charset="0"/>
                <a:ea typeface="Calibri" pitchFamily="34" charset="-122"/>
                <a:cs typeface="Calibri" pitchFamily="34" charset="-120"/>
              </a:rPr>
              <a:t>Presentation Overview</a:t>
            </a:r>
            <a:endParaRPr lang="en-US" sz="2800" dirty="0"/>
          </a:p>
        </p:txBody>
      </p:sp>
      <p:sp>
        <p:nvSpPr>
          <p:cNvPr id="5" name="Shape 3"/>
          <p:cNvSpPr/>
          <p:nvPr/>
        </p:nvSpPr>
        <p:spPr>
          <a:xfrm>
            <a:off x="457200" y="1051560"/>
            <a:ext cx="4023360" cy="1078992"/>
          </a:xfrm>
          <a:prstGeom prst="rect">
            <a:avLst/>
          </a:prstGeom>
          <a:solidFill>
            <a:srgbClr val="FFFFFF"/>
          </a:solidFill>
          <a:ln w="12700">
            <a:solidFill>
              <a:srgbClr val="E2EBF0"/>
            </a:solidFill>
            <a:prstDash val="solid"/>
          </a:ln>
          <a:effectLst>
            <a:outerShdw blurRad="50800" dist="25400" dir="8100000" algn="bl" rotWithShape="0">
              <a:srgbClr val="000000">
                <a:alpha val="8000"/>
              </a:srgbClr>
            </a:outerShdw>
          </a:effectLst>
        </p:spPr>
        <p:txBody>
          <a:bodyPr/>
          <a:lstStyle/>
          <a:p>
            <a:endParaRPr lang="en-ZA"/>
          </a:p>
        </p:txBody>
      </p:sp>
      <p:sp>
        <p:nvSpPr>
          <p:cNvPr id="6" name="Shape 4"/>
          <p:cNvSpPr/>
          <p:nvPr/>
        </p:nvSpPr>
        <p:spPr>
          <a:xfrm>
            <a:off x="457200" y="1051560"/>
            <a:ext cx="384048" cy="1078992"/>
          </a:xfrm>
          <a:prstGeom prst="rect">
            <a:avLst/>
          </a:prstGeom>
          <a:solidFill>
            <a:srgbClr val="0E9AA7"/>
          </a:solidFill>
          <a:ln w="12700">
            <a:solidFill>
              <a:srgbClr val="0E9AA7"/>
            </a:solidFill>
            <a:prstDash val="solid"/>
          </a:ln>
        </p:spPr>
        <p:txBody>
          <a:bodyPr/>
          <a:lstStyle/>
          <a:p>
            <a:endParaRPr lang="en-ZA"/>
          </a:p>
        </p:txBody>
      </p:sp>
      <p:sp>
        <p:nvSpPr>
          <p:cNvPr id="7" name="Text 5"/>
          <p:cNvSpPr/>
          <p:nvPr/>
        </p:nvSpPr>
        <p:spPr>
          <a:xfrm>
            <a:off x="457200" y="1051560"/>
            <a:ext cx="384048" cy="107899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896112" y="1143000"/>
            <a:ext cx="3493008" cy="292608"/>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Problem Context</a:t>
            </a:r>
            <a:endParaRPr lang="en-US" sz="1300" dirty="0"/>
          </a:p>
        </p:txBody>
      </p:sp>
      <p:sp>
        <p:nvSpPr>
          <p:cNvPr id="9" name="Text 7"/>
          <p:cNvSpPr/>
          <p:nvPr/>
        </p:nvSpPr>
        <p:spPr>
          <a:xfrm>
            <a:off x="896112" y="1435608"/>
            <a:ext cx="3493008" cy="603504"/>
          </a:xfrm>
          <a:prstGeom prst="rect">
            <a:avLst/>
          </a:prstGeom>
          <a:noFill/>
          <a:ln/>
        </p:spPr>
        <p:txBody>
          <a:bodyPr wrap="square" lIns="0" tIns="0" rIns="0" bIns="0" rtlCol="0" anchor="t"/>
          <a:lstStyle/>
          <a:p>
            <a:pPr marL="0" indent="0">
              <a:buNone/>
            </a:pPr>
            <a:r>
              <a:rPr lang="en-US" sz="1150" dirty="0">
                <a:solidFill>
                  <a:srgbClr val="64748B"/>
                </a:solidFill>
                <a:latin typeface="Calibri" pitchFamily="34" charset="0"/>
                <a:ea typeface="Calibri" pitchFamily="34" charset="-122"/>
                <a:cs typeface="Calibri" pitchFamily="34" charset="-120"/>
              </a:rPr>
              <a:t>Healthcare fraud costs $600–850B/yr; three critical operational gaps</a:t>
            </a:r>
            <a:endParaRPr lang="en-US" sz="1150" dirty="0"/>
          </a:p>
        </p:txBody>
      </p:sp>
      <p:sp>
        <p:nvSpPr>
          <p:cNvPr id="10" name="Shape 8"/>
          <p:cNvSpPr/>
          <p:nvPr/>
        </p:nvSpPr>
        <p:spPr>
          <a:xfrm>
            <a:off x="457200" y="2258568"/>
            <a:ext cx="4023360" cy="1078992"/>
          </a:xfrm>
          <a:prstGeom prst="rect">
            <a:avLst/>
          </a:prstGeom>
          <a:solidFill>
            <a:srgbClr val="FFFFFF"/>
          </a:solidFill>
          <a:ln w="12700">
            <a:solidFill>
              <a:srgbClr val="E2EBF0"/>
            </a:solidFill>
            <a:prstDash val="solid"/>
          </a:ln>
          <a:effectLst>
            <a:outerShdw blurRad="50800" dist="25400" dir="8100000" algn="bl" rotWithShape="0">
              <a:srgbClr val="000000">
                <a:alpha val="8000"/>
              </a:srgbClr>
            </a:outerShdw>
          </a:effectLst>
        </p:spPr>
        <p:txBody>
          <a:bodyPr/>
          <a:lstStyle/>
          <a:p>
            <a:endParaRPr lang="en-ZA"/>
          </a:p>
        </p:txBody>
      </p:sp>
      <p:sp>
        <p:nvSpPr>
          <p:cNvPr id="11" name="Shape 9"/>
          <p:cNvSpPr/>
          <p:nvPr/>
        </p:nvSpPr>
        <p:spPr>
          <a:xfrm>
            <a:off x="457200" y="2258568"/>
            <a:ext cx="384048" cy="1078992"/>
          </a:xfrm>
          <a:prstGeom prst="rect">
            <a:avLst/>
          </a:prstGeom>
          <a:solidFill>
            <a:srgbClr val="0E9AA7"/>
          </a:solidFill>
          <a:ln w="12700">
            <a:solidFill>
              <a:srgbClr val="0E9AA7"/>
            </a:solidFill>
            <a:prstDash val="solid"/>
          </a:ln>
        </p:spPr>
        <p:txBody>
          <a:bodyPr/>
          <a:lstStyle/>
          <a:p>
            <a:endParaRPr lang="en-ZA"/>
          </a:p>
        </p:txBody>
      </p:sp>
      <p:sp>
        <p:nvSpPr>
          <p:cNvPr id="12" name="Text 10"/>
          <p:cNvSpPr/>
          <p:nvPr/>
        </p:nvSpPr>
        <p:spPr>
          <a:xfrm>
            <a:off x="457200" y="2258568"/>
            <a:ext cx="384048" cy="107899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896112" y="2350008"/>
            <a:ext cx="3493008" cy="292608"/>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Literature Review</a:t>
            </a:r>
            <a:endParaRPr lang="en-US" sz="1300" dirty="0"/>
          </a:p>
        </p:txBody>
      </p:sp>
      <p:sp>
        <p:nvSpPr>
          <p:cNvPr id="14" name="Text 12"/>
          <p:cNvSpPr/>
          <p:nvPr/>
        </p:nvSpPr>
        <p:spPr>
          <a:xfrm>
            <a:off x="896112" y="2642616"/>
            <a:ext cx="3493008" cy="603504"/>
          </a:xfrm>
          <a:prstGeom prst="rect">
            <a:avLst/>
          </a:prstGeom>
          <a:noFill/>
          <a:ln/>
        </p:spPr>
        <p:txBody>
          <a:bodyPr wrap="square" lIns="0" tIns="0" rIns="0" bIns="0" rtlCol="0" anchor="t"/>
          <a:lstStyle/>
          <a:p>
            <a:pPr marL="0" indent="0">
              <a:buNone/>
            </a:pPr>
            <a:r>
              <a:rPr lang="en-US" sz="1150" dirty="0">
                <a:solidFill>
                  <a:srgbClr val="64748B"/>
                </a:solidFill>
                <a:latin typeface="Calibri" pitchFamily="34" charset="0"/>
                <a:ea typeface="Calibri" pitchFamily="34" charset="-122"/>
                <a:cs typeface="Calibri" pitchFamily="34" charset="-120"/>
              </a:rPr>
              <a:t>Tabular deep learning, diffusion models, transformer-based detection</a:t>
            </a:r>
            <a:endParaRPr lang="en-US" sz="1150" dirty="0"/>
          </a:p>
        </p:txBody>
      </p:sp>
      <p:sp>
        <p:nvSpPr>
          <p:cNvPr id="15" name="Shape 13"/>
          <p:cNvSpPr/>
          <p:nvPr/>
        </p:nvSpPr>
        <p:spPr>
          <a:xfrm>
            <a:off x="457200" y="3465576"/>
            <a:ext cx="4023360" cy="1078992"/>
          </a:xfrm>
          <a:prstGeom prst="rect">
            <a:avLst/>
          </a:prstGeom>
          <a:solidFill>
            <a:srgbClr val="FFFFFF"/>
          </a:solidFill>
          <a:ln w="12700">
            <a:solidFill>
              <a:srgbClr val="E2EBF0"/>
            </a:solidFill>
            <a:prstDash val="solid"/>
          </a:ln>
          <a:effectLst>
            <a:outerShdw blurRad="50800" dist="25400" dir="8100000" algn="bl" rotWithShape="0">
              <a:srgbClr val="000000">
                <a:alpha val="8000"/>
              </a:srgbClr>
            </a:outerShdw>
          </a:effectLst>
        </p:spPr>
        <p:txBody>
          <a:bodyPr/>
          <a:lstStyle/>
          <a:p>
            <a:endParaRPr lang="en-ZA"/>
          </a:p>
        </p:txBody>
      </p:sp>
      <p:sp>
        <p:nvSpPr>
          <p:cNvPr id="16" name="Shape 14"/>
          <p:cNvSpPr/>
          <p:nvPr/>
        </p:nvSpPr>
        <p:spPr>
          <a:xfrm>
            <a:off x="457200" y="3465576"/>
            <a:ext cx="384048" cy="1078992"/>
          </a:xfrm>
          <a:prstGeom prst="rect">
            <a:avLst/>
          </a:prstGeom>
          <a:solidFill>
            <a:srgbClr val="0E9AA7"/>
          </a:solidFill>
          <a:ln w="12700">
            <a:solidFill>
              <a:srgbClr val="0E9AA7"/>
            </a:solidFill>
            <a:prstDash val="solid"/>
          </a:ln>
        </p:spPr>
        <p:txBody>
          <a:bodyPr/>
          <a:lstStyle/>
          <a:p>
            <a:endParaRPr lang="en-ZA"/>
          </a:p>
        </p:txBody>
      </p:sp>
      <p:sp>
        <p:nvSpPr>
          <p:cNvPr id="17" name="Text 15"/>
          <p:cNvSpPr/>
          <p:nvPr/>
        </p:nvSpPr>
        <p:spPr>
          <a:xfrm>
            <a:off x="457200" y="3465576"/>
            <a:ext cx="384048" cy="107899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896112" y="3557016"/>
            <a:ext cx="3493008" cy="292608"/>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Methodology</a:t>
            </a:r>
            <a:endParaRPr lang="en-US" sz="1300" dirty="0"/>
          </a:p>
        </p:txBody>
      </p:sp>
      <p:sp>
        <p:nvSpPr>
          <p:cNvPr id="19" name="Text 17"/>
          <p:cNvSpPr/>
          <p:nvPr/>
        </p:nvSpPr>
        <p:spPr>
          <a:xfrm>
            <a:off x="896112" y="3849624"/>
            <a:ext cx="3493008" cy="603504"/>
          </a:xfrm>
          <a:prstGeom prst="rect">
            <a:avLst/>
          </a:prstGeom>
          <a:noFill/>
          <a:ln/>
        </p:spPr>
        <p:txBody>
          <a:bodyPr wrap="square" lIns="0" tIns="0" rIns="0" bIns="0" rtlCol="0" anchor="t"/>
          <a:lstStyle/>
          <a:p>
            <a:pPr marL="0" indent="0">
              <a:buNone/>
            </a:pPr>
            <a:r>
              <a:rPr lang="en-US" sz="1150" dirty="0">
                <a:solidFill>
                  <a:srgbClr val="64748B"/>
                </a:solidFill>
                <a:latin typeface="Calibri" pitchFamily="34" charset="0"/>
                <a:ea typeface="Calibri" pitchFamily="34" charset="-122"/>
                <a:cs typeface="Calibri" pitchFamily="34" charset="-120"/>
              </a:rPr>
              <a:t>Four-layer pipeline: Data prep → TabDDPM → TabNet → Explainability</a:t>
            </a:r>
            <a:endParaRPr lang="en-US" sz="1150" dirty="0"/>
          </a:p>
        </p:txBody>
      </p:sp>
      <p:sp>
        <p:nvSpPr>
          <p:cNvPr id="20" name="Shape 18"/>
          <p:cNvSpPr/>
          <p:nvPr/>
        </p:nvSpPr>
        <p:spPr>
          <a:xfrm>
            <a:off x="4800600" y="1051560"/>
            <a:ext cx="4023360" cy="1078992"/>
          </a:xfrm>
          <a:prstGeom prst="rect">
            <a:avLst/>
          </a:prstGeom>
          <a:solidFill>
            <a:srgbClr val="FFFFFF"/>
          </a:solidFill>
          <a:ln w="12700">
            <a:solidFill>
              <a:srgbClr val="E2EBF0"/>
            </a:solidFill>
            <a:prstDash val="solid"/>
          </a:ln>
          <a:effectLst>
            <a:outerShdw blurRad="50800" dist="25400" dir="8100000" algn="bl" rotWithShape="0">
              <a:srgbClr val="000000">
                <a:alpha val="8000"/>
              </a:srgbClr>
            </a:outerShdw>
          </a:effectLst>
        </p:spPr>
        <p:txBody>
          <a:bodyPr/>
          <a:lstStyle/>
          <a:p>
            <a:endParaRPr lang="en-ZA"/>
          </a:p>
        </p:txBody>
      </p:sp>
      <p:sp>
        <p:nvSpPr>
          <p:cNvPr id="21" name="Shape 19"/>
          <p:cNvSpPr/>
          <p:nvPr/>
        </p:nvSpPr>
        <p:spPr>
          <a:xfrm>
            <a:off x="4800600" y="1051560"/>
            <a:ext cx="384048" cy="1078992"/>
          </a:xfrm>
          <a:prstGeom prst="rect">
            <a:avLst/>
          </a:prstGeom>
          <a:solidFill>
            <a:srgbClr val="0E9AA7"/>
          </a:solidFill>
          <a:ln w="12700">
            <a:solidFill>
              <a:srgbClr val="0E9AA7"/>
            </a:solidFill>
            <a:prstDash val="solid"/>
          </a:ln>
        </p:spPr>
        <p:txBody>
          <a:bodyPr/>
          <a:lstStyle/>
          <a:p>
            <a:endParaRPr lang="en-ZA"/>
          </a:p>
        </p:txBody>
      </p:sp>
      <p:sp>
        <p:nvSpPr>
          <p:cNvPr id="22" name="Text 20"/>
          <p:cNvSpPr/>
          <p:nvPr/>
        </p:nvSpPr>
        <p:spPr>
          <a:xfrm>
            <a:off x="4800600" y="1051560"/>
            <a:ext cx="384048" cy="107899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5239512" y="1143000"/>
            <a:ext cx="3493008" cy="292608"/>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Results</a:t>
            </a:r>
            <a:endParaRPr lang="en-US" sz="1300" dirty="0"/>
          </a:p>
        </p:txBody>
      </p:sp>
      <p:sp>
        <p:nvSpPr>
          <p:cNvPr id="24" name="Text 22"/>
          <p:cNvSpPr/>
          <p:nvPr/>
        </p:nvSpPr>
        <p:spPr>
          <a:xfrm>
            <a:off x="5239512" y="1435608"/>
            <a:ext cx="3493008" cy="603504"/>
          </a:xfrm>
          <a:prstGeom prst="rect">
            <a:avLst/>
          </a:prstGeom>
          <a:noFill/>
          <a:ln/>
        </p:spPr>
        <p:txBody>
          <a:bodyPr wrap="square" lIns="0" tIns="0" rIns="0" bIns="0" rtlCol="0" anchor="t"/>
          <a:lstStyle/>
          <a:p>
            <a:pPr marL="0" indent="0">
              <a:buNone/>
            </a:pPr>
            <a:r>
              <a:rPr lang="en-US" sz="1150" dirty="0">
                <a:solidFill>
                  <a:srgbClr val="64748B"/>
                </a:solidFill>
                <a:latin typeface="Calibri" pitchFamily="34" charset="0"/>
                <a:ea typeface="Calibri" pitchFamily="34" charset="-122"/>
                <a:cs typeface="Calibri" pitchFamily="34" charset="-120"/>
              </a:rPr>
              <a:t>AUC-ROC 0.99, macro F1 0.99, fraud recall 98%</a:t>
            </a:r>
            <a:endParaRPr lang="en-US" sz="1150" dirty="0"/>
          </a:p>
        </p:txBody>
      </p:sp>
      <p:sp>
        <p:nvSpPr>
          <p:cNvPr id="25" name="Shape 23"/>
          <p:cNvSpPr/>
          <p:nvPr/>
        </p:nvSpPr>
        <p:spPr>
          <a:xfrm>
            <a:off x="4800600" y="2258568"/>
            <a:ext cx="4023360" cy="1078992"/>
          </a:xfrm>
          <a:prstGeom prst="rect">
            <a:avLst/>
          </a:prstGeom>
          <a:solidFill>
            <a:srgbClr val="FFFFFF"/>
          </a:solidFill>
          <a:ln w="12700">
            <a:solidFill>
              <a:srgbClr val="E2EBF0"/>
            </a:solidFill>
            <a:prstDash val="solid"/>
          </a:ln>
          <a:effectLst>
            <a:outerShdw blurRad="50800" dist="25400" dir="8100000" algn="bl" rotWithShape="0">
              <a:srgbClr val="000000">
                <a:alpha val="8000"/>
              </a:srgbClr>
            </a:outerShdw>
          </a:effectLst>
        </p:spPr>
        <p:txBody>
          <a:bodyPr/>
          <a:lstStyle/>
          <a:p>
            <a:endParaRPr lang="en-ZA"/>
          </a:p>
        </p:txBody>
      </p:sp>
      <p:sp>
        <p:nvSpPr>
          <p:cNvPr id="26" name="Shape 24"/>
          <p:cNvSpPr/>
          <p:nvPr/>
        </p:nvSpPr>
        <p:spPr>
          <a:xfrm>
            <a:off x="4800600" y="2258568"/>
            <a:ext cx="384048" cy="1078992"/>
          </a:xfrm>
          <a:prstGeom prst="rect">
            <a:avLst/>
          </a:prstGeom>
          <a:solidFill>
            <a:srgbClr val="0E9AA7"/>
          </a:solidFill>
          <a:ln w="12700">
            <a:solidFill>
              <a:srgbClr val="0E9AA7"/>
            </a:solidFill>
            <a:prstDash val="solid"/>
          </a:ln>
        </p:spPr>
        <p:txBody>
          <a:bodyPr/>
          <a:lstStyle/>
          <a:p>
            <a:endParaRPr lang="en-ZA"/>
          </a:p>
        </p:txBody>
      </p:sp>
      <p:sp>
        <p:nvSpPr>
          <p:cNvPr id="27" name="Text 25"/>
          <p:cNvSpPr/>
          <p:nvPr/>
        </p:nvSpPr>
        <p:spPr>
          <a:xfrm>
            <a:off x="4800600" y="2258568"/>
            <a:ext cx="384048" cy="107899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Text 26"/>
          <p:cNvSpPr/>
          <p:nvPr/>
        </p:nvSpPr>
        <p:spPr>
          <a:xfrm>
            <a:off x="5239512" y="2350008"/>
            <a:ext cx="3493008" cy="292608"/>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Explainability</a:t>
            </a:r>
            <a:endParaRPr lang="en-US" sz="1300" dirty="0"/>
          </a:p>
        </p:txBody>
      </p:sp>
      <p:sp>
        <p:nvSpPr>
          <p:cNvPr id="29" name="Text 27"/>
          <p:cNvSpPr/>
          <p:nvPr/>
        </p:nvSpPr>
        <p:spPr>
          <a:xfrm>
            <a:off x="5239512" y="2642616"/>
            <a:ext cx="3493008" cy="603504"/>
          </a:xfrm>
          <a:prstGeom prst="rect">
            <a:avLst/>
          </a:prstGeom>
          <a:noFill/>
          <a:ln/>
        </p:spPr>
        <p:txBody>
          <a:bodyPr wrap="square" lIns="0" tIns="0" rIns="0" bIns="0" rtlCol="0" anchor="t"/>
          <a:lstStyle/>
          <a:p>
            <a:pPr marL="0" indent="0">
              <a:buNone/>
            </a:pPr>
            <a:r>
              <a:rPr lang="en-US" sz="1150" dirty="0">
                <a:solidFill>
                  <a:srgbClr val="64748B"/>
                </a:solidFill>
                <a:latin typeface="Calibri" pitchFamily="34" charset="0"/>
                <a:ea typeface="Calibri" pitchFamily="34" charset="-122"/>
                <a:cs typeface="Calibri" pitchFamily="34" charset="-120"/>
              </a:rPr>
              <a:t>SHAP vs LIME analysis and disagreement findings</a:t>
            </a:r>
            <a:endParaRPr lang="en-US" sz="1150" dirty="0"/>
          </a:p>
        </p:txBody>
      </p:sp>
      <p:sp>
        <p:nvSpPr>
          <p:cNvPr id="30" name="Shape 28"/>
          <p:cNvSpPr/>
          <p:nvPr/>
        </p:nvSpPr>
        <p:spPr>
          <a:xfrm>
            <a:off x="4800600" y="3465576"/>
            <a:ext cx="4023360" cy="1078992"/>
          </a:xfrm>
          <a:prstGeom prst="rect">
            <a:avLst/>
          </a:prstGeom>
          <a:solidFill>
            <a:srgbClr val="FFFFFF"/>
          </a:solidFill>
          <a:ln w="12700">
            <a:solidFill>
              <a:srgbClr val="E2EBF0"/>
            </a:solidFill>
            <a:prstDash val="solid"/>
          </a:ln>
          <a:effectLst>
            <a:outerShdw blurRad="50800" dist="25400" dir="8100000" algn="bl" rotWithShape="0">
              <a:srgbClr val="000000">
                <a:alpha val="8000"/>
              </a:srgbClr>
            </a:outerShdw>
          </a:effectLst>
        </p:spPr>
        <p:txBody>
          <a:bodyPr/>
          <a:lstStyle/>
          <a:p>
            <a:endParaRPr lang="en-ZA"/>
          </a:p>
        </p:txBody>
      </p:sp>
      <p:sp>
        <p:nvSpPr>
          <p:cNvPr id="31" name="Shape 29"/>
          <p:cNvSpPr/>
          <p:nvPr/>
        </p:nvSpPr>
        <p:spPr>
          <a:xfrm>
            <a:off x="4800600" y="3465576"/>
            <a:ext cx="384048" cy="1078992"/>
          </a:xfrm>
          <a:prstGeom prst="rect">
            <a:avLst/>
          </a:prstGeom>
          <a:solidFill>
            <a:srgbClr val="0E9AA7"/>
          </a:solidFill>
          <a:ln w="12700">
            <a:solidFill>
              <a:srgbClr val="0E9AA7"/>
            </a:solidFill>
            <a:prstDash val="solid"/>
          </a:ln>
        </p:spPr>
        <p:txBody>
          <a:bodyPr/>
          <a:lstStyle/>
          <a:p>
            <a:endParaRPr lang="en-ZA"/>
          </a:p>
        </p:txBody>
      </p:sp>
      <p:sp>
        <p:nvSpPr>
          <p:cNvPr id="32" name="Text 30"/>
          <p:cNvSpPr/>
          <p:nvPr/>
        </p:nvSpPr>
        <p:spPr>
          <a:xfrm>
            <a:off x="4800600" y="3465576"/>
            <a:ext cx="384048" cy="107899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3" name="Text 31"/>
          <p:cNvSpPr/>
          <p:nvPr/>
        </p:nvSpPr>
        <p:spPr>
          <a:xfrm>
            <a:off x="5239512" y="3557016"/>
            <a:ext cx="3493008" cy="292608"/>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Conclusions</a:t>
            </a:r>
            <a:endParaRPr lang="en-US" sz="1300" dirty="0"/>
          </a:p>
        </p:txBody>
      </p:sp>
      <p:sp>
        <p:nvSpPr>
          <p:cNvPr id="34" name="Text 32"/>
          <p:cNvSpPr/>
          <p:nvPr/>
        </p:nvSpPr>
        <p:spPr>
          <a:xfrm>
            <a:off x="5239512" y="3849624"/>
            <a:ext cx="3493008" cy="603504"/>
          </a:xfrm>
          <a:prstGeom prst="rect">
            <a:avLst/>
          </a:prstGeom>
          <a:noFill/>
          <a:ln/>
        </p:spPr>
        <p:txBody>
          <a:bodyPr wrap="square" lIns="0" tIns="0" rIns="0" bIns="0" rtlCol="0" anchor="t"/>
          <a:lstStyle/>
          <a:p>
            <a:pPr marL="0" indent="0">
              <a:buNone/>
            </a:pPr>
            <a:r>
              <a:rPr lang="en-US" sz="1150" dirty="0">
                <a:solidFill>
                  <a:srgbClr val="64748B"/>
                </a:solidFill>
                <a:latin typeface="Calibri" pitchFamily="34" charset="0"/>
                <a:ea typeface="Calibri" pitchFamily="34" charset="-122"/>
                <a:cs typeface="Calibri" pitchFamily="34" charset="-120"/>
              </a:rPr>
              <a:t>Contributions, limitations, and future work</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PROBLEM</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The Healthcare Fraud Crisis</a:t>
            </a:r>
            <a:endParaRPr lang="en-US" sz="2800" dirty="0"/>
          </a:p>
        </p:txBody>
      </p:sp>
      <p:sp>
        <p:nvSpPr>
          <p:cNvPr id="5" name="Shape 3"/>
          <p:cNvSpPr/>
          <p:nvPr/>
        </p:nvSpPr>
        <p:spPr>
          <a:xfrm>
            <a:off x="457200" y="960120"/>
            <a:ext cx="2560320" cy="1280160"/>
          </a:xfrm>
          <a:prstGeom prst="rect">
            <a:avLst/>
          </a:prstGeom>
          <a:solidFill>
            <a:srgbClr val="0A7581"/>
          </a:solidFill>
          <a:ln w="12700">
            <a:solidFill>
              <a:srgbClr val="0A7581"/>
            </a:solidFill>
            <a:prstDash val="solid"/>
          </a:ln>
          <a:effectLst>
            <a:outerShdw blurRad="101600" dist="38100" dir="8100000" algn="bl" rotWithShape="0">
              <a:srgbClr val="000000">
                <a:alpha val="20000"/>
              </a:srgbClr>
            </a:outerShdw>
          </a:effectLst>
        </p:spPr>
        <p:txBody>
          <a:bodyPr/>
          <a:lstStyle/>
          <a:p>
            <a:endParaRPr lang="en-ZA"/>
          </a:p>
        </p:txBody>
      </p:sp>
      <p:sp>
        <p:nvSpPr>
          <p:cNvPr id="6" name="Text 4"/>
          <p:cNvSpPr/>
          <p:nvPr/>
        </p:nvSpPr>
        <p:spPr>
          <a:xfrm>
            <a:off x="457200" y="1033272"/>
            <a:ext cx="2560320" cy="704088"/>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$600–850B</a:t>
            </a:r>
            <a:endParaRPr lang="en-US" sz="3200" dirty="0"/>
          </a:p>
        </p:txBody>
      </p:sp>
      <p:sp>
        <p:nvSpPr>
          <p:cNvPr id="7" name="Text 5"/>
          <p:cNvSpPr/>
          <p:nvPr/>
        </p:nvSpPr>
        <p:spPr>
          <a:xfrm>
            <a:off x="457200" y="1664208"/>
            <a:ext cx="2560320" cy="576072"/>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Annual fraud losses</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(U.S. alone)</a:t>
            </a:r>
            <a:endParaRPr lang="en-US" sz="1100" dirty="0"/>
          </a:p>
        </p:txBody>
      </p:sp>
      <p:sp>
        <p:nvSpPr>
          <p:cNvPr id="8" name="Shape 6"/>
          <p:cNvSpPr/>
          <p:nvPr/>
        </p:nvSpPr>
        <p:spPr>
          <a:xfrm>
            <a:off x="3291840" y="960120"/>
            <a:ext cx="2560320" cy="1280160"/>
          </a:xfrm>
          <a:prstGeom prst="rect">
            <a:avLst/>
          </a:prstGeom>
          <a:solidFill>
            <a:srgbClr val="1D3557"/>
          </a:solidFill>
          <a:ln w="12700">
            <a:solidFill>
              <a:srgbClr val="1D3557"/>
            </a:solidFill>
            <a:prstDash val="solid"/>
          </a:ln>
          <a:effectLst>
            <a:outerShdw blurRad="101600" dist="38100" dir="8100000" algn="bl" rotWithShape="0">
              <a:srgbClr val="000000">
                <a:alpha val="20000"/>
              </a:srgbClr>
            </a:outerShdw>
          </a:effectLst>
        </p:spPr>
        <p:txBody>
          <a:bodyPr/>
          <a:lstStyle/>
          <a:p>
            <a:endParaRPr lang="en-ZA"/>
          </a:p>
        </p:txBody>
      </p:sp>
      <p:sp>
        <p:nvSpPr>
          <p:cNvPr id="9" name="Text 7"/>
          <p:cNvSpPr/>
          <p:nvPr/>
        </p:nvSpPr>
        <p:spPr>
          <a:xfrm>
            <a:off x="3291840" y="1033272"/>
            <a:ext cx="2560320" cy="704088"/>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25–35%</a:t>
            </a:r>
            <a:endParaRPr lang="en-US" sz="3200" dirty="0"/>
          </a:p>
        </p:txBody>
      </p:sp>
      <p:sp>
        <p:nvSpPr>
          <p:cNvPr id="10" name="Text 8"/>
          <p:cNvSpPr/>
          <p:nvPr/>
        </p:nvSpPr>
        <p:spPr>
          <a:xfrm>
            <a:off x="3291840" y="1664208"/>
            <a:ext cx="2560320" cy="576072"/>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Claim denial rate</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due to fraud</a:t>
            </a:r>
            <a:endParaRPr lang="en-US" sz="1100" dirty="0"/>
          </a:p>
        </p:txBody>
      </p:sp>
      <p:sp>
        <p:nvSpPr>
          <p:cNvPr id="11" name="Shape 9"/>
          <p:cNvSpPr/>
          <p:nvPr/>
        </p:nvSpPr>
        <p:spPr>
          <a:xfrm>
            <a:off x="6126480" y="960120"/>
            <a:ext cx="2560320" cy="1280160"/>
          </a:xfrm>
          <a:prstGeom prst="rect">
            <a:avLst/>
          </a:prstGeom>
          <a:solidFill>
            <a:srgbClr val="0A3D47"/>
          </a:solidFill>
          <a:ln w="12700">
            <a:solidFill>
              <a:srgbClr val="0A3D47"/>
            </a:solidFill>
            <a:prstDash val="solid"/>
          </a:ln>
          <a:effectLst>
            <a:outerShdw blurRad="101600" dist="38100" dir="8100000" algn="bl" rotWithShape="0">
              <a:srgbClr val="000000">
                <a:alpha val="20000"/>
              </a:srgbClr>
            </a:outerShdw>
          </a:effectLst>
        </p:spPr>
        <p:txBody>
          <a:bodyPr/>
          <a:lstStyle/>
          <a:p>
            <a:endParaRPr lang="en-ZA"/>
          </a:p>
        </p:txBody>
      </p:sp>
      <p:sp>
        <p:nvSpPr>
          <p:cNvPr id="12" name="Text 10"/>
          <p:cNvSpPr/>
          <p:nvPr/>
        </p:nvSpPr>
        <p:spPr>
          <a:xfrm>
            <a:off x="6126480" y="1033272"/>
            <a:ext cx="2560320" cy="704088"/>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~1%</a:t>
            </a:r>
            <a:endParaRPr lang="en-US" sz="3200" dirty="0"/>
          </a:p>
        </p:txBody>
      </p:sp>
      <p:sp>
        <p:nvSpPr>
          <p:cNvPr id="13" name="Text 11"/>
          <p:cNvSpPr/>
          <p:nvPr/>
        </p:nvSpPr>
        <p:spPr>
          <a:xfrm>
            <a:off x="6126480" y="1664208"/>
            <a:ext cx="2560320" cy="576072"/>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Fraud minority class</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in datasets</a:t>
            </a:r>
            <a:endParaRPr lang="en-US" sz="1100" dirty="0"/>
          </a:p>
        </p:txBody>
      </p:sp>
      <p:sp>
        <p:nvSpPr>
          <p:cNvPr id="14" name="Text 12"/>
          <p:cNvSpPr/>
          <p:nvPr/>
        </p:nvSpPr>
        <p:spPr>
          <a:xfrm>
            <a:off x="457200" y="2487168"/>
            <a:ext cx="8229600" cy="292608"/>
          </a:xfrm>
          <a:prstGeom prst="rect">
            <a:avLst/>
          </a:prstGeom>
          <a:noFill/>
          <a:ln/>
        </p:spPr>
        <p:txBody>
          <a:bodyPr wrap="square" lIns="0" tIns="0" rIns="0" bIns="0" rtlCol="0" anchor="ctr"/>
          <a:lstStyle/>
          <a:p>
            <a:pPr marL="0" indent="0">
              <a:buNone/>
            </a:pPr>
            <a:r>
              <a:rPr lang="en-US" sz="1400" b="1" dirty="0">
                <a:solidFill>
                  <a:srgbClr val="C8EEF2"/>
                </a:solidFill>
                <a:latin typeface="Calibri" pitchFamily="34" charset="0"/>
                <a:ea typeface="Calibri" pitchFamily="34" charset="-122"/>
                <a:cs typeface="Calibri" pitchFamily="34" charset="-120"/>
              </a:rPr>
              <a:t>Three Critical Operational Bottlenecks</a:t>
            </a:r>
            <a:endParaRPr lang="en-US" sz="1400" dirty="0"/>
          </a:p>
        </p:txBody>
      </p:sp>
      <p:sp>
        <p:nvSpPr>
          <p:cNvPr id="15" name="Shape 13"/>
          <p:cNvSpPr/>
          <p:nvPr/>
        </p:nvSpPr>
        <p:spPr>
          <a:xfrm>
            <a:off x="457200" y="2834640"/>
            <a:ext cx="2651760" cy="1920240"/>
          </a:xfrm>
          <a:prstGeom prst="rect">
            <a:avLst/>
          </a:prstGeom>
          <a:solidFill>
            <a:srgbClr val="132030"/>
          </a:solidFill>
          <a:ln w="12700">
            <a:solidFill>
              <a:srgbClr val="0E9AA7"/>
            </a:solidFill>
            <a:prstDash val="solid"/>
          </a:ln>
          <a:effectLst>
            <a:outerShdw blurRad="63500" dist="25400" dir="8100000" algn="bl" rotWithShape="0">
              <a:srgbClr val="000000">
                <a:alpha val="20000"/>
              </a:srgbClr>
            </a:outerShdw>
          </a:effectLst>
        </p:spPr>
        <p:txBody>
          <a:bodyPr/>
          <a:lstStyle/>
          <a:p>
            <a:endParaRPr lang="en-ZA"/>
          </a:p>
        </p:txBody>
      </p:sp>
      <p:sp>
        <p:nvSpPr>
          <p:cNvPr id="16" name="Text 14"/>
          <p:cNvSpPr/>
          <p:nvPr/>
        </p:nvSpPr>
        <p:spPr>
          <a:xfrm>
            <a:off x="548640" y="2907792"/>
            <a:ext cx="2468880" cy="292608"/>
          </a:xfrm>
          <a:prstGeom prst="rect">
            <a:avLst/>
          </a:prstGeom>
          <a:noFill/>
          <a:ln/>
        </p:spPr>
        <p:txBody>
          <a:bodyPr wrap="square" lIns="0" tIns="0" rIns="0" bIns="0" rtlCol="0" anchor="ctr"/>
          <a:lstStyle/>
          <a:p>
            <a:pPr marL="0" indent="0">
              <a:buNone/>
            </a:pPr>
            <a:r>
              <a:rPr lang="en-US" sz="1200" b="1" dirty="0">
                <a:solidFill>
                  <a:srgbClr val="0E9AA7"/>
                </a:solidFill>
                <a:latin typeface="Calibri" pitchFamily="34" charset="0"/>
                <a:ea typeface="Calibri" pitchFamily="34" charset="-122"/>
                <a:cs typeface="Calibri" pitchFamily="34" charset="-120"/>
              </a:rPr>
              <a:t>Class Imbalance</a:t>
            </a:r>
            <a:endParaRPr lang="en-US" sz="1200" dirty="0"/>
          </a:p>
        </p:txBody>
      </p:sp>
      <p:sp>
        <p:nvSpPr>
          <p:cNvPr id="17" name="Text 15"/>
          <p:cNvSpPr/>
          <p:nvPr/>
        </p:nvSpPr>
        <p:spPr>
          <a:xfrm>
            <a:off x="548640" y="3218688"/>
            <a:ext cx="2468880" cy="1417320"/>
          </a:xfrm>
          <a:prstGeom prst="rect">
            <a:avLst/>
          </a:prstGeom>
          <a:noFill/>
          <a:ln/>
        </p:spPr>
        <p:txBody>
          <a:bodyPr wrap="square" lIns="0" tIns="0" rIns="0" bIns="0" rtlCol="0" anchor="t"/>
          <a:lstStyle/>
          <a:p>
            <a:pPr marL="0" indent="0">
              <a:buNone/>
            </a:pPr>
            <a:r>
              <a:rPr lang="en-US" sz="1150" dirty="0">
                <a:solidFill>
                  <a:srgbClr val="E2EBF0"/>
                </a:solidFill>
                <a:latin typeface="Calibri" pitchFamily="34" charset="0"/>
                <a:ea typeface="Calibri" pitchFamily="34" charset="-122"/>
                <a:cs typeface="Calibri" pitchFamily="34" charset="-120"/>
              </a:rPr>
              <a:t>Fraudulent claims are rare 'edge cases', causing severe model bias toward majority (legitimate) class</a:t>
            </a:r>
            <a:endParaRPr lang="en-US" sz="1150" dirty="0"/>
          </a:p>
        </p:txBody>
      </p:sp>
      <p:sp>
        <p:nvSpPr>
          <p:cNvPr id="18" name="Shape 16"/>
          <p:cNvSpPr/>
          <p:nvPr/>
        </p:nvSpPr>
        <p:spPr>
          <a:xfrm>
            <a:off x="3337560" y="2834640"/>
            <a:ext cx="2651760" cy="1920240"/>
          </a:xfrm>
          <a:prstGeom prst="rect">
            <a:avLst/>
          </a:prstGeom>
          <a:solidFill>
            <a:srgbClr val="132030"/>
          </a:solidFill>
          <a:ln w="12700">
            <a:solidFill>
              <a:srgbClr val="0E9AA7"/>
            </a:solidFill>
            <a:prstDash val="solid"/>
          </a:ln>
          <a:effectLst>
            <a:outerShdw blurRad="63500" dist="25400" dir="8100000" algn="bl" rotWithShape="0">
              <a:srgbClr val="000000">
                <a:alpha val="20000"/>
              </a:srgbClr>
            </a:outerShdw>
          </a:effectLst>
        </p:spPr>
        <p:txBody>
          <a:bodyPr/>
          <a:lstStyle/>
          <a:p>
            <a:endParaRPr lang="en-ZA"/>
          </a:p>
        </p:txBody>
      </p:sp>
      <p:sp>
        <p:nvSpPr>
          <p:cNvPr id="19" name="Text 17"/>
          <p:cNvSpPr/>
          <p:nvPr/>
        </p:nvSpPr>
        <p:spPr>
          <a:xfrm>
            <a:off x="3429000" y="2907792"/>
            <a:ext cx="2468880" cy="292608"/>
          </a:xfrm>
          <a:prstGeom prst="rect">
            <a:avLst/>
          </a:prstGeom>
          <a:noFill/>
          <a:ln/>
        </p:spPr>
        <p:txBody>
          <a:bodyPr wrap="square" lIns="0" tIns="0" rIns="0" bIns="0" rtlCol="0" anchor="ctr"/>
          <a:lstStyle/>
          <a:p>
            <a:pPr marL="0" indent="0">
              <a:buNone/>
            </a:pPr>
            <a:r>
              <a:rPr lang="en-US" sz="1200" b="1" dirty="0">
                <a:solidFill>
                  <a:srgbClr val="0E9AA7"/>
                </a:solidFill>
                <a:latin typeface="Calibri" pitchFamily="34" charset="0"/>
                <a:ea typeface="Calibri" pitchFamily="34" charset="-122"/>
                <a:cs typeface="Calibri" pitchFamily="34" charset="-120"/>
              </a:rPr>
              <a:t>Black-Box Dilemma</a:t>
            </a:r>
            <a:endParaRPr lang="en-US" sz="1200" dirty="0"/>
          </a:p>
        </p:txBody>
      </p:sp>
      <p:sp>
        <p:nvSpPr>
          <p:cNvPr id="20" name="Text 18"/>
          <p:cNvSpPr/>
          <p:nvPr/>
        </p:nvSpPr>
        <p:spPr>
          <a:xfrm>
            <a:off x="3429000" y="3218688"/>
            <a:ext cx="2468880" cy="1417320"/>
          </a:xfrm>
          <a:prstGeom prst="rect">
            <a:avLst/>
          </a:prstGeom>
          <a:noFill/>
          <a:ln/>
        </p:spPr>
        <p:txBody>
          <a:bodyPr wrap="square" lIns="0" tIns="0" rIns="0" bIns="0" rtlCol="0" anchor="t"/>
          <a:lstStyle/>
          <a:p>
            <a:pPr marL="0" indent="0">
              <a:buNone/>
            </a:pPr>
            <a:r>
              <a:rPr lang="en-US" sz="1150" dirty="0">
                <a:solidFill>
                  <a:srgbClr val="E2EBF0"/>
                </a:solidFill>
                <a:latin typeface="Calibri" pitchFamily="34" charset="0"/>
                <a:ea typeface="Calibri" pitchFamily="34" charset="-122"/>
                <a:cs typeface="Calibri" pitchFamily="34" charset="-120"/>
              </a:rPr>
              <a:t>Neural networks lack transparency to legally justify claim denials under HIPAA / GDPR obligations</a:t>
            </a:r>
            <a:endParaRPr lang="en-US" sz="1150" dirty="0"/>
          </a:p>
        </p:txBody>
      </p:sp>
      <p:sp>
        <p:nvSpPr>
          <p:cNvPr id="21" name="Shape 19"/>
          <p:cNvSpPr/>
          <p:nvPr/>
        </p:nvSpPr>
        <p:spPr>
          <a:xfrm>
            <a:off x="6217920" y="2834640"/>
            <a:ext cx="2651760" cy="1920240"/>
          </a:xfrm>
          <a:prstGeom prst="rect">
            <a:avLst/>
          </a:prstGeom>
          <a:solidFill>
            <a:srgbClr val="132030"/>
          </a:solidFill>
          <a:ln w="12700">
            <a:solidFill>
              <a:srgbClr val="0E9AA7"/>
            </a:solidFill>
            <a:prstDash val="solid"/>
          </a:ln>
          <a:effectLst>
            <a:outerShdw blurRad="63500" dist="25400" dir="8100000" algn="bl" rotWithShape="0">
              <a:srgbClr val="000000">
                <a:alpha val="20000"/>
              </a:srgbClr>
            </a:outerShdw>
          </a:effectLst>
        </p:spPr>
        <p:txBody>
          <a:bodyPr/>
          <a:lstStyle/>
          <a:p>
            <a:endParaRPr lang="en-ZA"/>
          </a:p>
        </p:txBody>
      </p:sp>
      <p:sp>
        <p:nvSpPr>
          <p:cNvPr id="22" name="Text 20"/>
          <p:cNvSpPr/>
          <p:nvPr/>
        </p:nvSpPr>
        <p:spPr>
          <a:xfrm>
            <a:off x="6309360" y="2907792"/>
            <a:ext cx="2468880" cy="292608"/>
          </a:xfrm>
          <a:prstGeom prst="rect">
            <a:avLst/>
          </a:prstGeom>
          <a:noFill/>
          <a:ln/>
        </p:spPr>
        <p:txBody>
          <a:bodyPr wrap="square" lIns="0" tIns="0" rIns="0" bIns="0" rtlCol="0" anchor="ctr"/>
          <a:lstStyle/>
          <a:p>
            <a:pPr marL="0" indent="0">
              <a:buNone/>
            </a:pPr>
            <a:r>
              <a:rPr lang="en-US" sz="1200" b="1" dirty="0">
                <a:solidFill>
                  <a:srgbClr val="0E9AA7"/>
                </a:solidFill>
                <a:latin typeface="Calibri" pitchFamily="34" charset="0"/>
                <a:ea typeface="Calibri" pitchFamily="34" charset="-122"/>
                <a:cs typeface="Calibri" pitchFamily="34" charset="-120"/>
              </a:rPr>
              <a:t>Data Privacy</a:t>
            </a:r>
            <a:endParaRPr lang="en-US" sz="1200" dirty="0"/>
          </a:p>
        </p:txBody>
      </p:sp>
      <p:sp>
        <p:nvSpPr>
          <p:cNvPr id="23" name="Text 21"/>
          <p:cNvSpPr/>
          <p:nvPr/>
        </p:nvSpPr>
        <p:spPr>
          <a:xfrm>
            <a:off x="6309360" y="3218688"/>
            <a:ext cx="2468880" cy="1417320"/>
          </a:xfrm>
          <a:prstGeom prst="rect">
            <a:avLst/>
          </a:prstGeom>
          <a:noFill/>
          <a:ln/>
        </p:spPr>
        <p:txBody>
          <a:bodyPr wrap="square" lIns="0" tIns="0" rIns="0" bIns="0" rtlCol="0" anchor="t"/>
          <a:lstStyle/>
          <a:p>
            <a:pPr marL="0" indent="0">
              <a:buNone/>
            </a:pPr>
            <a:r>
              <a:rPr lang="en-US" sz="1150" dirty="0">
                <a:solidFill>
                  <a:srgbClr val="E2EBF0"/>
                </a:solidFill>
                <a:latin typeface="Calibri" pitchFamily="34" charset="0"/>
                <a:ea typeface="Calibri" pitchFamily="34" charset="-122"/>
                <a:cs typeface="Calibri" pitchFamily="34" charset="-120"/>
              </a:rPr>
              <a:t>Strict regulations prevent data centralisation, creating data silos that limit model generalisation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LITERATURE</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1A2E3B"/>
                </a:solidFill>
                <a:latin typeface="Calibri" pitchFamily="34" charset="0"/>
                <a:ea typeface="Calibri" pitchFamily="34" charset="-122"/>
                <a:cs typeface="Calibri" pitchFamily="34" charset="-120"/>
              </a:rPr>
              <a:t>Key Literature Findings</a:t>
            </a:r>
            <a:endParaRPr lang="en-US" sz="2800" dirty="0"/>
          </a:p>
        </p:txBody>
      </p:sp>
      <p:sp>
        <p:nvSpPr>
          <p:cNvPr id="5" name="Shape 3"/>
          <p:cNvSpPr/>
          <p:nvPr/>
        </p:nvSpPr>
        <p:spPr>
          <a:xfrm>
            <a:off x="384048" y="1005840"/>
            <a:ext cx="2633472" cy="3749040"/>
          </a:xfrm>
          <a:prstGeom prst="rect">
            <a:avLst/>
          </a:prstGeom>
          <a:solidFill>
            <a:srgbClr val="FFFFFF"/>
          </a:solidFill>
          <a:ln w="12700">
            <a:solidFill>
              <a:srgbClr val="E2EBF0"/>
            </a:solidFill>
            <a:prstDash val="solid"/>
          </a:ln>
          <a:effectLst>
            <a:outerShdw blurRad="50800" dist="25400" dir="8100000" algn="bl" rotWithShape="0">
              <a:srgbClr val="000000">
                <a:alpha val="8000"/>
              </a:srgbClr>
            </a:outerShdw>
          </a:effectLst>
        </p:spPr>
        <p:txBody>
          <a:bodyPr/>
          <a:lstStyle/>
          <a:p>
            <a:endParaRPr lang="en-ZA"/>
          </a:p>
        </p:txBody>
      </p:sp>
      <p:sp>
        <p:nvSpPr>
          <p:cNvPr id="6" name="Shape 4"/>
          <p:cNvSpPr/>
          <p:nvPr/>
        </p:nvSpPr>
        <p:spPr>
          <a:xfrm>
            <a:off x="384048" y="1005840"/>
            <a:ext cx="2633472" cy="384048"/>
          </a:xfrm>
          <a:prstGeom prst="rect">
            <a:avLst/>
          </a:prstGeom>
          <a:solidFill>
            <a:srgbClr val="0E9AA7"/>
          </a:solidFill>
          <a:ln w="12700">
            <a:solidFill>
              <a:srgbClr val="0E9AA7"/>
            </a:solidFill>
            <a:prstDash val="solid"/>
          </a:ln>
        </p:spPr>
        <p:txBody>
          <a:bodyPr/>
          <a:lstStyle/>
          <a:p>
            <a:endParaRPr lang="en-ZA"/>
          </a:p>
        </p:txBody>
      </p:sp>
      <p:sp>
        <p:nvSpPr>
          <p:cNvPr id="7" name="Text 5"/>
          <p:cNvSpPr/>
          <p:nvPr/>
        </p:nvSpPr>
        <p:spPr>
          <a:xfrm>
            <a:off x="475488" y="1024128"/>
            <a:ext cx="2450592" cy="34747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Tabular Deep Learning</a:t>
            </a:r>
            <a:endParaRPr lang="en-US" sz="1250" dirty="0"/>
          </a:p>
        </p:txBody>
      </p:sp>
      <p:sp>
        <p:nvSpPr>
          <p:cNvPr id="8" name="Text 6"/>
          <p:cNvSpPr/>
          <p:nvPr/>
        </p:nvSpPr>
        <p:spPr>
          <a:xfrm>
            <a:off x="475488" y="1481328"/>
            <a:ext cx="2450592" cy="31089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2E3B"/>
                </a:solidFill>
                <a:latin typeface="Calibri" pitchFamily="34" charset="0"/>
                <a:ea typeface="Calibri" pitchFamily="34" charset="-122"/>
                <a:cs typeface="Calibri" pitchFamily="34" charset="-120"/>
              </a:rPr>
              <a:t>GBDTs remain dominant on tabular data (Gorishniy et al., 2023)</a:t>
            </a:r>
            <a:endParaRPr lang="en-US" sz="1200" dirty="0"/>
          </a:p>
          <a:p>
            <a:pPr marL="342900" indent="-342900">
              <a:spcAft>
                <a:spcPts val="800"/>
              </a:spcAft>
              <a:buSzPct val="100000"/>
              <a:buChar char="•"/>
            </a:pPr>
            <a:r>
              <a:rPr lang="en-US" sz="1200" dirty="0">
                <a:solidFill>
                  <a:srgbClr val="1A2E3B"/>
                </a:solidFill>
                <a:latin typeface="Calibri" pitchFamily="34" charset="0"/>
                <a:ea typeface="Calibri" pitchFamily="34" charset="-122"/>
                <a:cs typeface="Calibri" pitchFamily="34" charset="-120"/>
              </a:rPr>
              <a:t>TabNet uses sequential attention for instance-wise feature selection (Arik &amp; Pfister, 2020)</a:t>
            </a:r>
            <a:endParaRPr lang="en-US" sz="1200" dirty="0"/>
          </a:p>
          <a:p>
            <a:pPr marL="342900" indent="-342900">
              <a:spcAft>
                <a:spcPts val="800"/>
              </a:spcAft>
              <a:buSzPct val="100000"/>
              <a:buChar char="•"/>
            </a:pPr>
            <a:r>
              <a:rPr lang="en-US" sz="1200" dirty="0">
                <a:solidFill>
                  <a:srgbClr val="1A2E3B"/>
                </a:solidFill>
                <a:latin typeface="Calibri" pitchFamily="34" charset="0"/>
                <a:ea typeface="Calibri" pitchFamily="34" charset="-122"/>
                <a:cs typeface="Calibri" pitchFamily="34" charset="-120"/>
              </a:rPr>
              <a:t>No universally superior solution between DL and GBDTs exists</a:t>
            </a:r>
            <a:endParaRPr lang="en-US" sz="1200" dirty="0"/>
          </a:p>
        </p:txBody>
      </p:sp>
      <p:sp>
        <p:nvSpPr>
          <p:cNvPr id="9" name="Shape 7"/>
          <p:cNvSpPr/>
          <p:nvPr/>
        </p:nvSpPr>
        <p:spPr>
          <a:xfrm>
            <a:off x="3218688" y="1005840"/>
            <a:ext cx="2633472" cy="3749040"/>
          </a:xfrm>
          <a:prstGeom prst="rect">
            <a:avLst/>
          </a:prstGeom>
          <a:solidFill>
            <a:srgbClr val="FFFFFF"/>
          </a:solidFill>
          <a:ln w="12700">
            <a:solidFill>
              <a:srgbClr val="E2EBF0"/>
            </a:solidFill>
            <a:prstDash val="solid"/>
          </a:ln>
          <a:effectLst>
            <a:outerShdw blurRad="50800" dist="25400" dir="8100000" algn="bl" rotWithShape="0">
              <a:srgbClr val="000000">
                <a:alpha val="8000"/>
              </a:srgbClr>
            </a:outerShdw>
          </a:effectLst>
        </p:spPr>
        <p:txBody>
          <a:bodyPr/>
          <a:lstStyle/>
          <a:p>
            <a:endParaRPr lang="en-ZA"/>
          </a:p>
        </p:txBody>
      </p:sp>
      <p:sp>
        <p:nvSpPr>
          <p:cNvPr id="10" name="Shape 8"/>
          <p:cNvSpPr/>
          <p:nvPr/>
        </p:nvSpPr>
        <p:spPr>
          <a:xfrm>
            <a:off x="3218688" y="1005840"/>
            <a:ext cx="2633472" cy="384048"/>
          </a:xfrm>
          <a:prstGeom prst="rect">
            <a:avLst/>
          </a:prstGeom>
          <a:solidFill>
            <a:srgbClr val="0E9AA7"/>
          </a:solidFill>
          <a:ln w="12700">
            <a:solidFill>
              <a:srgbClr val="0E9AA7"/>
            </a:solidFill>
            <a:prstDash val="solid"/>
          </a:ln>
        </p:spPr>
        <p:txBody>
          <a:bodyPr/>
          <a:lstStyle/>
          <a:p>
            <a:endParaRPr lang="en-ZA"/>
          </a:p>
        </p:txBody>
      </p:sp>
      <p:sp>
        <p:nvSpPr>
          <p:cNvPr id="11" name="Text 9"/>
          <p:cNvSpPr/>
          <p:nvPr/>
        </p:nvSpPr>
        <p:spPr>
          <a:xfrm>
            <a:off x="3310128" y="1024128"/>
            <a:ext cx="2450592" cy="34747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Synthetic Data Generation</a:t>
            </a:r>
            <a:endParaRPr lang="en-US" sz="1250" dirty="0"/>
          </a:p>
        </p:txBody>
      </p:sp>
      <p:sp>
        <p:nvSpPr>
          <p:cNvPr id="12" name="Text 10"/>
          <p:cNvSpPr/>
          <p:nvPr/>
        </p:nvSpPr>
        <p:spPr>
          <a:xfrm>
            <a:off x="3310128" y="1481328"/>
            <a:ext cx="2450592" cy="31089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2E3B"/>
                </a:solidFill>
                <a:latin typeface="Calibri" pitchFamily="34" charset="0"/>
                <a:ea typeface="Calibri" pitchFamily="34" charset="-122"/>
                <a:cs typeface="Calibri" pitchFamily="34" charset="-120"/>
              </a:rPr>
              <a:t>Diffusion models (TabDDPM) outperform GANs and VAEs on tabular fidelity (Kotelnikov et al., 2023)</a:t>
            </a:r>
            <a:endParaRPr lang="en-US" sz="1200" dirty="0"/>
          </a:p>
          <a:p>
            <a:pPr marL="342900" indent="-342900">
              <a:spcAft>
                <a:spcPts val="800"/>
              </a:spcAft>
              <a:buSzPct val="100000"/>
              <a:buChar char="•"/>
            </a:pPr>
            <a:r>
              <a:rPr lang="en-US" sz="1200" dirty="0">
                <a:solidFill>
                  <a:srgbClr val="1A2E3B"/>
                </a:solidFill>
                <a:latin typeface="Calibri" pitchFamily="34" charset="0"/>
                <a:ea typeface="Calibri" pitchFamily="34" charset="-122"/>
                <a:cs typeface="Calibri" pitchFamily="34" charset="-120"/>
              </a:rPr>
              <a:t>SMOTE causes privacy leakage via low Distance to Closest Record</a:t>
            </a:r>
            <a:endParaRPr lang="en-US" sz="1200" dirty="0"/>
          </a:p>
          <a:p>
            <a:pPr marL="342900" indent="-342900">
              <a:spcAft>
                <a:spcPts val="800"/>
              </a:spcAft>
              <a:buSzPct val="100000"/>
              <a:buChar char="•"/>
            </a:pPr>
            <a:r>
              <a:rPr lang="en-US" sz="1200" dirty="0">
                <a:solidFill>
                  <a:srgbClr val="1A2E3B"/>
                </a:solidFill>
                <a:latin typeface="Calibri" pitchFamily="34" charset="0"/>
                <a:ea typeface="Calibri" pitchFamily="34" charset="-122"/>
                <a:cs typeface="Calibri" pitchFamily="34" charset="-120"/>
              </a:rPr>
              <a:t>TabDDPM uses Gaussian + multinomial diffusion for mixed data types</a:t>
            </a:r>
            <a:endParaRPr lang="en-US" sz="1200" dirty="0"/>
          </a:p>
        </p:txBody>
      </p:sp>
      <p:sp>
        <p:nvSpPr>
          <p:cNvPr id="13" name="Shape 11"/>
          <p:cNvSpPr/>
          <p:nvPr/>
        </p:nvSpPr>
        <p:spPr>
          <a:xfrm>
            <a:off x="6053328" y="1005840"/>
            <a:ext cx="2633472" cy="3749040"/>
          </a:xfrm>
          <a:prstGeom prst="rect">
            <a:avLst/>
          </a:prstGeom>
          <a:solidFill>
            <a:srgbClr val="FFFFFF"/>
          </a:solidFill>
          <a:ln w="12700">
            <a:solidFill>
              <a:srgbClr val="E2EBF0"/>
            </a:solidFill>
            <a:prstDash val="solid"/>
          </a:ln>
          <a:effectLst>
            <a:outerShdw blurRad="50800" dist="25400" dir="8100000" algn="bl" rotWithShape="0">
              <a:srgbClr val="000000">
                <a:alpha val="8000"/>
              </a:srgbClr>
            </a:outerShdw>
          </a:effectLst>
        </p:spPr>
        <p:txBody>
          <a:bodyPr/>
          <a:lstStyle/>
          <a:p>
            <a:endParaRPr lang="en-ZA"/>
          </a:p>
        </p:txBody>
      </p:sp>
      <p:sp>
        <p:nvSpPr>
          <p:cNvPr id="14" name="Shape 12"/>
          <p:cNvSpPr/>
          <p:nvPr/>
        </p:nvSpPr>
        <p:spPr>
          <a:xfrm>
            <a:off x="6053328" y="1005840"/>
            <a:ext cx="2633472" cy="384048"/>
          </a:xfrm>
          <a:prstGeom prst="rect">
            <a:avLst/>
          </a:prstGeom>
          <a:solidFill>
            <a:srgbClr val="0E9AA7"/>
          </a:solidFill>
          <a:ln w="12700">
            <a:solidFill>
              <a:srgbClr val="0E9AA7"/>
            </a:solidFill>
            <a:prstDash val="solid"/>
          </a:ln>
        </p:spPr>
        <p:txBody>
          <a:bodyPr/>
          <a:lstStyle/>
          <a:p>
            <a:endParaRPr lang="en-ZA"/>
          </a:p>
        </p:txBody>
      </p:sp>
      <p:sp>
        <p:nvSpPr>
          <p:cNvPr id="15" name="Text 13"/>
          <p:cNvSpPr/>
          <p:nvPr/>
        </p:nvSpPr>
        <p:spPr>
          <a:xfrm>
            <a:off x="6144768" y="1024128"/>
            <a:ext cx="2450592" cy="34747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Fraud Detection</a:t>
            </a:r>
            <a:endParaRPr lang="en-US" sz="1250" dirty="0"/>
          </a:p>
        </p:txBody>
      </p:sp>
      <p:sp>
        <p:nvSpPr>
          <p:cNvPr id="16" name="Text 14"/>
          <p:cNvSpPr/>
          <p:nvPr/>
        </p:nvSpPr>
        <p:spPr>
          <a:xfrm>
            <a:off x="6144768" y="1481328"/>
            <a:ext cx="2450592" cy="31089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2E3B"/>
                </a:solidFill>
                <a:latin typeface="Calibri" pitchFamily="34" charset="0"/>
                <a:ea typeface="Calibri" pitchFamily="34" charset="-122"/>
                <a:cs typeface="Calibri" pitchFamily="34" charset="-120"/>
              </a:rPr>
              <a:t>Transformer anomaly detection captures long-range dependencies (Aparna et al., 2025)</a:t>
            </a:r>
            <a:endParaRPr lang="en-US" sz="1200" dirty="0"/>
          </a:p>
          <a:p>
            <a:pPr marL="342900" indent="-342900">
              <a:spcAft>
                <a:spcPts val="800"/>
              </a:spcAft>
              <a:buSzPct val="100000"/>
              <a:buChar char="•"/>
            </a:pPr>
            <a:r>
              <a:rPr lang="en-US" sz="1200" dirty="0">
                <a:solidFill>
                  <a:srgbClr val="1A2E3B"/>
                </a:solidFill>
                <a:latin typeface="Calibri" pitchFamily="34" charset="0"/>
                <a:ea typeface="Calibri" pitchFamily="34" charset="-122"/>
                <a:cs typeface="Calibri" pitchFamily="34" charset="-120"/>
              </a:rPr>
              <a:t>Static percentile thresholds cause false positives/negatives</a:t>
            </a:r>
            <a:endParaRPr lang="en-US" sz="1200" dirty="0"/>
          </a:p>
          <a:p>
            <a:pPr marL="342900" indent="-342900">
              <a:spcAft>
                <a:spcPts val="800"/>
              </a:spcAft>
              <a:buSzPct val="100000"/>
              <a:buChar char="•"/>
            </a:pPr>
            <a:r>
              <a:rPr lang="en-US" sz="1200" dirty="0">
                <a:solidFill>
                  <a:srgbClr val="1A2E3B"/>
                </a:solidFill>
                <a:latin typeface="Calibri" pitchFamily="34" charset="0"/>
                <a:ea typeface="Calibri" pitchFamily="34" charset="-122"/>
                <a:cs typeface="Calibri" pitchFamily="34" charset="-120"/>
              </a:rPr>
              <a:t>Gap remains: no system combining interpretability + class imbalance resolution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ARCHITECTURE</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Four-Layer Pipeline Architecture</a:t>
            </a:r>
            <a:endParaRPr lang="en-US" sz="2800" dirty="0"/>
          </a:p>
        </p:txBody>
      </p:sp>
      <p:sp>
        <p:nvSpPr>
          <p:cNvPr id="5" name="Shape 3"/>
          <p:cNvSpPr/>
          <p:nvPr/>
        </p:nvSpPr>
        <p:spPr>
          <a:xfrm>
            <a:off x="384048" y="987552"/>
            <a:ext cx="1965960" cy="2743200"/>
          </a:xfrm>
          <a:prstGeom prst="rect">
            <a:avLst/>
          </a:prstGeom>
          <a:solidFill>
            <a:srgbClr val="1D4E89"/>
          </a:solidFill>
          <a:ln w="12700">
            <a:solidFill>
              <a:srgbClr val="1D4E89"/>
            </a:solidFill>
            <a:prstDash val="solid"/>
          </a:ln>
          <a:effectLst>
            <a:outerShdw blurRad="76200" dist="25400" dir="8100000" algn="bl" rotWithShape="0">
              <a:srgbClr val="000000">
                <a:alpha val="15000"/>
              </a:srgbClr>
            </a:outerShdw>
          </a:effectLst>
        </p:spPr>
        <p:txBody>
          <a:bodyPr/>
          <a:lstStyle/>
          <a:p>
            <a:endParaRPr lang="en-ZA"/>
          </a:p>
        </p:txBody>
      </p:sp>
      <p:sp>
        <p:nvSpPr>
          <p:cNvPr id="6" name="Text 4"/>
          <p:cNvSpPr/>
          <p:nvPr/>
        </p:nvSpPr>
        <p:spPr>
          <a:xfrm>
            <a:off x="384048" y="1033272"/>
            <a:ext cx="19659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L1</a:t>
            </a:r>
            <a:endParaRPr lang="en-US" sz="1000" dirty="0"/>
          </a:p>
        </p:txBody>
      </p:sp>
      <p:sp>
        <p:nvSpPr>
          <p:cNvPr id="7" name="Text 5"/>
          <p:cNvSpPr/>
          <p:nvPr/>
        </p:nvSpPr>
        <p:spPr>
          <a:xfrm>
            <a:off x="384048" y="1280160"/>
            <a:ext cx="196596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 Preparation</a:t>
            </a:r>
            <a:endParaRPr lang="en-US" sz="1200" dirty="0"/>
          </a:p>
        </p:txBody>
      </p:sp>
      <p:sp>
        <p:nvSpPr>
          <p:cNvPr id="8" name="Text 6"/>
          <p:cNvSpPr/>
          <p:nvPr/>
        </p:nvSpPr>
        <p:spPr>
          <a:xfrm>
            <a:off x="429768" y="1609344"/>
            <a:ext cx="1874520" cy="2057400"/>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Schema validation</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Class-stratified split</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Feature encoding</a:t>
            </a:r>
            <a:endParaRPr lang="en-US" sz="1000" dirty="0"/>
          </a:p>
        </p:txBody>
      </p:sp>
      <p:sp>
        <p:nvSpPr>
          <p:cNvPr id="9" name="Shape 7"/>
          <p:cNvSpPr/>
          <p:nvPr/>
        </p:nvSpPr>
        <p:spPr>
          <a:xfrm>
            <a:off x="2350008" y="2359152"/>
            <a:ext cx="164592" cy="0"/>
          </a:xfrm>
          <a:prstGeom prst="line">
            <a:avLst/>
          </a:prstGeom>
          <a:noFill/>
          <a:ln w="25400">
            <a:solidFill>
              <a:srgbClr val="0E9AA7"/>
            </a:solidFill>
            <a:prstDash val="solid"/>
          </a:ln>
        </p:spPr>
        <p:txBody>
          <a:bodyPr/>
          <a:lstStyle/>
          <a:p>
            <a:endParaRPr lang="en-ZA"/>
          </a:p>
        </p:txBody>
      </p:sp>
      <p:sp>
        <p:nvSpPr>
          <p:cNvPr id="10" name="Shape 8"/>
          <p:cNvSpPr/>
          <p:nvPr/>
        </p:nvSpPr>
        <p:spPr>
          <a:xfrm>
            <a:off x="2514600" y="987552"/>
            <a:ext cx="1965960" cy="2743200"/>
          </a:xfrm>
          <a:prstGeom prst="rect">
            <a:avLst/>
          </a:prstGeom>
          <a:solidFill>
            <a:srgbClr val="0A7581"/>
          </a:solidFill>
          <a:ln w="12700">
            <a:solidFill>
              <a:srgbClr val="0A7581"/>
            </a:solidFill>
            <a:prstDash val="solid"/>
          </a:ln>
          <a:effectLst>
            <a:outerShdw blurRad="76200" dist="25400" dir="8100000" algn="bl" rotWithShape="0">
              <a:srgbClr val="000000">
                <a:alpha val="15000"/>
              </a:srgbClr>
            </a:outerShdw>
          </a:effectLst>
        </p:spPr>
        <p:txBody>
          <a:bodyPr/>
          <a:lstStyle/>
          <a:p>
            <a:endParaRPr lang="en-ZA"/>
          </a:p>
        </p:txBody>
      </p:sp>
      <p:sp>
        <p:nvSpPr>
          <p:cNvPr id="11" name="Text 9"/>
          <p:cNvSpPr/>
          <p:nvPr/>
        </p:nvSpPr>
        <p:spPr>
          <a:xfrm>
            <a:off x="2514600" y="1033272"/>
            <a:ext cx="19659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L2</a:t>
            </a:r>
            <a:endParaRPr lang="en-US" sz="1000" dirty="0"/>
          </a:p>
        </p:txBody>
      </p:sp>
      <p:sp>
        <p:nvSpPr>
          <p:cNvPr id="12" name="Text 10"/>
          <p:cNvSpPr/>
          <p:nvPr/>
        </p:nvSpPr>
        <p:spPr>
          <a:xfrm>
            <a:off x="2514600" y="1280160"/>
            <a:ext cx="196596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TabDDPM Synthesis</a:t>
            </a:r>
            <a:endParaRPr lang="en-US" sz="1200" dirty="0"/>
          </a:p>
        </p:txBody>
      </p:sp>
      <p:sp>
        <p:nvSpPr>
          <p:cNvPr id="13" name="Text 11"/>
          <p:cNvSpPr/>
          <p:nvPr/>
        </p:nvSpPr>
        <p:spPr>
          <a:xfrm>
            <a:off x="2560320" y="1609344"/>
            <a:ext cx="1874520" cy="2057400"/>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Gaussian diffusion (numerical)</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Multinomial diffusion (categorical)</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4,066 synthetic fraud samples</a:t>
            </a:r>
            <a:endParaRPr lang="en-US" sz="1000" dirty="0"/>
          </a:p>
        </p:txBody>
      </p:sp>
      <p:sp>
        <p:nvSpPr>
          <p:cNvPr id="14" name="Shape 12"/>
          <p:cNvSpPr/>
          <p:nvPr/>
        </p:nvSpPr>
        <p:spPr>
          <a:xfrm>
            <a:off x="4480560" y="2359152"/>
            <a:ext cx="164592" cy="0"/>
          </a:xfrm>
          <a:prstGeom prst="line">
            <a:avLst/>
          </a:prstGeom>
          <a:noFill/>
          <a:ln w="25400">
            <a:solidFill>
              <a:srgbClr val="0E9AA7"/>
            </a:solidFill>
            <a:prstDash val="solid"/>
          </a:ln>
        </p:spPr>
        <p:txBody>
          <a:bodyPr/>
          <a:lstStyle/>
          <a:p>
            <a:endParaRPr lang="en-ZA"/>
          </a:p>
        </p:txBody>
      </p:sp>
      <p:sp>
        <p:nvSpPr>
          <p:cNvPr id="15" name="Shape 13"/>
          <p:cNvSpPr/>
          <p:nvPr/>
        </p:nvSpPr>
        <p:spPr>
          <a:xfrm>
            <a:off x="4645152" y="987552"/>
            <a:ext cx="1965960" cy="2743200"/>
          </a:xfrm>
          <a:prstGeom prst="rect">
            <a:avLst/>
          </a:prstGeom>
          <a:solidFill>
            <a:srgbClr val="1D3557"/>
          </a:solidFill>
          <a:ln w="12700">
            <a:solidFill>
              <a:srgbClr val="1D3557"/>
            </a:solidFill>
            <a:prstDash val="solid"/>
          </a:ln>
          <a:effectLst>
            <a:outerShdw blurRad="76200" dist="25400" dir="8100000" algn="bl" rotWithShape="0">
              <a:srgbClr val="000000">
                <a:alpha val="15000"/>
              </a:srgbClr>
            </a:outerShdw>
          </a:effectLst>
        </p:spPr>
        <p:txBody>
          <a:bodyPr/>
          <a:lstStyle/>
          <a:p>
            <a:endParaRPr lang="en-ZA"/>
          </a:p>
        </p:txBody>
      </p:sp>
      <p:sp>
        <p:nvSpPr>
          <p:cNvPr id="16" name="Text 14"/>
          <p:cNvSpPr/>
          <p:nvPr/>
        </p:nvSpPr>
        <p:spPr>
          <a:xfrm>
            <a:off x="4645152" y="1033272"/>
            <a:ext cx="19659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L3</a:t>
            </a:r>
            <a:endParaRPr lang="en-US" sz="1000" dirty="0"/>
          </a:p>
        </p:txBody>
      </p:sp>
      <p:sp>
        <p:nvSpPr>
          <p:cNvPr id="17" name="Text 15"/>
          <p:cNvSpPr/>
          <p:nvPr/>
        </p:nvSpPr>
        <p:spPr>
          <a:xfrm>
            <a:off x="4645152" y="1280160"/>
            <a:ext cx="196596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TabNet Classifier</a:t>
            </a:r>
            <a:endParaRPr lang="en-US" sz="1200" dirty="0"/>
          </a:p>
        </p:txBody>
      </p:sp>
      <p:sp>
        <p:nvSpPr>
          <p:cNvPr id="18" name="Text 16"/>
          <p:cNvSpPr/>
          <p:nvPr/>
        </p:nvSpPr>
        <p:spPr>
          <a:xfrm>
            <a:off x="4690872" y="1609344"/>
            <a:ext cx="1874520" cy="2057400"/>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Sequential attention</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Soft feature selection</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AUC-ROC 0.99</a:t>
            </a:r>
            <a:endParaRPr lang="en-US" sz="1000" dirty="0"/>
          </a:p>
        </p:txBody>
      </p:sp>
      <p:sp>
        <p:nvSpPr>
          <p:cNvPr id="19" name="Shape 17"/>
          <p:cNvSpPr/>
          <p:nvPr/>
        </p:nvSpPr>
        <p:spPr>
          <a:xfrm>
            <a:off x="6611112" y="2359152"/>
            <a:ext cx="164592" cy="0"/>
          </a:xfrm>
          <a:prstGeom prst="line">
            <a:avLst/>
          </a:prstGeom>
          <a:noFill/>
          <a:ln w="25400">
            <a:solidFill>
              <a:srgbClr val="0E9AA7"/>
            </a:solidFill>
            <a:prstDash val="solid"/>
          </a:ln>
        </p:spPr>
        <p:txBody>
          <a:bodyPr/>
          <a:lstStyle/>
          <a:p>
            <a:endParaRPr lang="en-ZA"/>
          </a:p>
        </p:txBody>
      </p:sp>
      <p:sp>
        <p:nvSpPr>
          <p:cNvPr id="20" name="Shape 18"/>
          <p:cNvSpPr/>
          <p:nvPr/>
        </p:nvSpPr>
        <p:spPr>
          <a:xfrm>
            <a:off x="6775704" y="987552"/>
            <a:ext cx="1965960" cy="2743200"/>
          </a:xfrm>
          <a:prstGeom prst="rect">
            <a:avLst/>
          </a:prstGeom>
          <a:solidFill>
            <a:srgbClr val="2E4057"/>
          </a:solidFill>
          <a:ln w="12700">
            <a:solidFill>
              <a:srgbClr val="2E4057"/>
            </a:solidFill>
            <a:prstDash val="solid"/>
          </a:ln>
          <a:effectLst>
            <a:outerShdw blurRad="76200" dist="25400" dir="8100000" algn="bl" rotWithShape="0">
              <a:srgbClr val="000000">
                <a:alpha val="15000"/>
              </a:srgbClr>
            </a:outerShdw>
          </a:effectLst>
        </p:spPr>
        <p:txBody>
          <a:bodyPr/>
          <a:lstStyle/>
          <a:p>
            <a:endParaRPr lang="en-ZA"/>
          </a:p>
        </p:txBody>
      </p:sp>
      <p:sp>
        <p:nvSpPr>
          <p:cNvPr id="21" name="Text 19"/>
          <p:cNvSpPr/>
          <p:nvPr/>
        </p:nvSpPr>
        <p:spPr>
          <a:xfrm>
            <a:off x="6775704" y="1033272"/>
            <a:ext cx="19659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L4</a:t>
            </a:r>
            <a:endParaRPr lang="en-US" sz="1000" dirty="0"/>
          </a:p>
        </p:txBody>
      </p:sp>
      <p:sp>
        <p:nvSpPr>
          <p:cNvPr id="22" name="Text 20"/>
          <p:cNvSpPr/>
          <p:nvPr/>
        </p:nvSpPr>
        <p:spPr>
          <a:xfrm>
            <a:off x="6775704" y="1280160"/>
            <a:ext cx="196596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Explainability</a:t>
            </a:r>
            <a:endParaRPr lang="en-US" sz="1200" dirty="0"/>
          </a:p>
        </p:txBody>
      </p:sp>
      <p:sp>
        <p:nvSpPr>
          <p:cNvPr id="23" name="Text 21"/>
          <p:cNvSpPr/>
          <p:nvPr/>
        </p:nvSpPr>
        <p:spPr>
          <a:xfrm>
            <a:off x="6821424" y="1609344"/>
            <a:ext cx="1874520" cy="2057400"/>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SHAP (global)</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LIME (local)</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Human-readable audit report</a:t>
            </a:r>
            <a:endParaRPr lang="en-US" sz="1000" dirty="0"/>
          </a:p>
        </p:txBody>
      </p:sp>
      <p:sp>
        <p:nvSpPr>
          <p:cNvPr id="24" name="Shape 22"/>
          <p:cNvSpPr/>
          <p:nvPr/>
        </p:nvSpPr>
        <p:spPr>
          <a:xfrm>
            <a:off x="384048" y="3913632"/>
            <a:ext cx="8375904" cy="566928"/>
          </a:xfrm>
          <a:prstGeom prst="rect">
            <a:avLst/>
          </a:prstGeom>
          <a:solidFill>
            <a:srgbClr val="0A1929"/>
          </a:solidFill>
          <a:ln w="12700">
            <a:solidFill>
              <a:srgbClr val="0E9AA7"/>
            </a:solidFill>
            <a:prstDash val="solid"/>
          </a:ln>
        </p:spPr>
        <p:txBody>
          <a:bodyPr/>
          <a:lstStyle/>
          <a:p>
            <a:endParaRPr lang="en-ZA"/>
          </a:p>
        </p:txBody>
      </p:sp>
      <p:sp>
        <p:nvSpPr>
          <p:cNvPr id="25" name="Text 23"/>
          <p:cNvSpPr/>
          <p:nvPr/>
        </p:nvSpPr>
        <p:spPr>
          <a:xfrm>
            <a:off x="384048" y="3913632"/>
            <a:ext cx="8375904" cy="566928"/>
          </a:xfrm>
          <a:prstGeom prst="rect">
            <a:avLst/>
          </a:prstGeom>
          <a:noFill/>
          <a:ln/>
        </p:spPr>
        <p:txBody>
          <a:bodyPr wrap="square" lIns="0" tIns="0" rIns="0" bIns="0" rtlCol="0" anchor="ctr"/>
          <a:lstStyle/>
          <a:p>
            <a:pPr marL="0" indent="0" algn="ctr">
              <a:buNone/>
            </a:pPr>
            <a:r>
              <a:rPr lang="en-US" sz="1200" dirty="0">
                <a:solidFill>
                  <a:srgbClr val="C8EEF2"/>
                </a:solidFill>
                <a:latin typeface="Calibri" pitchFamily="34" charset="0"/>
                <a:ea typeface="Calibri" pitchFamily="34" charset="-122"/>
                <a:cs typeface="Calibri" pitchFamily="34" charset="-120"/>
              </a:rPr>
              <a:t>Dataset: NHIS Healthcare Claims &amp; Fraud  |  4,390 records  |  1% fraud minority class  |  8 features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LAYER 1</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1A2E3B"/>
                </a:solidFill>
                <a:latin typeface="Calibri" pitchFamily="34" charset="0"/>
                <a:ea typeface="Calibri" pitchFamily="34" charset="-122"/>
                <a:cs typeface="Calibri" pitchFamily="34" charset="-120"/>
              </a:rPr>
              <a:t>Data Preparation Layer</a:t>
            </a:r>
            <a:endParaRPr lang="en-US" sz="2800" dirty="0"/>
          </a:p>
        </p:txBody>
      </p:sp>
      <p:sp>
        <p:nvSpPr>
          <p:cNvPr id="5" name="Shape 3"/>
          <p:cNvSpPr/>
          <p:nvPr/>
        </p:nvSpPr>
        <p:spPr>
          <a:xfrm>
            <a:off x="384048" y="1024128"/>
            <a:ext cx="5029200" cy="1170432"/>
          </a:xfrm>
          <a:prstGeom prst="rect">
            <a:avLst/>
          </a:prstGeom>
          <a:solidFill>
            <a:srgbClr val="FFFFFF"/>
          </a:solidFill>
          <a:ln w="12700">
            <a:solidFill>
              <a:srgbClr val="E2EBF0"/>
            </a:solidFill>
            <a:prstDash val="solid"/>
          </a:ln>
          <a:effectLst>
            <a:outerShdw blurRad="50800" dist="25400" dir="8100000" algn="bl" rotWithShape="0">
              <a:srgbClr val="000000">
                <a:alpha val="8000"/>
              </a:srgbClr>
            </a:outerShdw>
          </a:effectLst>
        </p:spPr>
        <p:txBody>
          <a:bodyPr/>
          <a:lstStyle/>
          <a:p>
            <a:endParaRPr lang="en-ZA"/>
          </a:p>
        </p:txBody>
      </p:sp>
      <p:sp>
        <p:nvSpPr>
          <p:cNvPr id="6" name="Shape 4"/>
          <p:cNvSpPr/>
          <p:nvPr/>
        </p:nvSpPr>
        <p:spPr>
          <a:xfrm>
            <a:off x="384048" y="1024128"/>
            <a:ext cx="54864" cy="1170432"/>
          </a:xfrm>
          <a:prstGeom prst="rect">
            <a:avLst/>
          </a:prstGeom>
          <a:solidFill>
            <a:srgbClr val="0E9AA7"/>
          </a:solidFill>
          <a:ln w="12700">
            <a:solidFill>
              <a:srgbClr val="0E9AA7"/>
            </a:solidFill>
            <a:prstDash val="solid"/>
          </a:ln>
        </p:spPr>
        <p:txBody>
          <a:bodyPr/>
          <a:lstStyle/>
          <a:p>
            <a:endParaRPr lang="en-ZA"/>
          </a:p>
        </p:txBody>
      </p:sp>
      <p:sp>
        <p:nvSpPr>
          <p:cNvPr id="7" name="Text 5"/>
          <p:cNvSpPr/>
          <p:nvPr/>
        </p:nvSpPr>
        <p:spPr>
          <a:xfrm>
            <a:off x="530352" y="1097280"/>
            <a:ext cx="4754880" cy="256032"/>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Data Loader</a:t>
            </a:r>
            <a:endParaRPr lang="en-US" sz="1300" dirty="0"/>
          </a:p>
        </p:txBody>
      </p:sp>
      <p:sp>
        <p:nvSpPr>
          <p:cNvPr id="8" name="Text 6"/>
          <p:cNvSpPr/>
          <p:nvPr/>
        </p:nvSpPr>
        <p:spPr>
          <a:xfrm>
            <a:off x="530352" y="1389888"/>
            <a:ext cx="4754880" cy="713232"/>
          </a:xfrm>
          <a:prstGeom prst="rect">
            <a:avLst/>
          </a:prstGeom>
          <a:noFill/>
          <a:ln/>
        </p:spPr>
        <p:txBody>
          <a:bodyPr wrap="square" lIns="0" tIns="0" rIns="0" bIns="0" rtlCol="0" anchor="t"/>
          <a:lstStyle/>
          <a:p>
            <a:pPr marL="0" indent="0">
              <a:buNone/>
            </a:pPr>
            <a:r>
              <a:rPr lang="en-US" sz="1200" dirty="0">
                <a:solidFill>
                  <a:srgbClr val="1A2E3B"/>
                </a:solidFill>
                <a:latin typeface="Calibri" pitchFamily="34" charset="0"/>
                <a:ea typeface="Calibri" pitchFamily="34" charset="-122"/>
                <a:cs typeface="Calibri" pitchFamily="34" charset="-120"/>
              </a:rPr>
              <a:t>Validates schema such as feature names, data types, required columns. Prevents silent structural errors from propagating into encoding.</a:t>
            </a:r>
            <a:endParaRPr lang="en-US" sz="1200" dirty="0"/>
          </a:p>
        </p:txBody>
      </p:sp>
      <p:sp>
        <p:nvSpPr>
          <p:cNvPr id="9" name="Shape 7"/>
          <p:cNvSpPr/>
          <p:nvPr/>
        </p:nvSpPr>
        <p:spPr>
          <a:xfrm>
            <a:off x="384048" y="2322576"/>
            <a:ext cx="5029200" cy="1170432"/>
          </a:xfrm>
          <a:prstGeom prst="rect">
            <a:avLst/>
          </a:prstGeom>
          <a:solidFill>
            <a:srgbClr val="FFFFFF"/>
          </a:solidFill>
          <a:ln w="12700">
            <a:solidFill>
              <a:srgbClr val="E2EBF0"/>
            </a:solidFill>
            <a:prstDash val="solid"/>
          </a:ln>
          <a:effectLst>
            <a:outerShdw blurRad="50800" dist="25400" dir="8100000" algn="bl" rotWithShape="0">
              <a:srgbClr val="000000">
                <a:alpha val="8000"/>
              </a:srgbClr>
            </a:outerShdw>
          </a:effectLst>
        </p:spPr>
        <p:txBody>
          <a:bodyPr/>
          <a:lstStyle/>
          <a:p>
            <a:endParaRPr lang="en-ZA"/>
          </a:p>
        </p:txBody>
      </p:sp>
      <p:sp>
        <p:nvSpPr>
          <p:cNvPr id="10" name="Shape 8"/>
          <p:cNvSpPr/>
          <p:nvPr/>
        </p:nvSpPr>
        <p:spPr>
          <a:xfrm>
            <a:off x="384048" y="2322576"/>
            <a:ext cx="54864" cy="1170432"/>
          </a:xfrm>
          <a:prstGeom prst="rect">
            <a:avLst/>
          </a:prstGeom>
          <a:solidFill>
            <a:srgbClr val="0E9AA7"/>
          </a:solidFill>
          <a:ln w="12700">
            <a:solidFill>
              <a:srgbClr val="0E9AA7"/>
            </a:solidFill>
            <a:prstDash val="solid"/>
          </a:ln>
        </p:spPr>
        <p:txBody>
          <a:bodyPr/>
          <a:lstStyle/>
          <a:p>
            <a:endParaRPr lang="en-ZA"/>
          </a:p>
        </p:txBody>
      </p:sp>
      <p:sp>
        <p:nvSpPr>
          <p:cNvPr id="11" name="Text 9"/>
          <p:cNvSpPr/>
          <p:nvPr/>
        </p:nvSpPr>
        <p:spPr>
          <a:xfrm>
            <a:off x="530352" y="2395728"/>
            <a:ext cx="4754880" cy="256032"/>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Data Splitter</a:t>
            </a:r>
            <a:endParaRPr lang="en-US" sz="1300" dirty="0"/>
          </a:p>
        </p:txBody>
      </p:sp>
      <p:sp>
        <p:nvSpPr>
          <p:cNvPr id="12" name="Text 10"/>
          <p:cNvSpPr/>
          <p:nvPr/>
        </p:nvSpPr>
        <p:spPr>
          <a:xfrm>
            <a:off x="530352" y="2688336"/>
            <a:ext cx="4754880" cy="713232"/>
          </a:xfrm>
          <a:prstGeom prst="rect">
            <a:avLst/>
          </a:prstGeom>
          <a:noFill/>
          <a:ln/>
        </p:spPr>
        <p:txBody>
          <a:bodyPr wrap="square" lIns="0" tIns="0" rIns="0" bIns="0" rtlCol="0" anchor="t"/>
          <a:lstStyle/>
          <a:p>
            <a:pPr marL="0" indent="0">
              <a:buNone/>
            </a:pPr>
            <a:r>
              <a:rPr lang="en-US" sz="1200" dirty="0">
                <a:solidFill>
                  <a:srgbClr val="1A2E3B"/>
                </a:solidFill>
                <a:latin typeface="Calibri" pitchFamily="34" charset="0"/>
                <a:ea typeface="Calibri" pitchFamily="34" charset="-122"/>
                <a:cs typeface="Calibri" pitchFamily="34" charset="-120"/>
              </a:rPr>
              <a:t>Stratified 70/15/15 train-validation-test split before encoding to prevent data leakage. Preserves 1% fraud ratio across all partitions.</a:t>
            </a:r>
            <a:endParaRPr lang="en-US" sz="1200" dirty="0"/>
          </a:p>
        </p:txBody>
      </p:sp>
      <p:sp>
        <p:nvSpPr>
          <p:cNvPr id="13" name="Shape 11"/>
          <p:cNvSpPr/>
          <p:nvPr/>
        </p:nvSpPr>
        <p:spPr>
          <a:xfrm>
            <a:off x="384048" y="3621024"/>
            <a:ext cx="5029200" cy="1170432"/>
          </a:xfrm>
          <a:prstGeom prst="rect">
            <a:avLst/>
          </a:prstGeom>
          <a:solidFill>
            <a:srgbClr val="FFFFFF"/>
          </a:solidFill>
          <a:ln w="12700">
            <a:solidFill>
              <a:srgbClr val="E2EBF0"/>
            </a:solidFill>
            <a:prstDash val="solid"/>
          </a:ln>
          <a:effectLst>
            <a:outerShdw blurRad="50800" dist="25400" dir="8100000" algn="bl" rotWithShape="0">
              <a:srgbClr val="000000">
                <a:alpha val="8000"/>
              </a:srgbClr>
            </a:outerShdw>
          </a:effectLst>
        </p:spPr>
        <p:txBody>
          <a:bodyPr/>
          <a:lstStyle/>
          <a:p>
            <a:endParaRPr lang="en-ZA"/>
          </a:p>
        </p:txBody>
      </p:sp>
      <p:sp>
        <p:nvSpPr>
          <p:cNvPr id="14" name="Shape 12"/>
          <p:cNvSpPr/>
          <p:nvPr/>
        </p:nvSpPr>
        <p:spPr>
          <a:xfrm>
            <a:off x="384048" y="3621024"/>
            <a:ext cx="54864" cy="1170432"/>
          </a:xfrm>
          <a:prstGeom prst="rect">
            <a:avLst/>
          </a:prstGeom>
          <a:solidFill>
            <a:srgbClr val="0E9AA7"/>
          </a:solidFill>
          <a:ln w="12700">
            <a:solidFill>
              <a:srgbClr val="0E9AA7"/>
            </a:solidFill>
            <a:prstDash val="solid"/>
          </a:ln>
        </p:spPr>
        <p:txBody>
          <a:bodyPr/>
          <a:lstStyle/>
          <a:p>
            <a:endParaRPr lang="en-ZA"/>
          </a:p>
        </p:txBody>
      </p:sp>
      <p:sp>
        <p:nvSpPr>
          <p:cNvPr id="15" name="Text 13"/>
          <p:cNvSpPr/>
          <p:nvPr/>
        </p:nvSpPr>
        <p:spPr>
          <a:xfrm>
            <a:off x="530352" y="3694176"/>
            <a:ext cx="4754880" cy="256032"/>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Feature Encoder</a:t>
            </a:r>
            <a:endParaRPr lang="en-US" sz="1300" dirty="0"/>
          </a:p>
        </p:txBody>
      </p:sp>
      <p:sp>
        <p:nvSpPr>
          <p:cNvPr id="16" name="Text 14"/>
          <p:cNvSpPr/>
          <p:nvPr/>
        </p:nvSpPr>
        <p:spPr>
          <a:xfrm>
            <a:off x="530352" y="3986784"/>
            <a:ext cx="4754880" cy="713232"/>
          </a:xfrm>
          <a:prstGeom prst="rect">
            <a:avLst/>
          </a:prstGeom>
          <a:noFill/>
          <a:ln/>
        </p:spPr>
        <p:txBody>
          <a:bodyPr wrap="square" lIns="0" tIns="0" rIns="0" bIns="0" rtlCol="0" anchor="t"/>
          <a:lstStyle/>
          <a:p>
            <a:pPr marL="0" indent="0">
              <a:buNone/>
            </a:pPr>
            <a:r>
              <a:rPr lang="en-US" sz="1200" dirty="0">
                <a:solidFill>
                  <a:srgbClr val="1A2E3B"/>
                </a:solidFill>
                <a:latin typeface="Calibri" pitchFamily="34" charset="0"/>
                <a:ea typeface="Calibri" pitchFamily="34" charset="-122"/>
                <a:cs typeface="Calibri" pitchFamily="34" charset="-120"/>
              </a:rPr>
              <a:t>Dual encoding: Gaussian quantile normalisation + integer indices for TabDDPM; minimal batch-norm encoding for TabNet.</a:t>
            </a:r>
            <a:endParaRPr lang="en-US" sz="1200" dirty="0"/>
          </a:p>
        </p:txBody>
      </p:sp>
      <p:sp>
        <p:nvSpPr>
          <p:cNvPr id="17" name="Shape 15"/>
          <p:cNvSpPr/>
          <p:nvPr/>
        </p:nvSpPr>
        <p:spPr>
          <a:xfrm>
            <a:off x="5669280" y="1024128"/>
            <a:ext cx="3017520" cy="3749040"/>
          </a:xfrm>
          <a:prstGeom prst="rect">
            <a:avLst/>
          </a:prstGeom>
          <a:solidFill>
            <a:srgbClr val="0D1B2A"/>
          </a:solidFill>
          <a:ln w="12700">
            <a:solidFill>
              <a:srgbClr val="0E9AA7"/>
            </a:solidFill>
            <a:prstDash val="solid"/>
          </a:ln>
          <a:effectLst>
            <a:outerShdw blurRad="63500" dist="25400" dir="8100000" algn="bl" rotWithShape="0">
              <a:srgbClr val="000000">
                <a:alpha val="15000"/>
              </a:srgbClr>
            </a:outerShdw>
          </a:effectLst>
        </p:spPr>
        <p:txBody>
          <a:bodyPr/>
          <a:lstStyle/>
          <a:p>
            <a:endParaRPr lang="en-ZA"/>
          </a:p>
        </p:txBody>
      </p:sp>
      <p:sp>
        <p:nvSpPr>
          <p:cNvPr id="18" name="Text 16"/>
          <p:cNvSpPr/>
          <p:nvPr/>
        </p:nvSpPr>
        <p:spPr>
          <a:xfrm>
            <a:off x="5669280" y="1078992"/>
            <a:ext cx="3017520" cy="329184"/>
          </a:xfrm>
          <a:prstGeom prst="rect">
            <a:avLst/>
          </a:prstGeom>
          <a:noFill/>
          <a:ln/>
        </p:spPr>
        <p:txBody>
          <a:bodyPr wrap="square" lIns="0" tIns="0" rIns="0" bIns="0" rtlCol="0" anchor="ctr"/>
          <a:lstStyle/>
          <a:p>
            <a:pPr marL="0" indent="0" algn="ctr">
              <a:buNone/>
            </a:pPr>
            <a:r>
              <a:rPr lang="en-US" sz="1300" b="1" dirty="0">
                <a:solidFill>
                  <a:srgbClr val="0E9AA7"/>
                </a:solidFill>
                <a:latin typeface="Calibri" pitchFamily="34" charset="0"/>
                <a:ea typeface="Calibri" pitchFamily="34" charset="-122"/>
                <a:cs typeface="Calibri" pitchFamily="34" charset="-120"/>
              </a:rPr>
              <a:t>Dataset Features</a:t>
            </a:r>
            <a:endParaRPr lang="en-US" sz="1300" dirty="0"/>
          </a:p>
        </p:txBody>
      </p:sp>
      <p:sp>
        <p:nvSpPr>
          <p:cNvPr id="19" name="Text 17"/>
          <p:cNvSpPr/>
          <p:nvPr/>
        </p:nvSpPr>
        <p:spPr>
          <a:xfrm>
            <a:off x="5760720" y="1481328"/>
            <a:ext cx="1005840" cy="228600"/>
          </a:xfrm>
          <a:prstGeom prst="rect">
            <a:avLst/>
          </a:prstGeom>
          <a:noFill/>
          <a:ln/>
        </p:spPr>
        <p:txBody>
          <a:bodyPr wrap="square" lIns="0" tIns="0" rIns="0" bIns="0" rtlCol="0" anchor="ctr"/>
          <a:lstStyle/>
          <a:p>
            <a:pPr marL="0" indent="0">
              <a:buNone/>
            </a:pPr>
            <a:r>
              <a:rPr lang="en-US" sz="1000" b="1" dirty="0">
                <a:solidFill>
                  <a:srgbClr val="C8EEF2"/>
                </a:solidFill>
                <a:latin typeface="Calibri" pitchFamily="34" charset="0"/>
                <a:ea typeface="Calibri" pitchFamily="34" charset="-122"/>
                <a:cs typeface="Calibri" pitchFamily="34" charset="-120"/>
              </a:rPr>
              <a:t>Numerical</a:t>
            </a:r>
            <a:endParaRPr lang="en-US" sz="1000" dirty="0"/>
          </a:p>
        </p:txBody>
      </p:sp>
      <p:sp>
        <p:nvSpPr>
          <p:cNvPr id="20" name="Text 18"/>
          <p:cNvSpPr/>
          <p:nvPr/>
        </p:nvSpPr>
        <p:spPr>
          <a:xfrm>
            <a:off x="5760720" y="1719072"/>
            <a:ext cx="283464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Age, Amount Billed</a:t>
            </a:r>
            <a:endParaRPr lang="en-US" sz="1150" dirty="0"/>
          </a:p>
        </p:txBody>
      </p:sp>
      <p:sp>
        <p:nvSpPr>
          <p:cNvPr id="21" name="Text 19"/>
          <p:cNvSpPr/>
          <p:nvPr/>
        </p:nvSpPr>
        <p:spPr>
          <a:xfrm>
            <a:off x="5760720" y="2231136"/>
            <a:ext cx="1005840" cy="228600"/>
          </a:xfrm>
          <a:prstGeom prst="rect">
            <a:avLst/>
          </a:prstGeom>
          <a:noFill/>
          <a:ln/>
        </p:spPr>
        <p:txBody>
          <a:bodyPr wrap="square" lIns="0" tIns="0" rIns="0" bIns="0" rtlCol="0" anchor="ctr"/>
          <a:lstStyle/>
          <a:p>
            <a:pPr marL="0" indent="0">
              <a:buNone/>
            </a:pPr>
            <a:r>
              <a:rPr lang="en-US" sz="1000" b="1" dirty="0">
                <a:solidFill>
                  <a:srgbClr val="C8EEF2"/>
                </a:solidFill>
                <a:latin typeface="Calibri" pitchFamily="34" charset="0"/>
                <a:ea typeface="Calibri" pitchFamily="34" charset="-122"/>
                <a:cs typeface="Calibri" pitchFamily="34" charset="-120"/>
              </a:rPr>
              <a:t>Categorical</a:t>
            </a:r>
            <a:endParaRPr lang="en-US" sz="1000" dirty="0"/>
          </a:p>
        </p:txBody>
      </p:sp>
      <p:sp>
        <p:nvSpPr>
          <p:cNvPr id="22" name="Text 20"/>
          <p:cNvSpPr/>
          <p:nvPr/>
        </p:nvSpPr>
        <p:spPr>
          <a:xfrm>
            <a:off x="5760720" y="2468880"/>
            <a:ext cx="283464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Gender, Diagnosis, Fraud Type</a:t>
            </a:r>
            <a:endParaRPr lang="en-US" sz="1150" dirty="0"/>
          </a:p>
        </p:txBody>
      </p:sp>
      <p:sp>
        <p:nvSpPr>
          <p:cNvPr id="23" name="Text 21"/>
          <p:cNvSpPr/>
          <p:nvPr/>
        </p:nvSpPr>
        <p:spPr>
          <a:xfrm>
            <a:off x="5760720" y="2980944"/>
            <a:ext cx="1005840" cy="228600"/>
          </a:xfrm>
          <a:prstGeom prst="rect">
            <a:avLst/>
          </a:prstGeom>
          <a:noFill/>
          <a:ln/>
        </p:spPr>
        <p:txBody>
          <a:bodyPr wrap="square" lIns="0" tIns="0" rIns="0" bIns="0" rtlCol="0" anchor="ctr"/>
          <a:lstStyle/>
          <a:p>
            <a:pPr marL="0" indent="0">
              <a:buNone/>
            </a:pPr>
            <a:r>
              <a:rPr lang="en-US" sz="1000" b="1" dirty="0">
                <a:solidFill>
                  <a:srgbClr val="C8EEF2"/>
                </a:solidFill>
                <a:latin typeface="Calibri" pitchFamily="34" charset="0"/>
                <a:ea typeface="Calibri" pitchFamily="34" charset="-122"/>
                <a:cs typeface="Calibri" pitchFamily="34" charset="-120"/>
              </a:rPr>
              <a:t>Temporal</a:t>
            </a:r>
            <a:endParaRPr lang="en-US" sz="1000" dirty="0"/>
          </a:p>
        </p:txBody>
      </p:sp>
      <p:sp>
        <p:nvSpPr>
          <p:cNvPr id="24" name="Text 22"/>
          <p:cNvSpPr/>
          <p:nvPr/>
        </p:nvSpPr>
        <p:spPr>
          <a:xfrm>
            <a:off x="5760720" y="3218688"/>
            <a:ext cx="283464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Date of Encounter, Date of Discharge</a:t>
            </a:r>
            <a:endParaRPr lang="en-US" sz="1150" dirty="0"/>
          </a:p>
        </p:txBody>
      </p:sp>
      <p:sp>
        <p:nvSpPr>
          <p:cNvPr id="25" name="Text 23"/>
          <p:cNvSpPr/>
          <p:nvPr/>
        </p:nvSpPr>
        <p:spPr>
          <a:xfrm>
            <a:off x="5760720" y="3730752"/>
            <a:ext cx="1005840" cy="228600"/>
          </a:xfrm>
          <a:prstGeom prst="rect">
            <a:avLst/>
          </a:prstGeom>
          <a:noFill/>
          <a:ln/>
        </p:spPr>
        <p:txBody>
          <a:bodyPr wrap="square" lIns="0" tIns="0" rIns="0" bIns="0" rtlCol="0" anchor="ctr"/>
          <a:lstStyle/>
          <a:p>
            <a:pPr marL="0" indent="0">
              <a:buNone/>
            </a:pPr>
            <a:r>
              <a:rPr lang="en-US" sz="1000" b="1" dirty="0">
                <a:solidFill>
                  <a:srgbClr val="C8EEF2"/>
                </a:solidFill>
                <a:latin typeface="Calibri" pitchFamily="34" charset="0"/>
                <a:ea typeface="Calibri" pitchFamily="34" charset="-122"/>
                <a:cs typeface="Calibri" pitchFamily="34" charset="-120"/>
              </a:rPr>
              <a:t>Identifier</a:t>
            </a:r>
            <a:endParaRPr lang="en-US" sz="1000" dirty="0"/>
          </a:p>
        </p:txBody>
      </p:sp>
      <p:sp>
        <p:nvSpPr>
          <p:cNvPr id="26" name="Text 24"/>
          <p:cNvSpPr/>
          <p:nvPr/>
        </p:nvSpPr>
        <p:spPr>
          <a:xfrm>
            <a:off x="5760720" y="3968496"/>
            <a:ext cx="283464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Patient ID (retained as fraud signal)</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LAYER 2</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1A2E3B"/>
                </a:solidFill>
                <a:latin typeface="Calibri" pitchFamily="34" charset="0"/>
                <a:ea typeface="Calibri" pitchFamily="34" charset="-122"/>
                <a:cs typeface="Calibri" pitchFamily="34" charset="-120"/>
              </a:rPr>
              <a:t>TabDDPM: Synthetic Data Generation</a:t>
            </a:r>
            <a:endParaRPr lang="en-US" sz="2800" dirty="0"/>
          </a:p>
        </p:txBody>
      </p:sp>
      <p:sp>
        <p:nvSpPr>
          <p:cNvPr id="5" name="Text 3"/>
          <p:cNvSpPr/>
          <p:nvPr/>
        </p:nvSpPr>
        <p:spPr>
          <a:xfrm>
            <a:off x="384048" y="1024128"/>
            <a:ext cx="4846320" cy="2377440"/>
          </a:xfrm>
          <a:prstGeom prst="rect">
            <a:avLst/>
          </a:prstGeom>
          <a:noFill/>
          <a:ln/>
        </p:spPr>
        <p:txBody>
          <a:bodyPr wrap="square" lIns="0" tIns="0" rIns="0" bIns="0" rtlCol="0" anchor="t"/>
          <a:lstStyle/>
          <a:p>
            <a:pPr marL="0" indent="0">
              <a:buNone/>
            </a:pPr>
            <a:r>
              <a:rPr lang="en-US" sz="1400" b="1" dirty="0">
                <a:solidFill>
                  <a:srgbClr val="0A7581"/>
                </a:solidFill>
              </a:rPr>
              <a:t>Why Diffusion Models?
</a:t>
            </a:r>
            <a:endParaRPr lang="en-US" sz="1400" dirty="0"/>
          </a:p>
          <a:p>
            <a:pPr marL="342900" indent="-342900">
              <a:spcAft>
                <a:spcPts val="600"/>
              </a:spcAft>
              <a:buSzPct val="100000"/>
              <a:buChar char="•"/>
            </a:pPr>
            <a:r>
              <a:rPr lang="en-US" sz="1250" dirty="0">
                <a:solidFill>
                  <a:srgbClr val="1A2E3B"/>
                </a:solidFill>
                <a:latin typeface="Calibri" pitchFamily="34" charset="0"/>
                <a:ea typeface="Calibri" pitchFamily="34" charset="-122"/>
                <a:cs typeface="Calibri" pitchFamily="34" charset="-120"/>
              </a:rPr>
              <a:t>SMOTE produces alarmingly similar samples (low DCR) which is a privacy risk under GDPR</a:t>
            </a:r>
            <a:endParaRPr lang="en-US" sz="1400" dirty="0"/>
          </a:p>
          <a:p>
            <a:pPr marL="342900" indent="-342900">
              <a:spcAft>
                <a:spcPts val="600"/>
              </a:spcAft>
              <a:buSzPct val="100000"/>
              <a:buChar char="•"/>
            </a:pPr>
            <a:r>
              <a:rPr lang="en-US" sz="1250" dirty="0">
                <a:solidFill>
                  <a:srgbClr val="1A2E3B"/>
                </a:solidFill>
                <a:latin typeface="Calibri" pitchFamily="34" charset="0"/>
                <a:ea typeface="Calibri" pitchFamily="34" charset="-122"/>
                <a:cs typeface="Calibri" pitchFamily="34" charset="-120"/>
              </a:rPr>
              <a:t>TabDDPM generates genuinely novel records with higher Distance to Closest Record</a:t>
            </a:r>
            <a:endParaRPr lang="en-US" sz="1400" dirty="0"/>
          </a:p>
          <a:p>
            <a:pPr marL="342900" indent="-342900">
              <a:spcAft>
                <a:spcPts val="600"/>
              </a:spcAft>
              <a:buSzPct val="100000"/>
              <a:buChar char="•"/>
            </a:pPr>
            <a:r>
              <a:rPr lang="en-US" sz="1250" dirty="0">
                <a:solidFill>
                  <a:srgbClr val="1A2E3B"/>
                </a:solidFill>
                <a:latin typeface="Calibri" pitchFamily="34" charset="0"/>
                <a:ea typeface="Calibri" pitchFamily="34" charset="-122"/>
                <a:cs typeface="Calibri" pitchFamily="34" charset="-120"/>
              </a:rPr>
              <a:t>Gaussian diffusion for numerical features + multinomial diffusion for categorical</a:t>
            </a:r>
            <a:endParaRPr lang="en-US" sz="1400" dirty="0"/>
          </a:p>
          <a:p>
            <a:pPr marL="342900" indent="-342900">
              <a:spcAft>
                <a:spcPts val="600"/>
              </a:spcAft>
              <a:buSzPct val="100000"/>
              <a:buChar char="•"/>
            </a:pPr>
            <a:r>
              <a:rPr lang="en-US" sz="1250" dirty="0">
                <a:solidFill>
                  <a:srgbClr val="1A2E3B"/>
                </a:solidFill>
                <a:latin typeface="Calibri" pitchFamily="34" charset="0"/>
                <a:ea typeface="Calibri" pitchFamily="34" charset="-122"/>
                <a:cs typeface="Calibri" pitchFamily="34" charset="-120"/>
              </a:rPr>
              <a:t>MLP denoising backbone (512→1024→1024→1024→256 units), cosine noise schedule</a:t>
            </a:r>
            <a:endParaRPr lang="en-US" sz="1400" dirty="0"/>
          </a:p>
        </p:txBody>
      </p:sp>
      <p:sp>
        <p:nvSpPr>
          <p:cNvPr id="6" name="Text 4"/>
          <p:cNvSpPr/>
          <p:nvPr/>
        </p:nvSpPr>
        <p:spPr>
          <a:xfrm>
            <a:off x="384048" y="3520440"/>
            <a:ext cx="4846320" cy="274320"/>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Augmentation Results</a:t>
            </a:r>
            <a:endParaRPr lang="en-US" sz="1300" dirty="0"/>
          </a:p>
        </p:txBody>
      </p:sp>
      <p:sp>
        <p:nvSpPr>
          <p:cNvPr id="7" name="Shape 5"/>
          <p:cNvSpPr/>
          <p:nvPr/>
        </p:nvSpPr>
        <p:spPr>
          <a:xfrm>
            <a:off x="384048" y="3822192"/>
            <a:ext cx="2286000" cy="960120"/>
          </a:xfrm>
          <a:prstGeom prst="rect">
            <a:avLst/>
          </a:prstGeom>
          <a:solidFill>
            <a:srgbClr val="E2EBF0"/>
          </a:solidFill>
          <a:ln w="12700">
            <a:solidFill>
              <a:srgbClr val="E2EBF0"/>
            </a:solidFill>
            <a:prstDash val="solid"/>
          </a:ln>
          <a:effectLst>
            <a:outerShdw blurRad="50800" dist="25400" dir="8100000" algn="bl" rotWithShape="0">
              <a:srgbClr val="000000">
                <a:alpha val="12000"/>
              </a:srgbClr>
            </a:outerShdw>
          </a:effectLst>
        </p:spPr>
        <p:txBody>
          <a:bodyPr/>
          <a:lstStyle/>
          <a:p>
            <a:endParaRPr lang="en-ZA"/>
          </a:p>
        </p:txBody>
      </p:sp>
      <p:sp>
        <p:nvSpPr>
          <p:cNvPr id="8" name="Text 6"/>
          <p:cNvSpPr/>
          <p:nvPr/>
        </p:nvSpPr>
        <p:spPr>
          <a:xfrm>
            <a:off x="384048" y="3822192"/>
            <a:ext cx="2286000" cy="960120"/>
          </a:xfrm>
          <a:prstGeom prst="rect">
            <a:avLst/>
          </a:prstGeom>
          <a:noFill/>
          <a:ln/>
        </p:spPr>
        <p:txBody>
          <a:bodyPr wrap="square" lIns="0" tIns="0" rIns="0" bIns="0" rtlCol="0" anchor="ctr"/>
          <a:lstStyle/>
          <a:p>
            <a:pPr marL="0" indent="0" algn="ctr">
              <a:buNone/>
            </a:pPr>
            <a:r>
              <a:rPr lang="en-US" sz="1300" dirty="0">
                <a:solidFill>
                  <a:srgbClr val="1A2E3B"/>
                </a:solidFill>
                <a:latin typeface="Calibri" pitchFamily="34" charset="0"/>
                <a:ea typeface="Calibri" pitchFamily="34" charset="-122"/>
                <a:cs typeface="Calibri" pitchFamily="34" charset="-120"/>
              </a:rPr>
              <a:t>Before</a:t>
            </a:r>
            <a:endParaRPr lang="en-US" sz="1300" dirty="0"/>
          </a:p>
          <a:p>
            <a:pPr marL="0" indent="0" algn="ctr">
              <a:buNone/>
            </a:pPr>
            <a:r>
              <a:rPr lang="en-US" sz="1300" dirty="0">
                <a:solidFill>
                  <a:srgbClr val="1A2E3B"/>
                </a:solidFill>
                <a:latin typeface="Calibri" pitchFamily="34" charset="0"/>
                <a:ea typeface="Calibri" pitchFamily="34" charset="-122"/>
                <a:cs typeface="Calibri" pitchFamily="34" charset="-120"/>
              </a:rPr>
              <a:t>4,390 records</a:t>
            </a:r>
            <a:endParaRPr lang="en-US" sz="1300" dirty="0"/>
          </a:p>
          <a:p>
            <a:pPr marL="0" indent="0" algn="ctr">
              <a:buNone/>
            </a:pPr>
            <a:r>
              <a:rPr lang="en-US" sz="1300" dirty="0">
                <a:solidFill>
                  <a:srgbClr val="1A2E3B"/>
                </a:solidFill>
                <a:latin typeface="Calibri" pitchFamily="34" charset="0"/>
                <a:ea typeface="Calibri" pitchFamily="34" charset="-122"/>
                <a:cs typeface="Calibri" pitchFamily="34" charset="-120"/>
              </a:rPr>
              <a:t>1% fraud</a:t>
            </a:r>
            <a:endParaRPr lang="en-US" sz="1300" dirty="0"/>
          </a:p>
        </p:txBody>
      </p:sp>
      <p:sp>
        <p:nvSpPr>
          <p:cNvPr id="9" name="Shape 7"/>
          <p:cNvSpPr/>
          <p:nvPr/>
        </p:nvSpPr>
        <p:spPr>
          <a:xfrm>
            <a:off x="2852928" y="3822192"/>
            <a:ext cx="2286000" cy="960120"/>
          </a:xfrm>
          <a:prstGeom prst="rect">
            <a:avLst/>
          </a:prstGeom>
          <a:solidFill>
            <a:srgbClr val="0E9AA7"/>
          </a:solidFill>
          <a:ln w="12700">
            <a:solidFill>
              <a:srgbClr val="0E9AA7"/>
            </a:solidFill>
            <a:prstDash val="solid"/>
          </a:ln>
          <a:effectLst>
            <a:outerShdw blurRad="50800" dist="25400" dir="8100000" algn="bl" rotWithShape="0">
              <a:srgbClr val="000000">
                <a:alpha val="12000"/>
              </a:srgbClr>
            </a:outerShdw>
          </a:effectLst>
        </p:spPr>
        <p:txBody>
          <a:bodyPr/>
          <a:lstStyle/>
          <a:p>
            <a:endParaRPr lang="en-ZA"/>
          </a:p>
        </p:txBody>
      </p:sp>
      <p:sp>
        <p:nvSpPr>
          <p:cNvPr id="10" name="Text 8"/>
          <p:cNvSpPr/>
          <p:nvPr/>
        </p:nvSpPr>
        <p:spPr>
          <a:xfrm>
            <a:off x="2852928" y="3822192"/>
            <a:ext cx="2286000" cy="9601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After</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8,398 records</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48.4% fraud</a:t>
            </a:r>
            <a:endParaRPr lang="en-US" sz="1300" dirty="0"/>
          </a:p>
        </p:txBody>
      </p:sp>
      <p:sp>
        <p:nvSpPr>
          <p:cNvPr id="11" name="Shape 9"/>
          <p:cNvSpPr/>
          <p:nvPr/>
        </p:nvSpPr>
        <p:spPr>
          <a:xfrm>
            <a:off x="5486400" y="1024128"/>
            <a:ext cx="3200400" cy="3749040"/>
          </a:xfrm>
          <a:prstGeom prst="rect">
            <a:avLst/>
          </a:prstGeom>
          <a:solidFill>
            <a:srgbClr val="FFFFFF"/>
          </a:solidFill>
          <a:ln w="12700">
            <a:solidFill>
              <a:srgbClr val="E2EBF0"/>
            </a:solidFill>
            <a:prstDash val="solid"/>
          </a:ln>
          <a:effectLst>
            <a:outerShdw blurRad="50800" dist="25400" dir="8100000" algn="bl" rotWithShape="0">
              <a:srgbClr val="000000">
                <a:alpha val="8000"/>
              </a:srgbClr>
            </a:outerShdw>
          </a:effectLst>
        </p:spPr>
        <p:txBody>
          <a:bodyPr/>
          <a:lstStyle/>
          <a:p>
            <a:endParaRPr lang="en-ZA"/>
          </a:p>
        </p:txBody>
      </p:sp>
      <p:sp>
        <p:nvSpPr>
          <p:cNvPr id="12" name="Shape 10"/>
          <p:cNvSpPr/>
          <p:nvPr/>
        </p:nvSpPr>
        <p:spPr>
          <a:xfrm>
            <a:off x="5486400" y="1024128"/>
            <a:ext cx="3200400" cy="347472"/>
          </a:xfrm>
          <a:prstGeom prst="rect">
            <a:avLst/>
          </a:prstGeom>
          <a:solidFill>
            <a:srgbClr val="0E9AA7"/>
          </a:solidFill>
          <a:ln w="12700">
            <a:solidFill>
              <a:srgbClr val="0E9AA7"/>
            </a:solidFill>
            <a:prstDash val="solid"/>
          </a:ln>
        </p:spPr>
        <p:txBody>
          <a:bodyPr/>
          <a:lstStyle/>
          <a:p>
            <a:endParaRPr lang="en-ZA"/>
          </a:p>
        </p:txBody>
      </p:sp>
      <p:sp>
        <p:nvSpPr>
          <p:cNvPr id="13" name="Text 11"/>
          <p:cNvSpPr/>
          <p:nvPr/>
        </p:nvSpPr>
        <p:spPr>
          <a:xfrm>
            <a:off x="5532120" y="1042416"/>
            <a:ext cx="3108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Hyperparameters</a:t>
            </a:r>
            <a:endParaRPr lang="en-US" sz="1200" dirty="0"/>
          </a:p>
        </p:txBody>
      </p:sp>
      <p:sp>
        <p:nvSpPr>
          <p:cNvPr id="14" name="Text 12"/>
          <p:cNvSpPr/>
          <p:nvPr/>
        </p:nvSpPr>
        <p:spPr>
          <a:xfrm>
            <a:off x="5577840" y="1444752"/>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Model type</a:t>
            </a:r>
            <a:endParaRPr lang="en-US" sz="1100" dirty="0"/>
          </a:p>
        </p:txBody>
      </p:sp>
      <p:sp>
        <p:nvSpPr>
          <p:cNvPr id="15" name="Text 13"/>
          <p:cNvSpPr/>
          <p:nvPr/>
        </p:nvSpPr>
        <p:spPr>
          <a:xfrm>
            <a:off x="6995160" y="1444752"/>
            <a:ext cx="160020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MLP</a:t>
            </a:r>
            <a:endParaRPr lang="en-US" sz="1100" dirty="0"/>
          </a:p>
        </p:txBody>
      </p:sp>
      <p:sp>
        <p:nvSpPr>
          <p:cNvPr id="16" name="Shape 14"/>
          <p:cNvSpPr/>
          <p:nvPr/>
        </p:nvSpPr>
        <p:spPr>
          <a:xfrm>
            <a:off x="5577840" y="1792224"/>
            <a:ext cx="3017520" cy="0"/>
          </a:xfrm>
          <a:prstGeom prst="line">
            <a:avLst/>
          </a:prstGeom>
          <a:noFill/>
          <a:ln w="6350">
            <a:solidFill>
              <a:srgbClr val="E2EBF0"/>
            </a:solidFill>
            <a:prstDash val="solid"/>
          </a:ln>
        </p:spPr>
        <p:txBody>
          <a:bodyPr/>
          <a:lstStyle/>
          <a:p>
            <a:endParaRPr lang="en-ZA"/>
          </a:p>
        </p:txBody>
      </p:sp>
      <p:sp>
        <p:nvSpPr>
          <p:cNvPr id="17" name="Text 15"/>
          <p:cNvSpPr/>
          <p:nvPr/>
        </p:nvSpPr>
        <p:spPr>
          <a:xfrm>
            <a:off x="5577840" y="1874520"/>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Learning rate</a:t>
            </a:r>
            <a:endParaRPr lang="en-US" sz="1100" dirty="0"/>
          </a:p>
        </p:txBody>
      </p:sp>
      <p:sp>
        <p:nvSpPr>
          <p:cNvPr id="18" name="Text 16"/>
          <p:cNvSpPr/>
          <p:nvPr/>
        </p:nvSpPr>
        <p:spPr>
          <a:xfrm>
            <a:off x="6995160" y="1874520"/>
            <a:ext cx="160020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0.00015</a:t>
            </a:r>
            <a:endParaRPr lang="en-US" sz="1100" dirty="0"/>
          </a:p>
        </p:txBody>
      </p:sp>
      <p:sp>
        <p:nvSpPr>
          <p:cNvPr id="19" name="Shape 17"/>
          <p:cNvSpPr/>
          <p:nvPr/>
        </p:nvSpPr>
        <p:spPr>
          <a:xfrm>
            <a:off x="5577840" y="2221992"/>
            <a:ext cx="3017520" cy="0"/>
          </a:xfrm>
          <a:prstGeom prst="line">
            <a:avLst/>
          </a:prstGeom>
          <a:noFill/>
          <a:ln w="6350">
            <a:solidFill>
              <a:srgbClr val="E2EBF0"/>
            </a:solidFill>
            <a:prstDash val="solid"/>
          </a:ln>
        </p:spPr>
        <p:txBody>
          <a:bodyPr/>
          <a:lstStyle/>
          <a:p>
            <a:endParaRPr lang="en-ZA"/>
          </a:p>
        </p:txBody>
      </p:sp>
      <p:sp>
        <p:nvSpPr>
          <p:cNvPr id="20" name="Text 18"/>
          <p:cNvSpPr/>
          <p:nvPr/>
        </p:nvSpPr>
        <p:spPr>
          <a:xfrm>
            <a:off x="5577840" y="2304288"/>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D_layers</a:t>
            </a:r>
            <a:endParaRPr lang="en-US" sz="1100" dirty="0"/>
          </a:p>
        </p:txBody>
      </p:sp>
      <p:sp>
        <p:nvSpPr>
          <p:cNvPr id="21" name="Text 19"/>
          <p:cNvSpPr/>
          <p:nvPr/>
        </p:nvSpPr>
        <p:spPr>
          <a:xfrm>
            <a:off x="6995160" y="2304288"/>
            <a:ext cx="160020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[512,1024,1024,1024,256]</a:t>
            </a:r>
            <a:endParaRPr lang="en-US" sz="1100" dirty="0"/>
          </a:p>
        </p:txBody>
      </p:sp>
      <p:sp>
        <p:nvSpPr>
          <p:cNvPr id="22" name="Shape 20"/>
          <p:cNvSpPr/>
          <p:nvPr/>
        </p:nvSpPr>
        <p:spPr>
          <a:xfrm>
            <a:off x="5577840" y="2651760"/>
            <a:ext cx="3017520" cy="0"/>
          </a:xfrm>
          <a:prstGeom prst="line">
            <a:avLst/>
          </a:prstGeom>
          <a:noFill/>
          <a:ln w="6350">
            <a:solidFill>
              <a:srgbClr val="E2EBF0"/>
            </a:solidFill>
            <a:prstDash val="solid"/>
          </a:ln>
        </p:spPr>
        <p:txBody>
          <a:bodyPr/>
          <a:lstStyle/>
          <a:p>
            <a:endParaRPr lang="en-ZA"/>
          </a:p>
        </p:txBody>
      </p:sp>
      <p:sp>
        <p:nvSpPr>
          <p:cNvPr id="23" name="Text 21"/>
          <p:cNvSpPr/>
          <p:nvPr/>
        </p:nvSpPr>
        <p:spPr>
          <a:xfrm>
            <a:off x="5577840" y="2734056"/>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Scheduler</a:t>
            </a:r>
            <a:endParaRPr lang="en-US" sz="1100" dirty="0"/>
          </a:p>
        </p:txBody>
      </p:sp>
      <p:sp>
        <p:nvSpPr>
          <p:cNvPr id="24" name="Text 22"/>
          <p:cNvSpPr/>
          <p:nvPr/>
        </p:nvSpPr>
        <p:spPr>
          <a:xfrm>
            <a:off x="6995160" y="2734056"/>
            <a:ext cx="160020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Cosine</a:t>
            </a:r>
            <a:endParaRPr lang="en-US" sz="1100" dirty="0"/>
          </a:p>
        </p:txBody>
      </p:sp>
      <p:sp>
        <p:nvSpPr>
          <p:cNvPr id="25" name="Shape 23"/>
          <p:cNvSpPr/>
          <p:nvPr/>
        </p:nvSpPr>
        <p:spPr>
          <a:xfrm>
            <a:off x="5577840" y="3081528"/>
            <a:ext cx="3017520" cy="0"/>
          </a:xfrm>
          <a:prstGeom prst="line">
            <a:avLst/>
          </a:prstGeom>
          <a:noFill/>
          <a:ln w="6350">
            <a:solidFill>
              <a:srgbClr val="E2EBF0"/>
            </a:solidFill>
            <a:prstDash val="solid"/>
          </a:ln>
        </p:spPr>
        <p:txBody>
          <a:bodyPr/>
          <a:lstStyle/>
          <a:p>
            <a:endParaRPr lang="en-ZA"/>
          </a:p>
        </p:txBody>
      </p:sp>
      <p:sp>
        <p:nvSpPr>
          <p:cNvPr id="26" name="Text 24"/>
          <p:cNvSpPr/>
          <p:nvPr/>
        </p:nvSpPr>
        <p:spPr>
          <a:xfrm>
            <a:off x="5577840" y="3163824"/>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Normalisation</a:t>
            </a:r>
            <a:endParaRPr lang="en-US" sz="1100" dirty="0"/>
          </a:p>
        </p:txBody>
      </p:sp>
      <p:sp>
        <p:nvSpPr>
          <p:cNvPr id="27" name="Text 25"/>
          <p:cNvSpPr/>
          <p:nvPr/>
        </p:nvSpPr>
        <p:spPr>
          <a:xfrm>
            <a:off x="6995160" y="3163824"/>
            <a:ext cx="160020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Quantile</a:t>
            </a:r>
            <a:endParaRPr lang="en-US" sz="1100" dirty="0"/>
          </a:p>
        </p:txBody>
      </p:sp>
      <p:sp>
        <p:nvSpPr>
          <p:cNvPr id="28" name="Shape 26"/>
          <p:cNvSpPr/>
          <p:nvPr/>
        </p:nvSpPr>
        <p:spPr>
          <a:xfrm>
            <a:off x="5577840" y="3511296"/>
            <a:ext cx="3017520" cy="0"/>
          </a:xfrm>
          <a:prstGeom prst="line">
            <a:avLst/>
          </a:prstGeom>
          <a:noFill/>
          <a:ln w="6350">
            <a:solidFill>
              <a:srgbClr val="E2EBF0"/>
            </a:solidFill>
            <a:prstDash val="solid"/>
          </a:ln>
        </p:spPr>
        <p:txBody>
          <a:bodyPr/>
          <a:lstStyle/>
          <a:p>
            <a:endParaRPr lang="en-ZA"/>
          </a:p>
        </p:txBody>
      </p:sp>
      <p:sp>
        <p:nvSpPr>
          <p:cNvPr id="29" name="Text 27"/>
          <p:cNvSpPr/>
          <p:nvPr/>
        </p:nvSpPr>
        <p:spPr>
          <a:xfrm>
            <a:off x="5577840" y="3593592"/>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Loss</a:t>
            </a:r>
            <a:endParaRPr lang="en-US" sz="1100" dirty="0"/>
          </a:p>
        </p:txBody>
      </p:sp>
      <p:sp>
        <p:nvSpPr>
          <p:cNvPr id="30" name="Text 28"/>
          <p:cNvSpPr/>
          <p:nvPr/>
        </p:nvSpPr>
        <p:spPr>
          <a:xfrm>
            <a:off x="6995160" y="3593592"/>
            <a:ext cx="160020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MSE (Gaussian)</a:t>
            </a:r>
            <a:endParaRPr lang="en-US" sz="1100" dirty="0"/>
          </a:p>
        </p:txBody>
      </p:sp>
      <p:sp>
        <p:nvSpPr>
          <p:cNvPr id="31" name="Shape 29"/>
          <p:cNvSpPr/>
          <p:nvPr/>
        </p:nvSpPr>
        <p:spPr>
          <a:xfrm>
            <a:off x="5577840" y="3941064"/>
            <a:ext cx="3017520" cy="0"/>
          </a:xfrm>
          <a:prstGeom prst="line">
            <a:avLst/>
          </a:prstGeom>
          <a:noFill/>
          <a:ln w="6350">
            <a:solidFill>
              <a:srgbClr val="E2EBF0"/>
            </a:solidFill>
            <a:prstDash val="solid"/>
          </a:ln>
        </p:spPr>
        <p:txBody>
          <a:bodyPr/>
          <a:lstStyle/>
          <a:p>
            <a:endParaRPr lang="en-ZA"/>
          </a:p>
        </p:txBody>
      </p:sp>
      <p:sp>
        <p:nvSpPr>
          <p:cNvPr id="32" name="Text 30"/>
          <p:cNvSpPr/>
          <p:nvPr/>
        </p:nvSpPr>
        <p:spPr>
          <a:xfrm>
            <a:off x="5577840" y="4023360"/>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Steps</a:t>
            </a:r>
            <a:endParaRPr lang="en-US" sz="1100" dirty="0"/>
          </a:p>
        </p:txBody>
      </p:sp>
      <p:sp>
        <p:nvSpPr>
          <p:cNvPr id="33" name="Text 31"/>
          <p:cNvSpPr/>
          <p:nvPr/>
        </p:nvSpPr>
        <p:spPr>
          <a:xfrm>
            <a:off x="6995160" y="4023360"/>
            <a:ext cx="160020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5,000 diffusion steps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LAYER 3</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1A2E3B"/>
                </a:solidFill>
                <a:latin typeface="Calibri" pitchFamily="34" charset="0"/>
                <a:ea typeface="Calibri" pitchFamily="34" charset="-122"/>
                <a:cs typeface="Calibri" pitchFamily="34" charset="-120"/>
              </a:rPr>
              <a:t>TabNet: Fraud Classification</a:t>
            </a:r>
            <a:endParaRPr lang="en-US" sz="2800" dirty="0"/>
          </a:p>
        </p:txBody>
      </p:sp>
      <p:sp>
        <p:nvSpPr>
          <p:cNvPr id="5" name="Text 3"/>
          <p:cNvSpPr/>
          <p:nvPr/>
        </p:nvSpPr>
        <p:spPr>
          <a:xfrm>
            <a:off x="384048" y="1005840"/>
            <a:ext cx="5029200" cy="292608"/>
          </a:xfrm>
          <a:prstGeom prst="rect">
            <a:avLst/>
          </a:prstGeom>
          <a:noFill/>
          <a:ln/>
        </p:spPr>
        <p:txBody>
          <a:bodyPr wrap="square" lIns="0" tIns="0" rIns="0" bIns="0" rtlCol="0" anchor="ctr"/>
          <a:lstStyle/>
          <a:p>
            <a:pPr marL="0" indent="0">
              <a:buNone/>
            </a:pPr>
            <a:r>
              <a:rPr lang="en-US" sz="1400" b="1" dirty="0">
                <a:solidFill>
                  <a:srgbClr val="0A7581"/>
                </a:solidFill>
                <a:latin typeface="Calibri" pitchFamily="34" charset="0"/>
                <a:ea typeface="Calibri" pitchFamily="34" charset="-122"/>
                <a:cs typeface="Calibri" pitchFamily="34" charset="-120"/>
              </a:rPr>
              <a:t>How TabNet Works</a:t>
            </a:r>
            <a:endParaRPr lang="en-US" sz="1400" dirty="0"/>
          </a:p>
        </p:txBody>
      </p:sp>
      <p:sp>
        <p:nvSpPr>
          <p:cNvPr id="6" name="Text 4"/>
          <p:cNvSpPr/>
          <p:nvPr/>
        </p:nvSpPr>
        <p:spPr>
          <a:xfrm>
            <a:off x="384048" y="1353312"/>
            <a:ext cx="5029200" cy="21031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2E3B"/>
                </a:solidFill>
                <a:latin typeface="Calibri" pitchFamily="34" charset="0"/>
                <a:ea typeface="Calibri" pitchFamily="34" charset="-122"/>
                <a:cs typeface="Calibri" pitchFamily="34" charset="-120"/>
              </a:rPr>
              <a:t>Sequential attention: at each decision step, selects only the most relevant features</a:t>
            </a:r>
            <a:endParaRPr lang="en-US" sz="1250" dirty="0"/>
          </a:p>
          <a:p>
            <a:pPr marL="342900" indent="-342900">
              <a:spcAft>
                <a:spcPts val="800"/>
              </a:spcAft>
              <a:buSzPct val="100000"/>
              <a:buChar char="•"/>
            </a:pPr>
            <a:r>
              <a:rPr lang="en-US" sz="1250" dirty="0">
                <a:solidFill>
                  <a:srgbClr val="1A2E3B"/>
                </a:solidFill>
                <a:latin typeface="Calibri" pitchFamily="34" charset="0"/>
                <a:ea typeface="Calibri" pitchFamily="34" charset="-122"/>
                <a:cs typeface="Calibri" pitchFamily="34" charset="-120"/>
              </a:rPr>
              <a:t>Soft feature selection via sparse/entmax attention masks meaning it is intrinsically interpretable</a:t>
            </a:r>
            <a:endParaRPr lang="en-US" sz="1250" dirty="0"/>
          </a:p>
          <a:p>
            <a:pPr marL="342900" indent="-342900">
              <a:spcAft>
                <a:spcPts val="800"/>
              </a:spcAft>
              <a:buSzPct val="100000"/>
              <a:buChar char="•"/>
            </a:pPr>
            <a:r>
              <a:rPr lang="en-US" sz="1250" dirty="0">
                <a:solidFill>
                  <a:srgbClr val="1A2E3B"/>
                </a:solidFill>
                <a:latin typeface="Calibri" pitchFamily="34" charset="0"/>
                <a:ea typeface="Calibri" pitchFamily="34" charset="-122"/>
                <a:cs typeface="Calibri" pitchFamily="34" charset="-120"/>
              </a:rPr>
              <a:t>Mimics decision tree efficiency while using end-to-end gradient descent</a:t>
            </a:r>
            <a:endParaRPr lang="en-US" sz="1250" dirty="0"/>
          </a:p>
          <a:p>
            <a:pPr marL="342900" indent="-342900">
              <a:spcAft>
                <a:spcPts val="800"/>
              </a:spcAft>
              <a:buSzPct val="100000"/>
              <a:buChar char="•"/>
            </a:pPr>
            <a:r>
              <a:rPr lang="en-US" sz="1250" dirty="0">
                <a:solidFill>
                  <a:srgbClr val="1A2E3B"/>
                </a:solidFill>
                <a:latin typeface="Calibri" pitchFamily="34" charset="0"/>
                <a:ea typeface="Calibri" pitchFamily="34" charset="-122"/>
                <a:cs typeface="Calibri" pitchFamily="34" charset="-120"/>
              </a:rPr>
              <a:t>Self-supervised pre-training handles missing values dynamically</a:t>
            </a:r>
            <a:endParaRPr lang="en-US" sz="1250" dirty="0"/>
          </a:p>
        </p:txBody>
      </p:sp>
      <p:sp>
        <p:nvSpPr>
          <p:cNvPr id="7" name="Text 5"/>
          <p:cNvSpPr/>
          <p:nvPr/>
        </p:nvSpPr>
        <p:spPr>
          <a:xfrm>
            <a:off x="384048" y="3520440"/>
            <a:ext cx="5029200" cy="274320"/>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Decision Steps (N=3)</a:t>
            </a:r>
            <a:endParaRPr lang="en-US" sz="1300" dirty="0"/>
          </a:p>
        </p:txBody>
      </p:sp>
      <p:sp>
        <p:nvSpPr>
          <p:cNvPr id="8" name="Shape 6"/>
          <p:cNvSpPr/>
          <p:nvPr/>
        </p:nvSpPr>
        <p:spPr>
          <a:xfrm>
            <a:off x="384048" y="3840480"/>
            <a:ext cx="1508760" cy="822960"/>
          </a:xfrm>
          <a:prstGeom prst="rect">
            <a:avLst/>
          </a:prstGeom>
          <a:solidFill>
            <a:srgbClr val="0E9AA7"/>
          </a:solidFill>
          <a:ln w="12700">
            <a:solidFill>
              <a:srgbClr val="0E9AA7"/>
            </a:solidFill>
            <a:prstDash val="solid"/>
          </a:ln>
          <a:effectLst>
            <a:outerShdw blurRad="50800" dist="25400" dir="8100000" algn="bl" rotWithShape="0">
              <a:srgbClr val="000000">
                <a:alpha val="15000"/>
              </a:srgbClr>
            </a:outerShdw>
          </a:effectLst>
        </p:spPr>
        <p:txBody>
          <a:bodyPr/>
          <a:lstStyle/>
          <a:p>
            <a:endParaRPr lang="en-ZA"/>
          </a:p>
        </p:txBody>
      </p:sp>
      <p:sp>
        <p:nvSpPr>
          <p:cNvPr id="9" name="Text 7"/>
          <p:cNvSpPr/>
          <p:nvPr/>
        </p:nvSpPr>
        <p:spPr>
          <a:xfrm>
            <a:off x="384048" y="3840480"/>
            <a:ext cx="150876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1</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Attention Mask</a:t>
            </a:r>
            <a:endParaRPr lang="en-US" sz="1100" dirty="0"/>
          </a:p>
        </p:txBody>
      </p:sp>
      <p:sp>
        <p:nvSpPr>
          <p:cNvPr id="10" name="Shape 8"/>
          <p:cNvSpPr/>
          <p:nvPr/>
        </p:nvSpPr>
        <p:spPr>
          <a:xfrm>
            <a:off x="2075688" y="3840480"/>
            <a:ext cx="1508760" cy="822960"/>
          </a:xfrm>
          <a:prstGeom prst="rect">
            <a:avLst/>
          </a:prstGeom>
          <a:solidFill>
            <a:srgbClr val="0E9AA7"/>
          </a:solidFill>
          <a:ln w="12700">
            <a:solidFill>
              <a:srgbClr val="0E9AA7"/>
            </a:solidFill>
            <a:prstDash val="solid"/>
          </a:ln>
          <a:effectLst>
            <a:outerShdw blurRad="50800" dist="25400" dir="8100000" algn="bl" rotWithShape="0">
              <a:srgbClr val="000000">
                <a:alpha val="15000"/>
              </a:srgbClr>
            </a:outerShdw>
          </a:effectLst>
        </p:spPr>
        <p:txBody>
          <a:bodyPr/>
          <a:lstStyle/>
          <a:p>
            <a:endParaRPr lang="en-ZA"/>
          </a:p>
        </p:txBody>
      </p:sp>
      <p:sp>
        <p:nvSpPr>
          <p:cNvPr id="11" name="Text 9"/>
          <p:cNvSpPr/>
          <p:nvPr/>
        </p:nvSpPr>
        <p:spPr>
          <a:xfrm>
            <a:off x="2075688" y="3840480"/>
            <a:ext cx="150876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2</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Aggregation</a:t>
            </a:r>
            <a:endParaRPr lang="en-US" sz="1100" dirty="0"/>
          </a:p>
        </p:txBody>
      </p:sp>
      <p:sp>
        <p:nvSpPr>
          <p:cNvPr id="12" name="Shape 10"/>
          <p:cNvSpPr/>
          <p:nvPr/>
        </p:nvSpPr>
        <p:spPr>
          <a:xfrm>
            <a:off x="3767328" y="3840480"/>
            <a:ext cx="1508760" cy="822960"/>
          </a:xfrm>
          <a:prstGeom prst="rect">
            <a:avLst/>
          </a:prstGeom>
          <a:solidFill>
            <a:srgbClr val="0E9AA7"/>
          </a:solidFill>
          <a:ln w="12700">
            <a:solidFill>
              <a:srgbClr val="0E9AA7"/>
            </a:solidFill>
            <a:prstDash val="solid"/>
          </a:ln>
          <a:effectLst>
            <a:outerShdw blurRad="50800" dist="25400" dir="8100000" algn="bl" rotWithShape="0">
              <a:srgbClr val="000000">
                <a:alpha val="15000"/>
              </a:srgbClr>
            </a:outerShdw>
          </a:effectLst>
        </p:spPr>
        <p:txBody>
          <a:bodyPr/>
          <a:lstStyle/>
          <a:p>
            <a:endParaRPr lang="en-ZA"/>
          </a:p>
        </p:txBody>
      </p:sp>
      <p:sp>
        <p:nvSpPr>
          <p:cNvPr id="13" name="Text 11"/>
          <p:cNvSpPr/>
          <p:nvPr/>
        </p:nvSpPr>
        <p:spPr>
          <a:xfrm>
            <a:off x="3767328" y="3840480"/>
            <a:ext cx="150876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3</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Feature Importance</a:t>
            </a:r>
            <a:endParaRPr lang="en-US" sz="1100" dirty="0"/>
          </a:p>
        </p:txBody>
      </p:sp>
      <p:sp>
        <p:nvSpPr>
          <p:cNvPr id="14" name="Shape 12"/>
          <p:cNvSpPr/>
          <p:nvPr/>
        </p:nvSpPr>
        <p:spPr>
          <a:xfrm>
            <a:off x="5577840" y="1005840"/>
            <a:ext cx="3108960" cy="3749040"/>
          </a:xfrm>
          <a:prstGeom prst="rect">
            <a:avLst/>
          </a:prstGeom>
          <a:solidFill>
            <a:srgbClr val="FFFFFF"/>
          </a:solidFill>
          <a:ln w="12700">
            <a:solidFill>
              <a:srgbClr val="E2EBF0"/>
            </a:solidFill>
            <a:prstDash val="solid"/>
          </a:ln>
          <a:effectLst>
            <a:outerShdw blurRad="50800" dist="25400" dir="8100000" algn="bl" rotWithShape="0">
              <a:srgbClr val="000000">
                <a:alpha val="8000"/>
              </a:srgbClr>
            </a:outerShdw>
          </a:effectLst>
        </p:spPr>
        <p:txBody>
          <a:bodyPr/>
          <a:lstStyle/>
          <a:p>
            <a:endParaRPr lang="en-ZA"/>
          </a:p>
        </p:txBody>
      </p:sp>
      <p:sp>
        <p:nvSpPr>
          <p:cNvPr id="15" name="Shape 13"/>
          <p:cNvSpPr/>
          <p:nvPr/>
        </p:nvSpPr>
        <p:spPr>
          <a:xfrm>
            <a:off x="5577840" y="1005840"/>
            <a:ext cx="3108960" cy="347472"/>
          </a:xfrm>
          <a:prstGeom prst="rect">
            <a:avLst/>
          </a:prstGeom>
          <a:solidFill>
            <a:srgbClr val="0D1B2A"/>
          </a:solidFill>
          <a:ln w="12700">
            <a:solidFill>
              <a:srgbClr val="0D1B2A"/>
            </a:solidFill>
            <a:prstDash val="solid"/>
          </a:ln>
        </p:spPr>
        <p:txBody>
          <a:bodyPr/>
          <a:lstStyle/>
          <a:p>
            <a:endParaRPr lang="en-ZA"/>
          </a:p>
        </p:txBody>
      </p:sp>
      <p:sp>
        <p:nvSpPr>
          <p:cNvPr id="16" name="Text 14"/>
          <p:cNvSpPr/>
          <p:nvPr/>
        </p:nvSpPr>
        <p:spPr>
          <a:xfrm>
            <a:off x="5577840" y="1024128"/>
            <a:ext cx="3108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Hyperparameters</a:t>
            </a:r>
            <a:endParaRPr lang="en-US" sz="1200" dirty="0"/>
          </a:p>
        </p:txBody>
      </p:sp>
      <p:sp>
        <p:nvSpPr>
          <p:cNvPr id="17" name="Text 15"/>
          <p:cNvSpPr/>
          <p:nvPr/>
        </p:nvSpPr>
        <p:spPr>
          <a:xfrm>
            <a:off x="5669280" y="1426464"/>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Optimiser</a:t>
            </a:r>
            <a:endParaRPr lang="en-US" sz="1100" dirty="0"/>
          </a:p>
        </p:txBody>
      </p:sp>
      <p:sp>
        <p:nvSpPr>
          <p:cNvPr id="18" name="Text 16"/>
          <p:cNvSpPr/>
          <p:nvPr/>
        </p:nvSpPr>
        <p:spPr>
          <a:xfrm>
            <a:off x="7086600" y="1426464"/>
            <a:ext cx="150876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Adam (lr=2e-2)</a:t>
            </a:r>
            <a:endParaRPr lang="en-US" sz="1100" dirty="0"/>
          </a:p>
        </p:txBody>
      </p:sp>
      <p:sp>
        <p:nvSpPr>
          <p:cNvPr id="19" name="Shape 17"/>
          <p:cNvSpPr/>
          <p:nvPr/>
        </p:nvSpPr>
        <p:spPr>
          <a:xfrm>
            <a:off x="5669280" y="1773936"/>
            <a:ext cx="2926080" cy="0"/>
          </a:xfrm>
          <a:prstGeom prst="line">
            <a:avLst/>
          </a:prstGeom>
          <a:noFill/>
          <a:ln w="6350">
            <a:solidFill>
              <a:srgbClr val="E2EBF0"/>
            </a:solidFill>
            <a:prstDash val="solid"/>
          </a:ln>
        </p:spPr>
        <p:txBody>
          <a:bodyPr/>
          <a:lstStyle/>
          <a:p>
            <a:endParaRPr lang="en-ZA"/>
          </a:p>
        </p:txBody>
      </p:sp>
      <p:sp>
        <p:nvSpPr>
          <p:cNvPr id="20" name="Text 18"/>
          <p:cNvSpPr/>
          <p:nvPr/>
        </p:nvSpPr>
        <p:spPr>
          <a:xfrm>
            <a:off x="5669280" y="1810512"/>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LR Scheduler</a:t>
            </a:r>
            <a:endParaRPr lang="en-US" sz="1100" dirty="0"/>
          </a:p>
        </p:txBody>
      </p:sp>
      <p:sp>
        <p:nvSpPr>
          <p:cNvPr id="21" name="Text 19"/>
          <p:cNvSpPr/>
          <p:nvPr/>
        </p:nvSpPr>
        <p:spPr>
          <a:xfrm>
            <a:off x="7086600" y="1810512"/>
            <a:ext cx="150876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StepLR γ=0.9, step=50</a:t>
            </a:r>
            <a:endParaRPr lang="en-US" sz="1100" dirty="0"/>
          </a:p>
        </p:txBody>
      </p:sp>
      <p:sp>
        <p:nvSpPr>
          <p:cNvPr id="22" name="Shape 20"/>
          <p:cNvSpPr/>
          <p:nvPr/>
        </p:nvSpPr>
        <p:spPr>
          <a:xfrm>
            <a:off x="5669280" y="2157984"/>
            <a:ext cx="2926080" cy="0"/>
          </a:xfrm>
          <a:prstGeom prst="line">
            <a:avLst/>
          </a:prstGeom>
          <a:noFill/>
          <a:ln w="6350">
            <a:solidFill>
              <a:srgbClr val="E2EBF0"/>
            </a:solidFill>
            <a:prstDash val="solid"/>
          </a:ln>
        </p:spPr>
        <p:txBody>
          <a:bodyPr/>
          <a:lstStyle/>
          <a:p>
            <a:endParaRPr lang="en-ZA"/>
          </a:p>
        </p:txBody>
      </p:sp>
      <p:sp>
        <p:nvSpPr>
          <p:cNvPr id="23" name="Text 21"/>
          <p:cNvSpPr/>
          <p:nvPr/>
        </p:nvSpPr>
        <p:spPr>
          <a:xfrm>
            <a:off x="5669280" y="2194560"/>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Batch size</a:t>
            </a:r>
            <a:endParaRPr lang="en-US" sz="1100" dirty="0"/>
          </a:p>
        </p:txBody>
      </p:sp>
      <p:sp>
        <p:nvSpPr>
          <p:cNvPr id="24" name="Text 22"/>
          <p:cNvSpPr/>
          <p:nvPr/>
        </p:nvSpPr>
        <p:spPr>
          <a:xfrm>
            <a:off x="7086600" y="2194560"/>
            <a:ext cx="150876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1024</a:t>
            </a:r>
            <a:endParaRPr lang="en-US" sz="1100" dirty="0"/>
          </a:p>
        </p:txBody>
      </p:sp>
      <p:sp>
        <p:nvSpPr>
          <p:cNvPr id="25" name="Shape 23"/>
          <p:cNvSpPr/>
          <p:nvPr/>
        </p:nvSpPr>
        <p:spPr>
          <a:xfrm>
            <a:off x="5669280" y="2542032"/>
            <a:ext cx="2926080" cy="0"/>
          </a:xfrm>
          <a:prstGeom prst="line">
            <a:avLst/>
          </a:prstGeom>
          <a:noFill/>
          <a:ln w="6350">
            <a:solidFill>
              <a:srgbClr val="E2EBF0"/>
            </a:solidFill>
            <a:prstDash val="solid"/>
          </a:ln>
        </p:spPr>
        <p:txBody>
          <a:bodyPr/>
          <a:lstStyle/>
          <a:p>
            <a:endParaRPr lang="en-ZA"/>
          </a:p>
        </p:txBody>
      </p:sp>
      <p:sp>
        <p:nvSpPr>
          <p:cNvPr id="26" name="Text 24"/>
          <p:cNvSpPr/>
          <p:nvPr/>
        </p:nvSpPr>
        <p:spPr>
          <a:xfrm>
            <a:off x="5669280" y="2578608"/>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Virtual batch</a:t>
            </a:r>
            <a:endParaRPr lang="en-US" sz="1100" dirty="0"/>
          </a:p>
        </p:txBody>
      </p:sp>
      <p:sp>
        <p:nvSpPr>
          <p:cNvPr id="27" name="Text 25"/>
          <p:cNvSpPr/>
          <p:nvPr/>
        </p:nvSpPr>
        <p:spPr>
          <a:xfrm>
            <a:off x="7086600" y="2578608"/>
            <a:ext cx="150876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128</a:t>
            </a:r>
            <a:endParaRPr lang="en-US" sz="1100" dirty="0"/>
          </a:p>
        </p:txBody>
      </p:sp>
      <p:sp>
        <p:nvSpPr>
          <p:cNvPr id="28" name="Shape 26"/>
          <p:cNvSpPr/>
          <p:nvPr/>
        </p:nvSpPr>
        <p:spPr>
          <a:xfrm>
            <a:off x="5669280" y="2926080"/>
            <a:ext cx="2926080" cy="0"/>
          </a:xfrm>
          <a:prstGeom prst="line">
            <a:avLst/>
          </a:prstGeom>
          <a:noFill/>
          <a:ln w="6350">
            <a:solidFill>
              <a:srgbClr val="E2EBF0"/>
            </a:solidFill>
            <a:prstDash val="solid"/>
          </a:ln>
        </p:spPr>
        <p:txBody>
          <a:bodyPr/>
          <a:lstStyle/>
          <a:p>
            <a:endParaRPr lang="en-ZA"/>
          </a:p>
        </p:txBody>
      </p:sp>
      <p:sp>
        <p:nvSpPr>
          <p:cNvPr id="29" name="Text 27"/>
          <p:cNvSpPr/>
          <p:nvPr/>
        </p:nvSpPr>
        <p:spPr>
          <a:xfrm>
            <a:off x="5669280" y="2962656"/>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N_a = N_d</a:t>
            </a:r>
            <a:endParaRPr lang="en-US" sz="1100" dirty="0"/>
          </a:p>
        </p:txBody>
      </p:sp>
      <p:sp>
        <p:nvSpPr>
          <p:cNvPr id="30" name="Text 28"/>
          <p:cNvSpPr/>
          <p:nvPr/>
        </p:nvSpPr>
        <p:spPr>
          <a:xfrm>
            <a:off x="7086600" y="2962656"/>
            <a:ext cx="150876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8</a:t>
            </a:r>
            <a:endParaRPr lang="en-US" sz="1100" dirty="0"/>
          </a:p>
        </p:txBody>
      </p:sp>
      <p:sp>
        <p:nvSpPr>
          <p:cNvPr id="31" name="Shape 29"/>
          <p:cNvSpPr/>
          <p:nvPr/>
        </p:nvSpPr>
        <p:spPr>
          <a:xfrm>
            <a:off x="5669280" y="3310128"/>
            <a:ext cx="2926080" cy="0"/>
          </a:xfrm>
          <a:prstGeom prst="line">
            <a:avLst/>
          </a:prstGeom>
          <a:noFill/>
          <a:ln w="6350">
            <a:solidFill>
              <a:srgbClr val="E2EBF0"/>
            </a:solidFill>
            <a:prstDash val="solid"/>
          </a:ln>
        </p:spPr>
        <p:txBody>
          <a:bodyPr/>
          <a:lstStyle/>
          <a:p>
            <a:endParaRPr lang="en-ZA"/>
          </a:p>
        </p:txBody>
      </p:sp>
      <p:sp>
        <p:nvSpPr>
          <p:cNvPr id="32" name="Text 30"/>
          <p:cNvSpPr/>
          <p:nvPr/>
        </p:nvSpPr>
        <p:spPr>
          <a:xfrm>
            <a:off x="5669280" y="3346704"/>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N_steps</a:t>
            </a:r>
            <a:endParaRPr lang="en-US" sz="1100" dirty="0"/>
          </a:p>
        </p:txBody>
      </p:sp>
      <p:sp>
        <p:nvSpPr>
          <p:cNvPr id="33" name="Text 31"/>
          <p:cNvSpPr/>
          <p:nvPr/>
        </p:nvSpPr>
        <p:spPr>
          <a:xfrm>
            <a:off x="7086600" y="3346704"/>
            <a:ext cx="150876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3</a:t>
            </a:r>
            <a:endParaRPr lang="en-US" sz="1100" dirty="0"/>
          </a:p>
        </p:txBody>
      </p:sp>
      <p:sp>
        <p:nvSpPr>
          <p:cNvPr id="34" name="Shape 32"/>
          <p:cNvSpPr/>
          <p:nvPr/>
        </p:nvSpPr>
        <p:spPr>
          <a:xfrm>
            <a:off x="5669280" y="3694176"/>
            <a:ext cx="2926080" cy="0"/>
          </a:xfrm>
          <a:prstGeom prst="line">
            <a:avLst/>
          </a:prstGeom>
          <a:noFill/>
          <a:ln w="6350">
            <a:solidFill>
              <a:srgbClr val="E2EBF0"/>
            </a:solidFill>
            <a:prstDash val="solid"/>
          </a:ln>
        </p:spPr>
        <p:txBody>
          <a:bodyPr/>
          <a:lstStyle/>
          <a:p>
            <a:endParaRPr lang="en-ZA"/>
          </a:p>
        </p:txBody>
      </p:sp>
      <p:sp>
        <p:nvSpPr>
          <p:cNvPr id="35" name="Text 33"/>
          <p:cNvSpPr/>
          <p:nvPr/>
        </p:nvSpPr>
        <p:spPr>
          <a:xfrm>
            <a:off x="5669280" y="3730752"/>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Mask type</a:t>
            </a:r>
            <a:endParaRPr lang="en-US" sz="1100" dirty="0"/>
          </a:p>
        </p:txBody>
      </p:sp>
      <p:sp>
        <p:nvSpPr>
          <p:cNvPr id="36" name="Text 34"/>
          <p:cNvSpPr/>
          <p:nvPr/>
        </p:nvSpPr>
        <p:spPr>
          <a:xfrm>
            <a:off x="7086600" y="3730752"/>
            <a:ext cx="150876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entmax / sparsemax</a:t>
            </a:r>
            <a:endParaRPr lang="en-US" sz="1100" dirty="0"/>
          </a:p>
        </p:txBody>
      </p:sp>
      <p:sp>
        <p:nvSpPr>
          <p:cNvPr id="37" name="Shape 35"/>
          <p:cNvSpPr/>
          <p:nvPr/>
        </p:nvSpPr>
        <p:spPr>
          <a:xfrm>
            <a:off x="5669280" y="4078224"/>
            <a:ext cx="2926080" cy="0"/>
          </a:xfrm>
          <a:prstGeom prst="line">
            <a:avLst/>
          </a:prstGeom>
          <a:noFill/>
          <a:ln w="6350">
            <a:solidFill>
              <a:srgbClr val="E2EBF0"/>
            </a:solidFill>
            <a:prstDash val="solid"/>
          </a:ln>
        </p:spPr>
        <p:txBody>
          <a:bodyPr/>
          <a:lstStyle/>
          <a:p>
            <a:endParaRPr lang="en-ZA"/>
          </a:p>
        </p:txBody>
      </p:sp>
      <p:sp>
        <p:nvSpPr>
          <p:cNvPr id="38" name="Text 36"/>
          <p:cNvSpPr/>
          <p:nvPr/>
        </p:nvSpPr>
        <p:spPr>
          <a:xfrm>
            <a:off x="5669280" y="4114800"/>
            <a:ext cx="1417320" cy="347472"/>
          </a:xfrm>
          <a:prstGeom prst="rect">
            <a:avLst/>
          </a:prstGeom>
          <a:noFill/>
          <a:ln/>
        </p:spPr>
        <p:txBody>
          <a:bodyPr wrap="square" lIns="0" tIns="0" rIns="0" bIns="0" rtlCol="0" anchor="ctr"/>
          <a:lstStyle/>
          <a:p>
            <a:pPr marL="0" indent="0">
              <a:buNone/>
            </a:pPr>
            <a:r>
              <a:rPr lang="en-US" sz="1100" b="1" dirty="0">
                <a:solidFill>
                  <a:srgbClr val="0A7581"/>
                </a:solidFill>
                <a:latin typeface="Calibri" pitchFamily="34" charset="0"/>
                <a:ea typeface="Calibri" pitchFamily="34" charset="-122"/>
                <a:cs typeface="Calibri" pitchFamily="34" charset="-120"/>
              </a:rPr>
              <a:t>Early stopping</a:t>
            </a:r>
            <a:endParaRPr lang="en-US" sz="1100" dirty="0"/>
          </a:p>
        </p:txBody>
      </p:sp>
      <p:sp>
        <p:nvSpPr>
          <p:cNvPr id="39" name="Text 37"/>
          <p:cNvSpPr/>
          <p:nvPr/>
        </p:nvSpPr>
        <p:spPr>
          <a:xfrm>
            <a:off x="7086600" y="4114800"/>
            <a:ext cx="1508760" cy="347472"/>
          </a:xfrm>
          <a:prstGeom prst="rect">
            <a:avLst/>
          </a:prstGeom>
          <a:noFill/>
          <a:ln/>
        </p:spPr>
        <p:txBody>
          <a:bodyPr wrap="square" lIns="0" tIns="0" rIns="0" bIns="0" rtlCol="0" anchor="ctr"/>
          <a:lstStyle/>
          <a:p>
            <a:pPr marL="0" indent="0">
              <a:buNone/>
            </a:pPr>
            <a:r>
              <a:rPr lang="en-US" sz="1100" dirty="0">
                <a:solidFill>
                  <a:srgbClr val="1A2E3B"/>
                </a:solidFill>
                <a:latin typeface="Calibri" pitchFamily="34" charset="0"/>
                <a:ea typeface="Calibri" pitchFamily="34" charset="-122"/>
                <a:cs typeface="Calibri" pitchFamily="34" charset="-120"/>
              </a:rPr>
              <a:t>patience=20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LAYER 4</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1A2E3B"/>
                </a:solidFill>
                <a:latin typeface="Calibri" pitchFamily="34" charset="0"/>
                <a:ea typeface="Calibri" pitchFamily="34" charset="-122"/>
                <a:cs typeface="Calibri" pitchFamily="34" charset="-120"/>
              </a:rPr>
              <a:t>Explainability: SHAP &amp; LIME</a:t>
            </a:r>
            <a:endParaRPr lang="en-US" sz="2800" dirty="0"/>
          </a:p>
        </p:txBody>
      </p:sp>
      <p:sp>
        <p:nvSpPr>
          <p:cNvPr id="5" name="Shape 3"/>
          <p:cNvSpPr/>
          <p:nvPr/>
        </p:nvSpPr>
        <p:spPr>
          <a:xfrm>
            <a:off x="384048" y="1005840"/>
            <a:ext cx="4023360" cy="3767328"/>
          </a:xfrm>
          <a:prstGeom prst="rect">
            <a:avLst/>
          </a:prstGeom>
          <a:solidFill>
            <a:srgbClr val="FFFFFF"/>
          </a:solidFill>
          <a:ln w="12700">
            <a:solidFill>
              <a:srgbClr val="E2EBF0"/>
            </a:solidFill>
            <a:prstDash val="solid"/>
          </a:ln>
          <a:effectLst>
            <a:outerShdw blurRad="63500" dist="25400" dir="8100000" algn="bl" rotWithShape="0">
              <a:srgbClr val="000000">
                <a:alpha val="8000"/>
              </a:srgbClr>
            </a:outerShdw>
          </a:effectLst>
        </p:spPr>
        <p:txBody>
          <a:bodyPr/>
          <a:lstStyle/>
          <a:p>
            <a:endParaRPr lang="en-ZA"/>
          </a:p>
        </p:txBody>
      </p:sp>
      <p:sp>
        <p:nvSpPr>
          <p:cNvPr id="6" name="Shape 4"/>
          <p:cNvSpPr/>
          <p:nvPr/>
        </p:nvSpPr>
        <p:spPr>
          <a:xfrm>
            <a:off x="384048" y="1005840"/>
            <a:ext cx="4023360" cy="384048"/>
          </a:xfrm>
          <a:prstGeom prst="rect">
            <a:avLst/>
          </a:prstGeom>
          <a:solidFill>
            <a:srgbClr val="0E9AA7"/>
          </a:solidFill>
          <a:ln w="12700">
            <a:solidFill>
              <a:srgbClr val="0E9AA7"/>
            </a:solidFill>
            <a:prstDash val="solid"/>
          </a:ln>
        </p:spPr>
        <p:txBody>
          <a:bodyPr/>
          <a:lstStyle/>
          <a:p>
            <a:endParaRPr lang="en-ZA"/>
          </a:p>
        </p:txBody>
      </p:sp>
      <p:sp>
        <p:nvSpPr>
          <p:cNvPr id="7" name="Text 5"/>
          <p:cNvSpPr/>
          <p:nvPr/>
        </p:nvSpPr>
        <p:spPr>
          <a:xfrm>
            <a:off x="475488" y="1024128"/>
            <a:ext cx="3840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SHAP (Global Explainability)</a:t>
            </a:r>
            <a:endParaRPr lang="en-US" sz="1300" dirty="0"/>
          </a:p>
        </p:txBody>
      </p:sp>
      <p:sp>
        <p:nvSpPr>
          <p:cNvPr id="8" name="Text 6"/>
          <p:cNvSpPr/>
          <p:nvPr/>
        </p:nvSpPr>
        <p:spPr>
          <a:xfrm>
            <a:off x="475488" y="1463040"/>
            <a:ext cx="3840480" cy="32004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2E3B"/>
                </a:solidFill>
                <a:latin typeface="Calibri" pitchFamily="34" charset="0"/>
                <a:ea typeface="Calibri" pitchFamily="34" charset="-122"/>
                <a:cs typeface="Calibri" pitchFamily="34" charset="-120"/>
              </a:rPr>
              <a:t>Shapley value-based attributions</a:t>
            </a:r>
            <a:endParaRPr lang="en-US" sz="1250" dirty="0"/>
          </a:p>
          <a:p>
            <a:pPr marL="342900" indent="-342900">
              <a:spcAft>
                <a:spcPts val="800"/>
              </a:spcAft>
              <a:buSzPct val="100000"/>
              <a:buChar char="•"/>
            </a:pPr>
            <a:r>
              <a:rPr lang="en-US" sz="1250" dirty="0">
                <a:solidFill>
                  <a:srgbClr val="1A2E3B"/>
                </a:solidFill>
                <a:latin typeface="Calibri" pitchFamily="34" charset="0"/>
                <a:ea typeface="Calibri" pitchFamily="34" charset="-122"/>
                <a:cs typeface="Calibri" pitchFamily="34" charset="-120"/>
              </a:rPr>
              <a:t>Theoretically consistent &amp; globally coherent</a:t>
            </a:r>
            <a:endParaRPr lang="en-US" sz="1250" dirty="0"/>
          </a:p>
          <a:p>
            <a:pPr marL="342900" indent="-342900">
              <a:spcAft>
                <a:spcPts val="800"/>
              </a:spcAft>
              <a:buSzPct val="100000"/>
              <a:buChar char="•"/>
            </a:pPr>
            <a:r>
              <a:rPr lang="en-US" sz="1250" dirty="0">
                <a:solidFill>
                  <a:srgbClr val="1A2E3B"/>
                </a:solidFill>
                <a:latin typeface="Calibri" pitchFamily="34" charset="0"/>
                <a:ea typeface="Calibri" pitchFamily="34" charset="-122"/>
                <a:cs typeface="Calibri" pitchFamily="34" charset="-120"/>
              </a:rPr>
              <a:t>Provides beeswarm, bar, heatmap &amp; violin plots</a:t>
            </a:r>
            <a:endParaRPr lang="en-US" sz="1250" dirty="0"/>
          </a:p>
          <a:p>
            <a:pPr marL="342900" indent="-342900">
              <a:spcAft>
                <a:spcPts val="800"/>
              </a:spcAft>
              <a:buSzPct val="100000"/>
              <a:buChar char="•"/>
            </a:pPr>
            <a:r>
              <a:rPr lang="en-US" sz="1250" dirty="0">
                <a:solidFill>
                  <a:srgbClr val="1A2E3B"/>
                </a:solidFill>
                <a:latin typeface="Calibri" pitchFamily="34" charset="0"/>
                <a:ea typeface="Calibri" pitchFamily="34" charset="-122"/>
                <a:cs typeface="Calibri" pitchFamily="34" charset="-120"/>
              </a:rPr>
              <a:t>Supports HIPAA/GDPR portfolio-wide compliance reporting</a:t>
            </a:r>
            <a:endParaRPr lang="en-US" sz="1250" dirty="0"/>
          </a:p>
          <a:p>
            <a:pPr marL="342900" indent="-342900">
              <a:spcAft>
                <a:spcPts val="800"/>
              </a:spcAft>
              <a:buSzPct val="100000"/>
              <a:buChar char="•"/>
            </a:pPr>
            <a:r>
              <a:rPr lang="en-US" sz="1250" dirty="0">
                <a:solidFill>
                  <a:srgbClr val="1A2E3B"/>
                </a:solidFill>
                <a:latin typeface="Calibri" pitchFamily="34" charset="0"/>
                <a:ea typeface="Calibri" pitchFamily="34" charset="-122"/>
                <a:cs typeface="Calibri" pitchFamily="34" charset="-120"/>
              </a:rPr>
              <a:t>Cannot justify why a single specific claim was flagged</a:t>
            </a:r>
            <a:endParaRPr lang="en-US" sz="1250" dirty="0"/>
          </a:p>
        </p:txBody>
      </p:sp>
      <p:sp>
        <p:nvSpPr>
          <p:cNvPr id="9" name="Shape 7"/>
          <p:cNvSpPr/>
          <p:nvPr/>
        </p:nvSpPr>
        <p:spPr>
          <a:xfrm>
            <a:off x="4736592" y="1005840"/>
            <a:ext cx="4023360" cy="3767328"/>
          </a:xfrm>
          <a:prstGeom prst="rect">
            <a:avLst/>
          </a:prstGeom>
          <a:solidFill>
            <a:srgbClr val="FFFFFF"/>
          </a:solidFill>
          <a:ln w="12700">
            <a:solidFill>
              <a:srgbClr val="E2EBF0"/>
            </a:solidFill>
            <a:prstDash val="solid"/>
          </a:ln>
          <a:effectLst>
            <a:outerShdw blurRad="63500" dist="25400" dir="8100000" algn="bl" rotWithShape="0">
              <a:srgbClr val="000000">
                <a:alpha val="8000"/>
              </a:srgbClr>
            </a:outerShdw>
          </a:effectLst>
        </p:spPr>
        <p:txBody>
          <a:bodyPr/>
          <a:lstStyle/>
          <a:p>
            <a:endParaRPr lang="en-ZA"/>
          </a:p>
        </p:txBody>
      </p:sp>
      <p:sp>
        <p:nvSpPr>
          <p:cNvPr id="10" name="Shape 8"/>
          <p:cNvSpPr/>
          <p:nvPr/>
        </p:nvSpPr>
        <p:spPr>
          <a:xfrm>
            <a:off x="4736592" y="1005840"/>
            <a:ext cx="4023360" cy="384048"/>
          </a:xfrm>
          <a:prstGeom prst="rect">
            <a:avLst/>
          </a:prstGeom>
          <a:solidFill>
            <a:srgbClr val="0D1B2A"/>
          </a:solidFill>
          <a:ln w="12700">
            <a:solidFill>
              <a:srgbClr val="0D1B2A"/>
            </a:solidFill>
            <a:prstDash val="solid"/>
          </a:ln>
        </p:spPr>
        <p:txBody>
          <a:bodyPr/>
          <a:lstStyle/>
          <a:p>
            <a:endParaRPr lang="en-ZA"/>
          </a:p>
        </p:txBody>
      </p:sp>
      <p:sp>
        <p:nvSpPr>
          <p:cNvPr id="11" name="Text 9"/>
          <p:cNvSpPr/>
          <p:nvPr/>
        </p:nvSpPr>
        <p:spPr>
          <a:xfrm>
            <a:off x="4828032" y="1024128"/>
            <a:ext cx="3840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LIME (Local Explainability)</a:t>
            </a:r>
            <a:endParaRPr lang="en-US" sz="1300" dirty="0"/>
          </a:p>
        </p:txBody>
      </p:sp>
      <p:sp>
        <p:nvSpPr>
          <p:cNvPr id="12" name="Text 10"/>
          <p:cNvSpPr/>
          <p:nvPr/>
        </p:nvSpPr>
        <p:spPr>
          <a:xfrm>
            <a:off x="4828032" y="1463040"/>
            <a:ext cx="3840480" cy="32004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2E3B"/>
                </a:solidFill>
                <a:latin typeface="Calibri" pitchFamily="34" charset="0"/>
                <a:ea typeface="Calibri" pitchFamily="34" charset="-122"/>
                <a:cs typeface="Calibri" pitchFamily="34" charset="-120"/>
              </a:rPr>
              <a:t>Linear surrogate model per-instance</a:t>
            </a:r>
            <a:endParaRPr lang="en-US" sz="1250" dirty="0"/>
          </a:p>
          <a:p>
            <a:pPr marL="342900" indent="-342900">
              <a:spcAft>
                <a:spcPts val="800"/>
              </a:spcAft>
              <a:buSzPct val="100000"/>
              <a:buChar char="•"/>
            </a:pPr>
            <a:r>
              <a:rPr lang="en-US" sz="1250" dirty="0">
                <a:solidFill>
                  <a:srgbClr val="1A2E3B"/>
                </a:solidFill>
                <a:latin typeface="Calibri" pitchFamily="34" charset="0"/>
                <a:ea typeface="Calibri" pitchFamily="34" charset="-122"/>
                <a:cs typeface="Calibri" pitchFamily="34" charset="-120"/>
              </a:rPr>
              <a:t>Rule-style explanations for non-technical stakeholders</a:t>
            </a:r>
            <a:endParaRPr lang="en-US" sz="1250" dirty="0"/>
          </a:p>
          <a:p>
            <a:pPr marL="342900" indent="-342900">
              <a:spcAft>
                <a:spcPts val="800"/>
              </a:spcAft>
              <a:buSzPct val="100000"/>
              <a:buChar char="•"/>
            </a:pPr>
            <a:r>
              <a:rPr lang="en-US" sz="1250" dirty="0">
                <a:solidFill>
                  <a:srgbClr val="1A2E3B"/>
                </a:solidFill>
                <a:latin typeface="Calibri" pitchFamily="34" charset="0"/>
                <a:ea typeface="Calibri" pitchFamily="34" charset="-122"/>
                <a:cs typeface="Calibri" pitchFamily="34" charset="-120"/>
              </a:rPr>
              <a:t>Supports claim analysts &amp; legal reviewers</a:t>
            </a:r>
            <a:endParaRPr lang="en-US" sz="1250" dirty="0"/>
          </a:p>
          <a:p>
            <a:pPr marL="342900" indent="-342900">
              <a:spcAft>
                <a:spcPts val="800"/>
              </a:spcAft>
              <a:buSzPct val="100000"/>
              <a:buChar char="•"/>
            </a:pPr>
            <a:r>
              <a:rPr lang="en-US" sz="1250" dirty="0">
                <a:solidFill>
                  <a:srgbClr val="1A2E3B"/>
                </a:solidFill>
                <a:latin typeface="Calibri" pitchFamily="34" charset="0"/>
                <a:ea typeface="Calibri" pitchFamily="34" charset="-122"/>
                <a:cs typeface="Calibri" pitchFamily="34" charset="-120"/>
              </a:rPr>
              <a:t>No basis for portfolio-wide compliance on its own</a:t>
            </a:r>
            <a:endParaRPr lang="en-US" sz="1250" dirty="0"/>
          </a:p>
          <a:p>
            <a:pPr marL="342900" indent="-342900">
              <a:spcAft>
                <a:spcPts val="800"/>
              </a:spcAft>
              <a:buSzPct val="100000"/>
              <a:buChar char="•"/>
            </a:pPr>
            <a:r>
              <a:rPr lang="en-US" sz="1250" dirty="0">
                <a:solidFill>
                  <a:srgbClr val="1A2E3B"/>
                </a:solidFill>
                <a:latin typeface="Calibri" pitchFamily="34" charset="0"/>
                <a:ea typeface="Calibri" pitchFamily="34" charset="-122"/>
                <a:cs typeface="Calibri" pitchFamily="34" charset="-120"/>
              </a:rPr>
              <a:t>Surrogate may overfit to proxy boundary features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EXPERIMENTS</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Experimental Setup</a:t>
            </a:r>
            <a:endParaRPr lang="en-US" sz="2800" dirty="0"/>
          </a:p>
        </p:txBody>
      </p:sp>
      <p:sp>
        <p:nvSpPr>
          <p:cNvPr id="5" name="Text 3"/>
          <p:cNvSpPr/>
          <p:nvPr/>
        </p:nvSpPr>
        <p:spPr>
          <a:xfrm>
            <a:off x="384048" y="960120"/>
            <a:ext cx="8229600" cy="274320"/>
          </a:xfrm>
          <a:prstGeom prst="rect">
            <a:avLst/>
          </a:prstGeom>
          <a:noFill/>
          <a:ln/>
        </p:spPr>
        <p:txBody>
          <a:bodyPr wrap="square" lIns="0" tIns="0" rIns="0" bIns="0" rtlCol="0" anchor="ctr"/>
          <a:lstStyle/>
          <a:p>
            <a:pPr marL="0" indent="0">
              <a:buNone/>
            </a:pPr>
            <a:r>
              <a:rPr lang="en-US" sz="1300" b="1" dirty="0">
                <a:solidFill>
                  <a:srgbClr val="C8EEF2"/>
                </a:solidFill>
                <a:latin typeface="Calibri" pitchFamily="34" charset="0"/>
                <a:ea typeface="Calibri" pitchFamily="34" charset="-122"/>
                <a:cs typeface="Calibri" pitchFamily="34" charset="-120"/>
              </a:rPr>
              <a:t>Dataset Splits After TabDDPM Augmentation</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84048" y="1298448"/>
          <a:ext cx="8375904" cy="2286000"/>
        </p:xfrm>
        <a:graphic>
          <a:graphicData uri="http://schemas.openxmlformats.org/drawingml/2006/table">
            <a:tbl>
              <a:tblPr/>
              <a:tblGrid>
                <a:gridCol w="20116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975104">
                  <a:extLst>
                    <a:ext uri="{9D8B030D-6E8A-4147-A177-3AD203B41FA5}">
                      <a16:colId xmlns:a16="http://schemas.microsoft.com/office/drawing/2014/main" val="20004"/>
                    </a:ext>
                  </a:extLst>
                </a:gridCol>
              </a:tblGrid>
              <a:tr h="38100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Split</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A758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Total Samples</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A758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Fraud</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A758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Non-Fraud</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A758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Fraud Ratio</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A7581"/>
                    </a:solidFill>
                  </a:tcPr>
                </a:tc>
                <a:extLst>
                  <a:ext uri="{0D108BD9-81ED-4DB2-BD59-A6C34878D82A}">
                    <a16:rowId xmlns:a16="http://schemas.microsoft.com/office/drawing/2014/main" val="10000"/>
                  </a:ext>
                </a:extLst>
              </a:tr>
              <a:tr h="381000">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Original Dataset</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4,390</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56</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4,332</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extLst>
                  <a:ext uri="{0D108BD9-81ED-4DB2-BD59-A6C34878D82A}">
                    <a16:rowId xmlns:a16="http://schemas.microsoft.com/office/drawing/2014/main" val="10001"/>
                  </a:ext>
                </a:extLst>
              </a:tr>
              <a:tr h="381000">
                <a:tc>
                  <a:txBody>
                    <a:bodyPr/>
                    <a:lstStyle/>
                    <a:p>
                      <a:pPr marL="0" indent="0" algn="ctr">
                        <a:buNone/>
                      </a:pPr>
                      <a:r>
                        <a:rPr lang="en-US" sz="1200" b="1" dirty="0">
                          <a:solidFill>
                            <a:srgbClr val="0E9AA7"/>
                          </a:solidFill>
                          <a:latin typeface="Calibri" pitchFamily="34" charset="0"/>
                          <a:ea typeface="Calibri" pitchFamily="34" charset="-122"/>
                          <a:cs typeface="Calibri" pitchFamily="34" charset="-120"/>
                        </a:rPr>
                        <a:t>After TabDDPM</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0E9AA7"/>
                          </a:solidFill>
                          <a:latin typeface="Calibri" pitchFamily="34" charset="0"/>
                          <a:ea typeface="Calibri" pitchFamily="34" charset="-122"/>
                          <a:cs typeface="Calibri" pitchFamily="34" charset="-120"/>
                        </a:rPr>
                        <a:t>8,398</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0E9AA7"/>
                          </a:solidFill>
                          <a:latin typeface="Calibri" pitchFamily="34" charset="0"/>
                          <a:ea typeface="Calibri" pitchFamily="34" charset="-122"/>
                          <a:cs typeface="Calibri" pitchFamily="34" charset="-120"/>
                        </a:rPr>
                        <a:t>4,066</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4,332</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0E9AA7"/>
                          </a:solidFill>
                          <a:latin typeface="Calibri" pitchFamily="34" charset="0"/>
                          <a:ea typeface="Calibri" pitchFamily="34" charset="-122"/>
                          <a:cs typeface="Calibri" pitchFamily="34" charset="-120"/>
                        </a:rPr>
                        <a:t>48.4%</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extLst>
                  <a:ext uri="{0D108BD9-81ED-4DB2-BD59-A6C34878D82A}">
                    <a16:rowId xmlns:a16="http://schemas.microsoft.com/office/drawing/2014/main" val="10002"/>
                  </a:ext>
                </a:extLst>
              </a:tr>
              <a:tr h="381000">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Training Set</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5,871</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2,839</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3,032</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48.4%</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extLst>
                  <a:ext uri="{0D108BD9-81ED-4DB2-BD59-A6C34878D82A}">
                    <a16:rowId xmlns:a16="http://schemas.microsoft.com/office/drawing/2014/main" val="10003"/>
                  </a:ext>
                </a:extLst>
              </a:tr>
              <a:tr h="381000">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Validation Set</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1,258</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608</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650</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48.3%</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extLst>
                  <a:ext uri="{0D108BD9-81ED-4DB2-BD59-A6C34878D82A}">
                    <a16:rowId xmlns:a16="http://schemas.microsoft.com/office/drawing/2014/main" val="10004"/>
                  </a:ext>
                </a:extLst>
              </a:tr>
              <a:tr h="381000">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Test Set</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1,259</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609</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650</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200" dirty="0">
                          <a:solidFill>
                            <a:srgbClr val="E2EBF0"/>
                          </a:solidFill>
                          <a:latin typeface="Calibri" pitchFamily="34" charset="0"/>
                          <a:ea typeface="Calibri" pitchFamily="34" charset="-122"/>
                          <a:cs typeface="Calibri" pitchFamily="34" charset="-120"/>
                        </a:rPr>
                        <a:t>48.4%</a:t>
                      </a:r>
                      <a:endParaRPr lang="en-US" sz="120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extLst>
                  <a:ext uri="{0D108BD9-81ED-4DB2-BD59-A6C34878D82A}">
                    <a16:rowId xmlns:a16="http://schemas.microsoft.com/office/drawing/2014/main" val="10005"/>
                  </a:ext>
                </a:extLst>
              </a:tr>
            </a:tbl>
          </a:graphicData>
        </a:graphic>
      </p:graphicFrame>
      <p:sp>
        <p:nvSpPr>
          <p:cNvPr id="7" name="Text 4"/>
          <p:cNvSpPr/>
          <p:nvPr/>
        </p:nvSpPr>
        <p:spPr>
          <a:xfrm>
            <a:off x="384048" y="3749040"/>
            <a:ext cx="8229600" cy="274320"/>
          </a:xfrm>
          <a:prstGeom prst="rect">
            <a:avLst/>
          </a:prstGeom>
          <a:noFill/>
          <a:ln/>
        </p:spPr>
        <p:txBody>
          <a:bodyPr wrap="square" lIns="0" tIns="0" rIns="0" bIns="0" rtlCol="0" anchor="ctr"/>
          <a:lstStyle/>
          <a:p>
            <a:pPr marL="0" indent="0">
              <a:buNone/>
            </a:pPr>
            <a:r>
              <a:rPr lang="en-US" sz="1300" b="1" dirty="0">
                <a:solidFill>
                  <a:srgbClr val="C8EEF2"/>
                </a:solidFill>
                <a:latin typeface="Calibri" pitchFamily="34" charset="0"/>
                <a:ea typeface="Calibri" pitchFamily="34" charset="-122"/>
                <a:cs typeface="Calibri" pitchFamily="34" charset="-120"/>
              </a:rPr>
              <a:t>Infrastructure</a:t>
            </a:r>
            <a:endParaRPr lang="en-US" sz="1300" dirty="0"/>
          </a:p>
        </p:txBody>
      </p:sp>
      <p:sp>
        <p:nvSpPr>
          <p:cNvPr id="8" name="Text 5"/>
          <p:cNvSpPr/>
          <p:nvPr/>
        </p:nvSpPr>
        <p:spPr>
          <a:xfrm>
            <a:off x="384048" y="4041648"/>
            <a:ext cx="8229600" cy="256032"/>
          </a:xfrm>
          <a:prstGeom prst="rect">
            <a:avLst/>
          </a:prstGeom>
          <a:noFill/>
          <a:ln/>
        </p:spPr>
        <p:txBody>
          <a:bodyPr wrap="square" lIns="0" tIns="0" rIns="0" bIns="0" rtlCol="0" anchor="ctr"/>
          <a:lstStyle/>
          <a:p>
            <a:pPr marL="0" indent="0">
              <a:buNone/>
            </a:pPr>
            <a:r>
              <a:rPr lang="en-US" sz="1200" dirty="0">
                <a:solidFill>
                  <a:srgbClr val="E2EBF0"/>
                </a:solidFill>
                <a:latin typeface="Calibri" pitchFamily="34" charset="0"/>
                <a:ea typeface="Calibri" pitchFamily="34" charset="-122"/>
                <a:cs typeface="Calibri" pitchFamily="34" charset="-120"/>
              </a:rPr>
              <a:t>Python 3.10  |  PyTorch 2.0.1  |  Scikit-Learn</a:t>
            </a:r>
            <a:endParaRPr lang="en-US" sz="1200" dirty="0"/>
          </a:p>
        </p:txBody>
      </p:sp>
      <p:sp>
        <p:nvSpPr>
          <p:cNvPr id="9" name="Text 6"/>
          <p:cNvSpPr/>
          <p:nvPr/>
        </p:nvSpPr>
        <p:spPr>
          <a:xfrm>
            <a:off x="384048" y="4315968"/>
            <a:ext cx="8229600" cy="256032"/>
          </a:xfrm>
          <a:prstGeom prst="rect">
            <a:avLst/>
          </a:prstGeom>
          <a:noFill/>
          <a:ln/>
        </p:spPr>
        <p:txBody>
          <a:bodyPr wrap="square" lIns="0" tIns="0" rIns="0" bIns="0" rtlCol="0" anchor="ctr"/>
          <a:lstStyle/>
          <a:p>
            <a:pPr marL="0" indent="0">
              <a:buNone/>
            </a:pPr>
            <a:r>
              <a:rPr lang="en-US" sz="1200" dirty="0">
                <a:solidFill>
                  <a:srgbClr val="E2EBF0"/>
                </a:solidFill>
                <a:latin typeface="Calibri" pitchFamily="34" charset="0"/>
                <a:ea typeface="Calibri" pitchFamily="34" charset="-122"/>
                <a:cs typeface="Calibri" pitchFamily="34" charset="-120"/>
              </a:rPr>
              <a:t>NVIDIA GeForce RTX 3050 GPU  |  30 GB RAM</a:t>
            </a:r>
            <a:endParaRPr lang="en-US" sz="1200" dirty="0"/>
          </a:p>
        </p:txBody>
      </p:sp>
      <p:sp>
        <p:nvSpPr>
          <p:cNvPr id="10" name="Text 7"/>
          <p:cNvSpPr/>
          <p:nvPr/>
        </p:nvSpPr>
        <p:spPr>
          <a:xfrm>
            <a:off x="384048" y="4590288"/>
            <a:ext cx="8229600" cy="256032"/>
          </a:xfrm>
          <a:prstGeom prst="rect">
            <a:avLst/>
          </a:prstGeom>
          <a:noFill/>
          <a:ln/>
        </p:spPr>
        <p:txBody>
          <a:bodyPr wrap="square" lIns="0" tIns="0" rIns="0" bIns="0" rtlCol="0" anchor="ctr"/>
          <a:lstStyle/>
          <a:p>
            <a:pPr marL="0" indent="0">
              <a:buNone/>
            </a:pPr>
            <a:r>
              <a:rPr lang="en-US" sz="1200" dirty="0">
                <a:solidFill>
                  <a:srgbClr val="E2EBF0"/>
                </a:solidFill>
                <a:latin typeface="Calibri" pitchFamily="34" charset="0"/>
                <a:ea typeface="Calibri" pitchFamily="34" charset="-122"/>
                <a:cs typeface="Calibri" pitchFamily="34" charset="-120"/>
              </a:rPr>
              <a:t>Git &amp; GitHub version control  |  JSON experiment logging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RESULTS</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1A2E3B"/>
                </a:solidFill>
                <a:latin typeface="Calibri" pitchFamily="34" charset="0"/>
                <a:ea typeface="Calibri" pitchFamily="34" charset="-122"/>
                <a:cs typeface="Calibri" pitchFamily="34" charset="-120"/>
              </a:rPr>
              <a:t>Classification Results</a:t>
            </a:r>
            <a:endParaRPr lang="en-US" sz="2800" dirty="0"/>
          </a:p>
        </p:txBody>
      </p:sp>
      <p:sp>
        <p:nvSpPr>
          <p:cNvPr id="5" name="Shape 3"/>
          <p:cNvSpPr/>
          <p:nvPr/>
        </p:nvSpPr>
        <p:spPr>
          <a:xfrm>
            <a:off x="384048" y="987552"/>
            <a:ext cx="1920240" cy="1234440"/>
          </a:xfrm>
          <a:prstGeom prst="rect">
            <a:avLst/>
          </a:prstGeom>
          <a:solidFill>
            <a:srgbClr val="0E9AA7"/>
          </a:solidFill>
          <a:ln w="12700">
            <a:solidFill>
              <a:srgbClr val="0E9AA7"/>
            </a:solidFill>
            <a:prstDash val="solid"/>
          </a:ln>
          <a:effectLst>
            <a:outerShdw blurRad="101600" dist="38100" dir="8100000" algn="bl" rotWithShape="0">
              <a:srgbClr val="000000">
                <a:alpha val="20000"/>
              </a:srgbClr>
            </a:outerShdw>
          </a:effectLst>
        </p:spPr>
        <p:txBody>
          <a:bodyPr/>
          <a:lstStyle/>
          <a:p>
            <a:endParaRPr lang="en-ZA"/>
          </a:p>
        </p:txBody>
      </p:sp>
      <p:sp>
        <p:nvSpPr>
          <p:cNvPr id="6" name="Text 4"/>
          <p:cNvSpPr/>
          <p:nvPr/>
        </p:nvSpPr>
        <p:spPr>
          <a:xfrm>
            <a:off x="384048" y="1060704"/>
            <a:ext cx="1920240" cy="678942"/>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0.99</a:t>
            </a:r>
            <a:endParaRPr lang="en-US" sz="3200" dirty="0"/>
          </a:p>
        </p:txBody>
      </p:sp>
      <p:sp>
        <p:nvSpPr>
          <p:cNvPr id="7" name="Text 5"/>
          <p:cNvSpPr/>
          <p:nvPr/>
        </p:nvSpPr>
        <p:spPr>
          <a:xfrm>
            <a:off x="384048" y="1666494"/>
            <a:ext cx="1920240" cy="555498"/>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AUC-ROC</a:t>
            </a:r>
            <a:endParaRPr lang="en-US" sz="1100" dirty="0"/>
          </a:p>
        </p:txBody>
      </p:sp>
      <p:sp>
        <p:nvSpPr>
          <p:cNvPr id="8" name="Shape 6"/>
          <p:cNvSpPr/>
          <p:nvPr/>
        </p:nvSpPr>
        <p:spPr>
          <a:xfrm>
            <a:off x="2487168" y="987552"/>
            <a:ext cx="1920240" cy="1234440"/>
          </a:xfrm>
          <a:prstGeom prst="rect">
            <a:avLst/>
          </a:prstGeom>
          <a:solidFill>
            <a:srgbClr val="0A7581"/>
          </a:solidFill>
          <a:ln w="12700">
            <a:solidFill>
              <a:srgbClr val="0A7581"/>
            </a:solidFill>
            <a:prstDash val="solid"/>
          </a:ln>
          <a:effectLst>
            <a:outerShdw blurRad="101600" dist="38100" dir="8100000" algn="bl" rotWithShape="0">
              <a:srgbClr val="000000">
                <a:alpha val="20000"/>
              </a:srgbClr>
            </a:outerShdw>
          </a:effectLst>
        </p:spPr>
        <p:txBody>
          <a:bodyPr/>
          <a:lstStyle/>
          <a:p>
            <a:endParaRPr lang="en-ZA"/>
          </a:p>
        </p:txBody>
      </p:sp>
      <p:sp>
        <p:nvSpPr>
          <p:cNvPr id="9" name="Text 7"/>
          <p:cNvSpPr/>
          <p:nvPr/>
        </p:nvSpPr>
        <p:spPr>
          <a:xfrm>
            <a:off x="2487168" y="1060704"/>
            <a:ext cx="1920240" cy="678942"/>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0.99</a:t>
            </a:r>
            <a:endParaRPr lang="en-US" sz="3200" dirty="0"/>
          </a:p>
        </p:txBody>
      </p:sp>
      <p:sp>
        <p:nvSpPr>
          <p:cNvPr id="10" name="Text 8"/>
          <p:cNvSpPr/>
          <p:nvPr/>
        </p:nvSpPr>
        <p:spPr>
          <a:xfrm>
            <a:off x="2487168" y="1666494"/>
            <a:ext cx="1920240" cy="555498"/>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Macro F1-Score</a:t>
            </a:r>
            <a:endParaRPr lang="en-US" sz="1100" dirty="0"/>
          </a:p>
        </p:txBody>
      </p:sp>
      <p:sp>
        <p:nvSpPr>
          <p:cNvPr id="11" name="Shape 9"/>
          <p:cNvSpPr/>
          <p:nvPr/>
        </p:nvSpPr>
        <p:spPr>
          <a:xfrm>
            <a:off x="4590288" y="987552"/>
            <a:ext cx="1920240" cy="1234440"/>
          </a:xfrm>
          <a:prstGeom prst="rect">
            <a:avLst/>
          </a:prstGeom>
          <a:solidFill>
            <a:srgbClr val="0D1B2A"/>
          </a:solidFill>
          <a:ln w="12700">
            <a:solidFill>
              <a:srgbClr val="0D1B2A"/>
            </a:solidFill>
            <a:prstDash val="solid"/>
          </a:ln>
          <a:effectLst>
            <a:outerShdw blurRad="101600" dist="38100" dir="8100000" algn="bl" rotWithShape="0">
              <a:srgbClr val="000000">
                <a:alpha val="20000"/>
              </a:srgbClr>
            </a:outerShdw>
          </a:effectLst>
        </p:spPr>
        <p:txBody>
          <a:bodyPr/>
          <a:lstStyle/>
          <a:p>
            <a:endParaRPr lang="en-ZA"/>
          </a:p>
        </p:txBody>
      </p:sp>
      <p:sp>
        <p:nvSpPr>
          <p:cNvPr id="12" name="Text 10"/>
          <p:cNvSpPr/>
          <p:nvPr/>
        </p:nvSpPr>
        <p:spPr>
          <a:xfrm>
            <a:off x="4590288" y="1060704"/>
            <a:ext cx="1920240" cy="678942"/>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98%</a:t>
            </a:r>
            <a:endParaRPr lang="en-US" sz="3200" dirty="0"/>
          </a:p>
        </p:txBody>
      </p:sp>
      <p:sp>
        <p:nvSpPr>
          <p:cNvPr id="13" name="Text 11"/>
          <p:cNvSpPr/>
          <p:nvPr/>
        </p:nvSpPr>
        <p:spPr>
          <a:xfrm>
            <a:off x="4590288" y="1666494"/>
            <a:ext cx="1920240" cy="555498"/>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Fraud Recall</a:t>
            </a:r>
            <a:endParaRPr lang="en-US" sz="1100" dirty="0"/>
          </a:p>
        </p:txBody>
      </p:sp>
      <p:sp>
        <p:nvSpPr>
          <p:cNvPr id="14" name="Shape 12"/>
          <p:cNvSpPr/>
          <p:nvPr/>
        </p:nvSpPr>
        <p:spPr>
          <a:xfrm>
            <a:off x="6693408" y="987552"/>
            <a:ext cx="1920240" cy="1234440"/>
          </a:xfrm>
          <a:prstGeom prst="rect">
            <a:avLst/>
          </a:prstGeom>
          <a:solidFill>
            <a:srgbClr val="1D3557"/>
          </a:solidFill>
          <a:ln w="12700">
            <a:solidFill>
              <a:srgbClr val="1D3557"/>
            </a:solidFill>
            <a:prstDash val="solid"/>
          </a:ln>
          <a:effectLst>
            <a:outerShdw blurRad="101600" dist="38100" dir="8100000" algn="bl" rotWithShape="0">
              <a:srgbClr val="000000">
                <a:alpha val="20000"/>
              </a:srgbClr>
            </a:outerShdw>
          </a:effectLst>
        </p:spPr>
        <p:txBody>
          <a:bodyPr/>
          <a:lstStyle/>
          <a:p>
            <a:endParaRPr lang="en-ZA"/>
          </a:p>
        </p:txBody>
      </p:sp>
      <p:sp>
        <p:nvSpPr>
          <p:cNvPr id="15" name="Text 13"/>
          <p:cNvSpPr/>
          <p:nvPr/>
        </p:nvSpPr>
        <p:spPr>
          <a:xfrm>
            <a:off x="6693408" y="1060704"/>
            <a:ext cx="1920240" cy="678942"/>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100%</a:t>
            </a:r>
            <a:endParaRPr lang="en-US" sz="3200" dirty="0"/>
          </a:p>
        </p:txBody>
      </p:sp>
      <p:sp>
        <p:nvSpPr>
          <p:cNvPr id="16" name="Text 14"/>
          <p:cNvSpPr/>
          <p:nvPr/>
        </p:nvSpPr>
        <p:spPr>
          <a:xfrm>
            <a:off x="6693408" y="1666494"/>
            <a:ext cx="1920240" cy="555498"/>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Fraud Precision</a:t>
            </a:r>
            <a:endParaRPr lang="en-US" sz="1100" dirty="0"/>
          </a:p>
        </p:txBody>
      </p:sp>
      <p:sp>
        <p:nvSpPr>
          <p:cNvPr id="17" name="Text 15"/>
          <p:cNvSpPr/>
          <p:nvPr/>
        </p:nvSpPr>
        <p:spPr>
          <a:xfrm>
            <a:off x="384048" y="2395728"/>
            <a:ext cx="4114800" cy="274320"/>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Confusion Matrix (Test Set: 1,259 claims)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84048" y="2743200"/>
          <a:ext cx="4114800" cy="1783080"/>
        </p:xfrm>
        <a:graphic>
          <a:graphicData uri="http://schemas.openxmlformats.org/drawingml/2006/table">
            <a:tbl>
              <a:tblPr/>
              <a:tblGrid>
                <a:gridCol w="14630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tblGrid>
              <a:tr h="594360">
                <a:tc>
                  <a:txBody>
                    <a:bodyPr/>
                    <a:lstStyle/>
                    <a:p>
                      <a:pPr marL="0" indent="0">
                        <a:buNone/>
                      </a:pP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solidFill>
                      <a:srgbClr val="F4F9FA"/>
                    </a:solidFill>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Predicted: Non-Fraud</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solidFill>
                      <a:srgbClr val="E2EBF0"/>
                    </a:solidFill>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Predicted: Fraud</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solidFill>
                      <a:srgbClr val="E2EBF0"/>
                    </a:solidFill>
                  </a:tcPr>
                </a:tc>
                <a:extLst>
                  <a:ext uri="{0D108BD9-81ED-4DB2-BD59-A6C34878D82A}">
                    <a16:rowId xmlns:a16="http://schemas.microsoft.com/office/drawing/2014/main" val="10000"/>
                  </a:ext>
                </a:extLst>
              </a:tr>
              <a:tr h="59436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Actual: Non-Fraud</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solidFill>
                      <a:srgbClr val="E2EBF0"/>
                    </a:solidFill>
                  </a:tcPr>
                </a:tc>
                <a:tc>
                  <a:txBody>
                    <a:bodyPr/>
                    <a:lstStyle/>
                    <a:p>
                      <a:pPr marL="0" indent="0" algn="ctr">
                        <a:buNone/>
                      </a:pPr>
                      <a:r>
                        <a:rPr lang="en-US" sz="1200" b="1" dirty="0">
                          <a:solidFill>
                            <a:srgbClr val="2D6A4F"/>
                          </a:solidFill>
                          <a:latin typeface="Calibri" pitchFamily="34" charset="0"/>
                          <a:ea typeface="Calibri" pitchFamily="34" charset="-122"/>
                          <a:cs typeface="Calibri" pitchFamily="34" charset="-120"/>
                        </a:rPr>
                        <a:t>640 (TN) ✓</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solidFill>
                      <a:srgbClr val="D8F3DC"/>
                    </a:solidFill>
                  </a:tcPr>
                </a:tc>
                <a:tc>
                  <a:txBody>
                    <a:bodyPr/>
                    <a:lstStyle/>
                    <a:p>
                      <a:pPr marL="0" indent="0" algn="ctr">
                        <a:buNone/>
                      </a:pPr>
                      <a:r>
                        <a:rPr lang="en-US" sz="1200" dirty="0">
                          <a:solidFill>
                            <a:srgbClr val="E05A5A"/>
                          </a:solidFill>
                          <a:latin typeface="Calibri" pitchFamily="34" charset="0"/>
                          <a:ea typeface="Calibri" pitchFamily="34" charset="-122"/>
                          <a:cs typeface="Calibri" pitchFamily="34" charset="-120"/>
                        </a:rPr>
                        <a:t>3 (FP)</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solidFill>
                      <a:srgbClr val="FFE5E5"/>
                    </a:solidFill>
                  </a:tcPr>
                </a:tc>
                <a:extLst>
                  <a:ext uri="{0D108BD9-81ED-4DB2-BD59-A6C34878D82A}">
                    <a16:rowId xmlns:a16="http://schemas.microsoft.com/office/drawing/2014/main" val="10001"/>
                  </a:ext>
                </a:extLst>
              </a:tr>
              <a:tr h="59436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Actual: Fraud</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solidFill>
                      <a:srgbClr val="E2EBF0"/>
                    </a:solidFill>
                  </a:tcPr>
                </a:tc>
                <a:tc>
                  <a:txBody>
                    <a:bodyPr/>
                    <a:lstStyle/>
                    <a:p>
                      <a:pPr marL="0" indent="0" algn="ctr">
                        <a:buNone/>
                      </a:pPr>
                      <a:r>
                        <a:rPr lang="en-US" sz="1200" dirty="0">
                          <a:solidFill>
                            <a:srgbClr val="E05A5A"/>
                          </a:solidFill>
                          <a:latin typeface="Calibri" pitchFamily="34" charset="0"/>
                          <a:ea typeface="Calibri" pitchFamily="34" charset="-122"/>
                          <a:cs typeface="Calibri" pitchFamily="34" charset="-120"/>
                        </a:rPr>
                        <a:t>10 (FN)</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solidFill>
                      <a:srgbClr val="FFE5E5"/>
                    </a:solidFill>
                  </a:tcPr>
                </a:tc>
                <a:tc>
                  <a:txBody>
                    <a:bodyPr/>
                    <a:lstStyle/>
                    <a:p>
                      <a:pPr marL="0" indent="0" algn="ctr">
                        <a:buNone/>
                      </a:pPr>
                      <a:r>
                        <a:rPr lang="en-US" sz="1200" b="1" dirty="0">
                          <a:solidFill>
                            <a:srgbClr val="2D6A4F"/>
                          </a:solidFill>
                          <a:latin typeface="Calibri" pitchFamily="34" charset="0"/>
                          <a:ea typeface="Calibri" pitchFamily="34" charset="-122"/>
                          <a:cs typeface="Calibri" pitchFamily="34" charset="-120"/>
                        </a:rPr>
                        <a:t>606 (TP) ✓</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solidFill>
                      <a:srgbClr val="D8F3DC"/>
                    </a:solidFill>
                  </a:tcPr>
                </a:tc>
                <a:extLst>
                  <a:ext uri="{0D108BD9-81ED-4DB2-BD59-A6C34878D82A}">
                    <a16:rowId xmlns:a16="http://schemas.microsoft.com/office/drawing/2014/main" val="10002"/>
                  </a:ext>
                </a:extLst>
              </a:tr>
            </a:tbl>
          </a:graphicData>
        </a:graphic>
      </p:graphicFrame>
      <p:sp>
        <p:nvSpPr>
          <p:cNvPr id="19" name="Text 16"/>
          <p:cNvSpPr/>
          <p:nvPr/>
        </p:nvSpPr>
        <p:spPr>
          <a:xfrm>
            <a:off x="4754880" y="2395728"/>
            <a:ext cx="4023360" cy="274320"/>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Per-Class Classification Report</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754880" y="2743200"/>
          <a:ext cx="4023360" cy="1783080"/>
        </p:xfrm>
        <a:graphic>
          <a:graphicData uri="http://schemas.openxmlformats.org/drawingml/2006/table">
            <a:tbl>
              <a:tblPr/>
              <a:tblGrid>
                <a:gridCol w="1463040">
                  <a:extLst>
                    <a:ext uri="{9D8B030D-6E8A-4147-A177-3AD203B41FA5}">
                      <a16:colId xmlns:a16="http://schemas.microsoft.com/office/drawing/2014/main" val="20000"/>
                    </a:ext>
                  </a:extLst>
                </a:gridCol>
                <a:gridCol w="850392">
                  <a:extLst>
                    <a:ext uri="{9D8B030D-6E8A-4147-A177-3AD203B41FA5}">
                      <a16:colId xmlns:a16="http://schemas.microsoft.com/office/drawing/2014/main" val="20001"/>
                    </a:ext>
                  </a:extLst>
                </a:gridCol>
                <a:gridCol w="850392">
                  <a:extLst>
                    <a:ext uri="{9D8B030D-6E8A-4147-A177-3AD203B41FA5}">
                      <a16:colId xmlns:a16="http://schemas.microsoft.com/office/drawing/2014/main" val="20002"/>
                    </a:ext>
                  </a:extLst>
                </a:gridCol>
                <a:gridCol w="859536">
                  <a:extLst>
                    <a:ext uri="{9D8B030D-6E8A-4147-A177-3AD203B41FA5}">
                      <a16:colId xmlns:a16="http://schemas.microsoft.com/office/drawing/2014/main" val="20003"/>
                    </a:ext>
                  </a:extLst>
                </a:gridCol>
              </a:tblGrid>
              <a:tr h="356616">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solidFill>
                      <a:srgbClr val="0E9AA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solidFill>
                      <a:srgbClr val="0E9AA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solidFill>
                      <a:srgbClr val="0E9AA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solidFill>
                      <a:srgbClr val="0E9AA7"/>
                    </a:solidFill>
                  </a:tcPr>
                </a:tc>
                <a:extLst>
                  <a:ext uri="{0D108BD9-81ED-4DB2-BD59-A6C34878D82A}">
                    <a16:rowId xmlns:a16="http://schemas.microsoft.com/office/drawing/2014/main" val="10000"/>
                  </a:ext>
                </a:extLst>
              </a:tr>
              <a:tr h="356616">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 (Non-Fraud)</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0.98</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0.99</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tcPr>
                </a:tc>
                <a:extLst>
                  <a:ext uri="{0D108BD9-81ED-4DB2-BD59-A6C34878D82A}">
                    <a16:rowId xmlns:a16="http://schemas.microsoft.com/office/drawing/2014/main" val="10001"/>
                  </a:ext>
                </a:extLst>
              </a:tr>
              <a:tr h="356616">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 (Fraud)</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0.98</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0.99</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tcPr>
                </a:tc>
                <a:extLst>
                  <a:ext uri="{0D108BD9-81ED-4DB2-BD59-A6C34878D82A}">
                    <a16:rowId xmlns:a16="http://schemas.microsoft.com/office/drawing/2014/main" val="10002"/>
                  </a:ext>
                </a:extLst>
              </a:tr>
              <a:tr h="356616">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Macro Avg</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0.99</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0.99</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0.99</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tcPr>
                </a:tc>
                <a:extLst>
                  <a:ext uri="{0D108BD9-81ED-4DB2-BD59-A6C34878D82A}">
                    <a16:rowId xmlns:a16="http://schemas.microsoft.com/office/drawing/2014/main" val="10003"/>
                  </a:ext>
                </a:extLst>
              </a:tr>
              <a:tr h="356616">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tcPr>
                </a:tc>
                <a:tc gridSpan="3">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0.99</a:t>
                      </a:r>
                      <a:endParaRPr lang="en-US" sz="1200" dirty="0">
                        <a:latin typeface="Calibri" charset="0"/>
                        <a:ea typeface="Calibri" charset="0"/>
                        <a:cs typeface="Calibri" charset="0"/>
                      </a:endParaRPr>
                    </a:p>
                  </a:txBody>
                  <a:tcPr anchor="ctr">
                    <a:lnL w="12700" cap="flat" cmpd="sng" algn="ctr">
                      <a:solidFill>
                        <a:srgbClr val="E2EBF0"/>
                      </a:solidFill>
                      <a:prstDash val="solid"/>
                      <a:round/>
                      <a:headEnd type="none" w="med" len="med"/>
                      <a:tailEnd type="none" w="med" len="med"/>
                    </a:lnL>
                    <a:lnR w="12700" cap="flat" cmpd="sng" algn="ctr">
                      <a:solidFill>
                        <a:srgbClr val="E2EBF0"/>
                      </a:solidFill>
                      <a:prstDash val="solid"/>
                      <a:round/>
                      <a:headEnd type="none" w="med" len="med"/>
                      <a:tailEnd type="none" w="med" len="med"/>
                    </a:lnR>
                    <a:lnT w="12700" cap="flat" cmpd="sng" algn="ctr">
                      <a:solidFill>
                        <a:srgbClr val="E2EBF0"/>
                      </a:solidFill>
                      <a:prstDash val="solid"/>
                      <a:round/>
                      <a:headEnd type="none" w="med" len="med"/>
                      <a:tailEnd type="none" w="med" len="med"/>
                    </a:lnT>
                    <a:lnB w="12700" cap="flat" cmpd="sng" algn="ctr">
                      <a:solidFill>
                        <a:srgbClr val="E2EBF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EXPLAINABILITY</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1A2E3B"/>
                </a:solidFill>
                <a:latin typeface="Calibri" pitchFamily="34" charset="0"/>
                <a:ea typeface="Calibri" pitchFamily="34" charset="-122"/>
                <a:cs typeface="Calibri" pitchFamily="34" charset="-120"/>
              </a:rPr>
              <a:t>SHAP Feature Importance Analysis</a:t>
            </a:r>
            <a:endParaRPr lang="en-US" sz="2800" dirty="0"/>
          </a:p>
        </p:txBody>
      </p:sp>
      <p:sp>
        <p:nvSpPr>
          <p:cNvPr id="6" name="Shape 3"/>
          <p:cNvSpPr/>
          <p:nvPr/>
        </p:nvSpPr>
        <p:spPr>
          <a:xfrm>
            <a:off x="5650992" y="1024128"/>
            <a:ext cx="3108960" cy="868680"/>
          </a:xfrm>
          <a:prstGeom prst="rect">
            <a:avLst/>
          </a:prstGeom>
          <a:solidFill>
            <a:srgbClr val="FFFFFF"/>
          </a:solidFill>
          <a:ln w="12700">
            <a:solidFill>
              <a:srgbClr val="E2EBF0"/>
            </a:solidFill>
            <a:prstDash val="solid"/>
          </a:ln>
          <a:effectLst>
            <a:outerShdw blurRad="38100" dist="12700" dir="8100000" algn="bl" rotWithShape="0">
              <a:srgbClr val="000000">
                <a:alpha val="8000"/>
              </a:srgbClr>
            </a:outerShdw>
          </a:effectLst>
        </p:spPr>
        <p:txBody>
          <a:bodyPr/>
          <a:lstStyle/>
          <a:p>
            <a:endParaRPr lang="en-ZA"/>
          </a:p>
        </p:txBody>
      </p:sp>
      <p:sp>
        <p:nvSpPr>
          <p:cNvPr id="7" name="Shape 4"/>
          <p:cNvSpPr/>
          <p:nvPr/>
        </p:nvSpPr>
        <p:spPr>
          <a:xfrm>
            <a:off x="5650992" y="1024128"/>
            <a:ext cx="457200" cy="868680"/>
          </a:xfrm>
          <a:prstGeom prst="rect">
            <a:avLst/>
          </a:prstGeom>
          <a:solidFill>
            <a:srgbClr val="0E9AA7"/>
          </a:solidFill>
          <a:ln w="12700">
            <a:solidFill>
              <a:srgbClr val="0E9AA7"/>
            </a:solidFill>
            <a:prstDash val="solid"/>
          </a:ln>
        </p:spPr>
        <p:txBody>
          <a:bodyPr/>
          <a:lstStyle/>
          <a:p>
            <a:endParaRPr lang="en-ZA"/>
          </a:p>
        </p:txBody>
      </p:sp>
      <p:sp>
        <p:nvSpPr>
          <p:cNvPr id="8" name="Text 5"/>
          <p:cNvSpPr/>
          <p:nvPr/>
        </p:nvSpPr>
        <p:spPr>
          <a:xfrm>
            <a:off x="5650992" y="1024128"/>
            <a:ext cx="457200"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6163056" y="1097280"/>
            <a:ext cx="2505456" cy="256032"/>
          </a:xfrm>
          <a:prstGeom prst="rect">
            <a:avLst/>
          </a:prstGeom>
          <a:noFill/>
          <a:ln/>
        </p:spPr>
        <p:txBody>
          <a:bodyPr wrap="square" lIns="0" tIns="0" rIns="0" bIns="0" rtlCol="0" anchor="ctr"/>
          <a:lstStyle/>
          <a:p>
            <a:pPr marL="0" indent="0">
              <a:buNone/>
            </a:pPr>
            <a:r>
              <a:rPr lang="en-US" sz="1200" b="1" dirty="0">
                <a:solidFill>
                  <a:srgbClr val="0A7581"/>
                </a:solidFill>
                <a:latin typeface="Calibri" pitchFamily="34" charset="0"/>
                <a:ea typeface="Calibri" pitchFamily="34" charset="-122"/>
                <a:cs typeface="Calibri" pitchFamily="34" charset="-120"/>
              </a:rPr>
              <a:t>Amount Billed  (0.08)</a:t>
            </a:r>
            <a:endParaRPr lang="en-US" sz="1200" dirty="0"/>
          </a:p>
        </p:txBody>
      </p:sp>
      <p:sp>
        <p:nvSpPr>
          <p:cNvPr id="10" name="Text 7"/>
          <p:cNvSpPr/>
          <p:nvPr/>
        </p:nvSpPr>
        <p:spPr>
          <a:xfrm>
            <a:off x="6163056" y="1371600"/>
            <a:ext cx="2505456" cy="45720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Primary driver since high values signal upcoding &amp; phantom billing</a:t>
            </a:r>
            <a:endParaRPr lang="en-US" sz="1050" dirty="0"/>
          </a:p>
        </p:txBody>
      </p:sp>
      <p:sp>
        <p:nvSpPr>
          <p:cNvPr id="11" name="Shape 8"/>
          <p:cNvSpPr/>
          <p:nvPr/>
        </p:nvSpPr>
        <p:spPr>
          <a:xfrm>
            <a:off x="5650992" y="2011680"/>
            <a:ext cx="3108960" cy="868680"/>
          </a:xfrm>
          <a:prstGeom prst="rect">
            <a:avLst/>
          </a:prstGeom>
          <a:solidFill>
            <a:srgbClr val="FFFFFF"/>
          </a:solidFill>
          <a:ln w="12700">
            <a:solidFill>
              <a:srgbClr val="E2EBF0"/>
            </a:solidFill>
            <a:prstDash val="solid"/>
          </a:ln>
          <a:effectLst>
            <a:outerShdw blurRad="38100" dist="12700" dir="8100000" algn="bl" rotWithShape="0">
              <a:srgbClr val="000000">
                <a:alpha val="8000"/>
              </a:srgbClr>
            </a:outerShdw>
          </a:effectLst>
        </p:spPr>
        <p:txBody>
          <a:bodyPr/>
          <a:lstStyle/>
          <a:p>
            <a:endParaRPr lang="en-ZA"/>
          </a:p>
        </p:txBody>
      </p:sp>
      <p:sp>
        <p:nvSpPr>
          <p:cNvPr id="12" name="Shape 9"/>
          <p:cNvSpPr/>
          <p:nvPr/>
        </p:nvSpPr>
        <p:spPr>
          <a:xfrm>
            <a:off x="5650992" y="2011680"/>
            <a:ext cx="457200" cy="868680"/>
          </a:xfrm>
          <a:prstGeom prst="rect">
            <a:avLst/>
          </a:prstGeom>
          <a:solidFill>
            <a:srgbClr val="0E9AA7"/>
          </a:solidFill>
          <a:ln w="12700">
            <a:solidFill>
              <a:srgbClr val="0E9AA7"/>
            </a:solidFill>
            <a:prstDash val="solid"/>
          </a:ln>
        </p:spPr>
        <p:txBody>
          <a:bodyPr/>
          <a:lstStyle/>
          <a:p>
            <a:endParaRPr lang="en-ZA"/>
          </a:p>
        </p:txBody>
      </p:sp>
      <p:sp>
        <p:nvSpPr>
          <p:cNvPr id="13" name="Text 10"/>
          <p:cNvSpPr/>
          <p:nvPr/>
        </p:nvSpPr>
        <p:spPr>
          <a:xfrm>
            <a:off x="5650992" y="2011680"/>
            <a:ext cx="457200"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p:nvPr/>
        </p:nvSpPr>
        <p:spPr>
          <a:xfrm>
            <a:off x="6163056" y="2084832"/>
            <a:ext cx="2505456" cy="256032"/>
          </a:xfrm>
          <a:prstGeom prst="rect">
            <a:avLst/>
          </a:prstGeom>
          <a:noFill/>
          <a:ln/>
        </p:spPr>
        <p:txBody>
          <a:bodyPr wrap="square" lIns="0" tIns="0" rIns="0" bIns="0" rtlCol="0" anchor="ctr"/>
          <a:lstStyle/>
          <a:p>
            <a:pPr marL="0" indent="0">
              <a:buNone/>
            </a:pPr>
            <a:r>
              <a:rPr lang="en-US" sz="1200" b="1" dirty="0">
                <a:solidFill>
                  <a:srgbClr val="0A7581"/>
                </a:solidFill>
                <a:latin typeface="Calibri" pitchFamily="34" charset="0"/>
                <a:ea typeface="Calibri" pitchFamily="34" charset="-122"/>
                <a:cs typeface="Calibri" pitchFamily="34" charset="-120"/>
              </a:rPr>
              <a:t>Date of Encounter  (0.05)</a:t>
            </a:r>
            <a:endParaRPr lang="en-US" sz="1200" dirty="0"/>
          </a:p>
        </p:txBody>
      </p:sp>
      <p:sp>
        <p:nvSpPr>
          <p:cNvPr id="15" name="Text 12"/>
          <p:cNvSpPr/>
          <p:nvPr/>
        </p:nvSpPr>
        <p:spPr>
          <a:xfrm>
            <a:off x="6163056" y="2359152"/>
            <a:ext cx="2505456" cy="45720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Temporal fraud patterns thus specific billing periods are disproportionately suspicious</a:t>
            </a:r>
            <a:endParaRPr lang="en-US" sz="1050" dirty="0"/>
          </a:p>
        </p:txBody>
      </p:sp>
      <p:sp>
        <p:nvSpPr>
          <p:cNvPr id="16" name="Shape 13"/>
          <p:cNvSpPr/>
          <p:nvPr/>
        </p:nvSpPr>
        <p:spPr>
          <a:xfrm>
            <a:off x="5650992" y="2999232"/>
            <a:ext cx="3108960" cy="868680"/>
          </a:xfrm>
          <a:prstGeom prst="rect">
            <a:avLst/>
          </a:prstGeom>
          <a:solidFill>
            <a:srgbClr val="FFFFFF"/>
          </a:solidFill>
          <a:ln w="12700">
            <a:solidFill>
              <a:srgbClr val="E2EBF0"/>
            </a:solidFill>
            <a:prstDash val="solid"/>
          </a:ln>
          <a:effectLst>
            <a:outerShdw blurRad="38100" dist="12700" dir="8100000" algn="bl" rotWithShape="0">
              <a:srgbClr val="000000">
                <a:alpha val="8000"/>
              </a:srgbClr>
            </a:outerShdw>
          </a:effectLst>
        </p:spPr>
        <p:txBody>
          <a:bodyPr/>
          <a:lstStyle/>
          <a:p>
            <a:endParaRPr lang="en-ZA"/>
          </a:p>
        </p:txBody>
      </p:sp>
      <p:sp>
        <p:nvSpPr>
          <p:cNvPr id="17" name="Shape 14"/>
          <p:cNvSpPr/>
          <p:nvPr/>
        </p:nvSpPr>
        <p:spPr>
          <a:xfrm>
            <a:off x="5650992" y="2999232"/>
            <a:ext cx="457200" cy="868680"/>
          </a:xfrm>
          <a:prstGeom prst="rect">
            <a:avLst/>
          </a:prstGeom>
          <a:solidFill>
            <a:srgbClr val="0E9AA7"/>
          </a:solidFill>
          <a:ln w="12700">
            <a:solidFill>
              <a:srgbClr val="0E9AA7"/>
            </a:solidFill>
            <a:prstDash val="solid"/>
          </a:ln>
        </p:spPr>
        <p:txBody>
          <a:bodyPr/>
          <a:lstStyle/>
          <a:p>
            <a:endParaRPr lang="en-ZA"/>
          </a:p>
        </p:txBody>
      </p:sp>
      <p:sp>
        <p:nvSpPr>
          <p:cNvPr id="18" name="Text 15"/>
          <p:cNvSpPr/>
          <p:nvPr/>
        </p:nvSpPr>
        <p:spPr>
          <a:xfrm>
            <a:off x="5650992" y="2999232"/>
            <a:ext cx="457200"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6163056" y="3072384"/>
            <a:ext cx="2505456" cy="256032"/>
          </a:xfrm>
          <a:prstGeom prst="rect">
            <a:avLst/>
          </a:prstGeom>
          <a:noFill/>
          <a:ln/>
        </p:spPr>
        <p:txBody>
          <a:bodyPr wrap="square" lIns="0" tIns="0" rIns="0" bIns="0" rtlCol="0" anchor="ctr"/>
          <a:lstStyle/>
          <a:p>
            <a:pPr marL="0" indent="0">
              <a:buNone/>
            </a:pPr>
            <a:r>
              <a:rPr lang="en-US" sz="1200" b="1" dirty="0">
                <a:solidFill>
                  <a:srgbClr val="0A7581"/>
                </a:solidFill>
                <a:latin typeface="Calibri" pitchFamily="34" charset="0"/>
                <a:ea typeface="Calibri" pitchFamily="34" charset="-122"/>
                <a:cs typeface="Calibri" pitchFamily="34" charset="-120"/>
              </a:rPr>
              <a:t>Diagnosis  (0.03)</a:t>
            </a:r>
            <a:endParaRPr lang="en-US" sz="1200" dirty="0"/>
          </a:p>
        </p:txBody>
      </p:sp>
      <p:sp>
        <p:nvSpPr>
          <p:cNvPr id="20" name="Text 17"/>
          <p:cNvSpPr/>
          <p:nvPr/>
        </p:nvSpPr>
        <p:spPr>
          <a:xfrm>
            <a:off x="6163056" y="3346704"/>
            <a:ext cx="2505456" cy="45720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High-reimbursement diagnostic codes statistically associated with fraud</a:t>
            </a:r>
            <a:endParaRPr lang="en-US" sz="1050" dirty="0"/>
          </a:p>
        </p:txBody>
      </p:sp>
      <p:sp>
        <p:nvSpPr>
          <p:cNvPr id="21" name="Shape 18"/>
          <p:cNvSpPr/>
          <p:nvPr/>
        </p:nvSpPr>
        <p:spPr>
          <a:xfrm>
            <a:off x="5650992" y="3986784"/>
            <a:ext cx="3108960" cy="868680"/>
          </a:xfrm>
          <a:prstGeom prst="rect">
            <a:avLst/>
          </a:prstGeom>
          <a:solidFill>
            <a:srgbClr val="FFFFFF"/>
          </a:solidFill>
          <a:ln w="12700">
            <a:solidFill>
              <a:srgbClr val="E2EBF0"/>
            </a:solidFill>
            <a:prstDash val="solid"/>
          </a:ln>
          <a:effectLst>
            <a:outerShdw blurRad="38100" dist="12700" dir="8100000" algn="bl" rotWithShape="0">
              <a:srgbClr val="000000">
                <a:alpha val="8000"/>
              </a:srgbClr>
            </a:outerShdw>
          </a:effectLst>
        </p:spPr>
        <p:txBody>
          <a:bodyPr/>
          <a:lstStyle/>
          <a:p>
            <a:endParaRPr lang="en-ZA"/>
          </a:p>
        </p:txBody>
      </p:sp>
      <p:sp>
        <p:nvSpPr>
          <p:cNvPr id="22" name="Shape 19"/>
          <p:cNvSpPr/>
          <p:nvPr/>
        </p:nvSpPr>
        <p:spPr>
          <a:xfrm>
            <a:off x="5650992" y="3986784"/>
            <a:ext cx="457200" cy="868680"/>
          </a:xfrm>
          <a:prstGeom prst="rect">
            <a:avLst/>
          </a:prstGeom>
          <a:solidFill>
            <a:srgbClr val="E05A5A"/>
          </a:solidFill>
          <a:ln w="12700">
            <a:solidFill>
              <a:srgbClr val="E05A5A"/>
            </a:solidFill>
            <a:prstDash val="solid"/>
          </a:ln>
        </p:spPr>
        <p:txBody>
          <a:bodyPr/>
          <a:lstStyle/>
          <a:p>
            <a:endParaRPr lang="en-ZA"/>
          </a:p>
        </p:txBody>
      </p:sp>
      <p:sp>
        <p:nvSpPr>
          <p:cNvPr id="23" name="Text 20"/>
          <p:cNvSpPr/>
          <p:nvPr/>
        </p:nvSpPr>
        <p:spPr>
          <a:xfrm>
            <a:off x="5650992" y="3986784"/>
            <a:ext cx="457200"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4" name="Text 21"/>
          <p:cNvSpPr/>
          <p:nvPr/>
        </p:nvSpPr>
        <p:spPr>
          <a:xfrm>
            <a:off x="6163056" y="4059936"/>
            <a:ext cx="2505456" cy="256032"/>
          </a:xfrm>
          <a:prstGeom prst="rect">
            <a:avLst/>
          </a:prstGeom>
          <a:noFill/>
          <a:ln/>
        </p:spPr>
        <p:txBody>
          <a:bodyPr wrap="square" lIns="0" tIns="0" rIns="0" bIns="0" rtlCol="0" anchor="ctr"/>
          <a:lstStyle/>
          <a:p>
            <a:pPr marL="0" indent="0">
              <a:buNone/>
            </a:pPr>
            <a:r>
              <a:rPr lang="en-US" sz="1200" b="1" dirty="0">
                <a:solidFill>
                  <a:srgbClr val="0A7581"/>
                </a:solidFill>
                <a:latin typeface="Calibri" pitchFamily="34" charset="0"/>
                <a:ea typeface="Calibri" pitchFamily="34" charset="-122"/>
                <a:cs typeface="Calibri" pitchFamily="34" charset="-120"/>
              </a:rPr>
              <a:t>Patient ID  (~0.00)</a:t>
            </a:r>
            <a:endParaRPr lang="en-US" sz="1200" dirty="0"/>
          </a:p>
        </p:txBody>
      </p:sp>
      <p:sp>
        <p:nvSpPr>
          <p:cNvPr id="25" name="Text 22"/>
          <p:cNvSpPr/>
          <p:nvPr/>
        </p:nvSpPr>
        <p:spPr>
          <a:xfrm>
            <a:off x="6163056" y="4334256"/>
            <a:ext cx="2505456" cy="45720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Correctly ignored — model does not rely on identifiers (robustness confirmed)</a:t>
            </a:r>
            <a:endParaRPr lang="en-US" sz="1050" dirty="0"/>
          </a:p>
        </p:txBody>
      </p:sp>
      <p:pic>
        <p:nvPicPr>
          <p:cNvPr id="27" name="Picture 26">
            <a:extLst>
              <a:ext uri="{FF2B5EF4-FFF2-40B4-BE49-F238E27FC236}">
                <a16:creationId xmlns:a16="http://schemas.microsoft.com/office/drawing/2014/main" id="{9DE29706-F13E-7F08-2AD6-6177C11F032E}"/>
              </a:ext>
            </a:extLst>
          </p:cNvPr>
          <p:cNvPicPr>
            <a:picLocks noChangeAspect="1"/>
          </p:cNvPicPr>
          <p:nvPr/>
        </p:nvPicPr>
        <p:blipFill>
          <a:blip r:embed="rId3"/>
          <a:stretch>
            <a:fillRect/>
          </a:stretch>
        </p:blipFill>
        <p:spPr>
          <a:xfrm>
            <a:off x="245475" y="1097280"/>
            <a:ext cx="5185506" cy="34885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EXPLAINABILITY</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SHAP vs LIME Disagreement Analysis</a:t>
            </a:r>
            <a:endParaRPr lang="en-US" sz="2800" dirty="0"/>
          </a:p>
        </p:txBody>
      </p:sp>
      <p:sp>
        <p:nvSpPr>
          <p:cNvPr id="5" name="Shape 3"/>
          <p:cNvSpPr/>
          <p:nvPr/>
        </p:nvSpPr>
        <p:spPr>
          <a:xfrm>
            <a:off x="384048" y="1005840"/>
            <a:ext cx="8375904" cy="658368"/>
          </a:xfrm>
          <a:prstGeom prst="rect">
            <a:avLst/>
          </a:prstGeom>
          <a:solidFill>
            <a:srgbClr val="1A0A0A"/>
          </a:solidFill>
          <a:ln w="12700">
            <a:solidFill>
              <a:srgbClr val="E05A5A"/>
            </a:solidFill>
            <a:prstDash val="solid"/>
          </a:ln>
        </p:spPr>
        <p:txBody>
          <a:bodyPr/>
          <a:lstStyle/>
          <a:p>
            <a:endParaRPr lang="en-ZA"/>
          </a:p>
        </p:txBody>
      </p:sp>
      <p:sp>
        <p:nvSpPr>
          <p:cNvPr id="6" name="Text 4"/>
          <p:cNvSpPr/>
          <p:nvPr/>
        </p:nvSpPr>
        <p:spPr>
          <a:xfrm>
            <a:off x="502920" y="1024128"/>
            <a:ext cx="8138160" cy="621792"/>
          </a:xfrm>
          <a:prstGeom prst="rect">
            <a:avLst/>
          </a:prstGeom>
          <a:noFill/>
          <a:ln/>
        </p:spPr>
        <p:txBody>
          <a:bodyPr wrap="square" lIns="0" tIns="0" rIns="0" bIns="0" rtlCol="0" anchor="ctr"/>
          <a:lstStyle/>
          <a:p>
            <a:pPr marL="0" indent="0">
              <a:buNone/>
            </a:pPr>
            <a:r>
              <a:rPr lang="en-US" sz="1200" dirty="0">
                <a:solidFill>
                  <a:srgbClr val="FFB3B3"/>
                </a:solidFill>
                <a:latin typeface="Calibri" pitchFamily="34" charset="0"/>
                <a:ea typeface="Calibri" pitchFamily="34" charset="-122"/>
                <a:cs typeface="Calibri" pitchFamily="34" charset="-120"/>
              </a:rPr>
              <a:t>⚠  Key Finding: SHAP and LIME consistently disagree on top feature. LIME overfits to a global proxy boundary on Patient ID ≤ 2670.50, while SHAP captures true transaction-level signals (Amount Billed, Date of Encounter/Discharge).</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84048" y="1783080"/>
          <a:ext cx="8375904" cy="2148840"/>
        </p:xfrm>
        <a:graphic>
          <a:graphicData uri="http://schemas.openxmlformats.org/drawingml/2006/table">
            <a:tbl>
              <a:tblPr/>
              <a:tblGrid>
                <a:gridCol w="7315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066544">
                  <a:extLst>
                    <a:ext uri="{9D8B030D-6E8A-4147-A177-3AD203B41FA5}">
                      <a16:colId xmlns:a16="http://schemas.microsoft.com/office/drawing/2014/main" val="20004"/>
                    </a:ext>
                  </a:extLst>
                </a:gridCol>
              </a:tblGrid>
              <a:tr h="429768">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Block</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A758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Prediction</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A758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Top SHAP Feature</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A758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Top LIME Feature</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A758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Fraud Confidence</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A7581"/>
                    </a:solidFill>
                  </a:tcPr>
                </a:tc>
                <a:extLst>
                  <a:ext uri="{0D108BD9-81ED-4DB2-BD59-A6C34878D82A}">
                    <a16:rowId xmlns:a16="http://schemas.microsoft.com/office/drawing/2014/main" val="10000"/>
                  </a:ext>
                </a:extLst>
              </a:tr>
              <a:tr h="429768">
                <a:tc>
                  <a:txBody>
                    <a:bodyPr/>
                    <a:lstStyle/>
                    <a:p>
                      <a:pPr marL="0" indent="0" algn="ctr">
                        <a:buNone/>
                      </a:pPr>
                      <a:r>
                        <a:rPr lang="en-US" sz="1150" dirty="0">
                          <a:solidFill>
                            <a:srgbClr val="E2EBF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b="1" dirty="0">
                          <a:solidFill>
                            <a:srgbClr val="E05A5A"/>
                          </a:solidFill>
                          <a:latin typeface="Calibri" pitchFamily="34" charset="0"/>
                          <a:ea typeface="Calibri" pitchFamily="34" charset="-122"/>
                          <a:cs typeface="Calibri" pitchFamily="34" charset="-120"/>
                        </a:rPr>
                        <a:t>Fraud</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dirty="0">
                          <a:solidFill>
                            <a:srgbClr val="E2EBF0"/>
                          </a:solidFill>
                          <a:latin typeface="Calibri" pitchFamily="34" charset="0"/>
                          <a:ea typeface="Calibri" pitchFamily="34" charset="-122"/>
                          <a:cs typeface="Calibri" pitchFamily="34" charset="-120"/>
                        </a:rPr>
                        <a:t>Amount Billed (+0.318)</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dirty="0">
                          <a:solidFill>
                            <a:srgbClr val="E2EBF0"/>
                          </a:solidFill>
                          <a:latin typeface="Calibri" pitchFamily="34" charset="0"/>
                          <a:ea typeface="Calibri" pitchFamily="34" charset="-122"/>
                          <a:cs typeface="Calibri" pitchFamily="34" charset="-120"/>
                        </a:rPr>
                        <a:t>Patient ID ≤ 2670.50</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b="1" dirty="0">
                          <a:solidFill>
                            <a:srgbClr val="0E9AA7"/>
                          </a:solidFill>
                          <a:latin typeface="Calibri" pitchFamily="34" charset="0"/>
                          <a:ea typeface="Calibri" pitchFamily="34" charset="-122"/>
                          <a:cs typeface="Calibri" pitchFamily="34" charset="-120"/>
                        </a:rPr>
                        <a:t>93.9%</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extLst>
                  <a:ext uri="{0D108BD9-81ED-4DB2-BD59-A6C34878D82A}">
                    <a16:rowId xmlns:a16="http://schemas.microsoft.com/office/drawing/2014/main" val="10001"/>
                  </a:ext>
                </a:extLst>
              </a:tr>
              <a:tr h="429768">
                <a:tc>
                  <a:txBody>
                    <a:bodyPr/>
                    <a:lstStyle/>
                    <a:p>
                      <a:pPr marL="0" indent="0" algn="ctr">
                        <a:buNone/>
                      </a:pPr>
                      <a:r>
                        <a:rPr lang="en-US" sz="1150" dirty="0">
                          <a:solidFill>
                            <a:srgbClr val="E2EBF0"/>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b="1" dirty="0">
                          <a:solidFill>
                            <a:srgbClr val="E05A5A"/>
                          </a:solidFill>
                          <a:latin typeface="Calibri" pitchFamily="34" charset="0"/>
                          <a:ea typeface="Calibri" pitchFamily="34" charset="-122"/>
                          <a:cs typeface="Calibri" pitchFamily="34" charset="-120"/>
                        </a:rPr>
                        <a:t>Fraud</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dirty="0">
                          <a:solidFill>
                            <a:srgbClr val="E2EBF0"/>
                          </a:solidFill>
                          <a:latin typeface="Calibri" pitchFamily="34" charset="0"/>
                          <a:ea typeface="Calibri" pitchFamily="34" charset="-122"/>
                          <a:cs typeface="Calibri" pitchFamily="34" charset="-120"/>
                        </a:rPr>
                        <a:t>Amount Billed (+0.326)</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dirty="0">
                          <a:solidFill>
                            <a:srgbClr val="E2EBF0"/>
                          </a:solidFill>
                          <a:latin typeface="Calibri" pitchFamily="34" charset="0"/>
                          <a:ea typeface="Calibri" pitchFamily="34" charset="-122"/>
                          <a:cs typeface="Calibri" pitchFamily="34" charset="-120"/>
                        </a:rPr>
                        <a:t>Patient ID ≤ 2670.50</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b="1" dirty="0">
                          <a:solidFill>
                            <a:srgbClr val="0E9AA7"/>
                          </a:solidFill>
                          <a:latin typeface="Calibri" pitchFamily="34" charset="0"/>
                          <a:ea typeface="Calibri" pitchFamily="34" charset="-122"/>
                          <a:cs typeface="Calibri" pitchFamily="34" charset="-120"/>
                        </a:rPr>
                        <a:t>87.7%</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extLst>
                  <a:ext uri="{0D108BD9-81ED-4DB2-BD59-A6C34878D82A}">
                    <a16:rowId xmlns:a16="http://schemas.microsoft.com/office/drawing/2014/main" val="10002"/>
                  </a:ext>
                </a:extLst>
              </a:tr>
              <a:tr h="429768">
                <a:tc>
                  <a:txBody>
                    <a:bodyPr/>
                    <a:lstStyle/>
                    <a:p>
                      <a:pPr marL="0" indent="0" algn="ctr">
                        <a:buNone/>
                      </a:pPr>
                      <a:r>
                        <a:rPr lang="en-US" sz="1150" dirty="0">
                          <a:solidFill>
                            <a:srgbClr val="E2EBF0"/>
                          </a:solidFill>
                          <a:latin typeface="Calibri" pitchFamily="34" charset="0"/>
                          <a:ea typeface="Calibri" pitchFamily="34" charset="-122"/>
                          <a:cs typeface="Calibri" pitchFamily="34" charset="-120"/>
                        </a:rPr>
                        <a:t>#32</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b="1" dirty="0">
                          <a:solidFill>
                            <a:srgbClr val="90EE90"/>
                          </a:solidFill>
                          <a:latin typeface="Calibri" pitchFamily="34" charset="0"/>
                          <a:ea typeface="Calibri" pitchFamily="34" charset="-122"/>
                          <a:cs typeface="Calibri" pitchFamily="34" charset="-120"/>
                        </a:rPr>
                        <a:t>Not Fraud</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dirty="0">
                          <a:solidFill>
                            <a:srgbClr val="E2EBF0"/>
                          </a:solidFill>
                          <a:latin typeface="Calibri" pitchFamily="34" charset="0"/>
                          <a:ea typeface="Calibri" pitchFamily="34" charset="-122"/>
                          <a:cs typeface="Calibri" pitchFamily="34" charset="-120"/>
                        </a:rPr>
                        <a:t>Date of Discharge (-0.353)</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dirty="0">
                          <a:solidFill>
                            <a:srgbClr val="E2EBF0"/>
                          </a:solidFill>
                          <a:latin typeface="Calibri" pitchFamily="34" charset="0"/>
                          <a:ea typeface="Calibri" pitchFamily="34" charset="-122"/>
                          <a:cs typeface="Calibri" pitchFamily="34" charset="-120"/>
                        </a:rPr>
                        <a:t>Patient ID ≤ 2670.50</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dirty="0">
                          <a:solidFill>
                            <a:srgbClr val="E2EBF0"/>
                          </a:solidFill>
                          <a:latin typeface="Calibri" pitchFamily="34" charset="0"/>
                          <a:ea typeface="Calibri" pitchFamily="34" charset="-122"/>
                          <a:cs typeface="Calibri" pitchFamily="34" charset="-120"/>
                        </a:rPr>
                        <a:t>99.5% (NF)</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extLst>
                  <a:ext uri="{0D108BD9-81ED-4DB2-BD59-A6C34878D82A}">
                    <a16:rowId xmlns:a16="http://schemas.microsoft.com/office/drawing/2014/main" val="10003"/>
                  </a:ext>
                </a:extLst>
              </a:tr>
              <a:tr h="429768">
                <a:tc>
                  <a:txBody>
                    <a:bodyPr/>
                    <a:lstStyle/>
                    <a:p>
                      <a:pPr marL="0" indent="0" algn="ctr">
                        <a:buNone/>
                      </a:pPr>
                      <a:r>
                        <a:rPr lang="en-US" sz="1150" dirty="0">
                          <a:solidFill>
                            <a:srgbClr val="E2EBF0"/>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b="1" dirty="0">
                          <a:solidFill>
                            <a:srgbClr val="90EE90"/>
                          </a:solidFill>
                          <a:latin typeface="Calibri" pitchFamily="34" charset="0"/>
                          <a:ea typeface="Calibri" pitchFamily="34" charset="-122"/>
                          <a:cs typeface="Calibri" pitchFamily="34" charset="-120"/>
                        </a:rPr>
                        <a:t>Not Fraud</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dirty="0">
                          <a:solidFill>
                            <a:srgbClr val="E2EBF0"/>
                          </a:solidFill>
                          <a:latin typeface="Calibri" pitchFamily="34" charset="0"/>
                          <a:ea typeface="Calibri" pitchFamily="34" charset="-122"/>
                          <a:cs typeface="Calibri" pitchFamily="34" charset="-120"/>
                        </a:rPr>
                        <a:t>Date of Encounter (-0.319)</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dirty="0">
                          <a:solidFill>
                            <a:srgbClr val="E2EBF0"/>
                          </a:solidFill>
                          <a:latin typeface="Calibri" pitchFamily="34" charset="0"/>
                          <a:ea typeface="Calibri" pitchFamily="34" charset="-122"/>
                          <a:cs typeface="Calibri" pitchFamily="34" charset="-120"/>
                        </a:rPr>
                        <a:t>Patient ID ≤ 2670.50</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tc>
                  <a:txBody>
                    <a:bodyPr/>
                    <a:lstStyle/>
                    <a:p>
                      <a:pPr marL="0" indent="0" algn="ctr">
                        <a:buNone/>
                      </a:pPr>
                      <a:r>
                        <a:rPr lang="en-US" sz="1150" dirty="0">
                          <a:solidFill>
                            <a:srgbClr val="E2EBF0"/>
                          </a:solidFill>
                          <a:latin typeface="Calibri" pitchFamily="34" charset="0"/>
                          <a:ea typeface="Calibri" pitchFamily="34" charset="-122"/>
                          <a:cs typeface="Calibri" pitchFamily="34" charset="-120"/>
                        </a:rPr>
                        <a:t>98.0% (NF)</a:t>
                      </a:r>
                      <a:endParaRPr lang="en-US" sz="1150" dirty="0">
                        <a:latin typeface="Calibri" charset="0"/>
                        <a:ea typeface="Calibri" charset="0"/>
                        <a:cs typeface="Calibri" charset="0"/>
                      </a:endParaRPr>
                    </a:p>
                  </a:txBody>
                  <a:tcPr anchor="ctr">
                    <a:lnL w="12700" cap="flat" cmpd="sng" algn="ctr">
                      <a:solidFill>
                        <a:srgbClr val="1D3557"/>
                      </a:solidFill>
                      <a:prstDash val="solid"/>
                      <a:round/>
                      <a:headEnd type="none" w="med" len="med"/>
                      <a:tailEnd type="none" w="med" len="med"/>
                    </a:lnL>
                    <a:lnR w="12700" cap="flat" cmpd="sng" algn="ctr">
                      <a:solidFill>
                        <a:srgbClr val="1D3557"/>
                      </a:solidFill>
                      <a:prstDash val="solid"/>
                      <a:round/>
                      <a:headEnd type="none" w="med" len="med"/>
                      <a:tailEnd type="none" w="med" len="med"/>
                    </a:lnR>
                    <a:lnT w="12700" cap="flat" cmpd="sng" algn="ctr">
                      <a:solidFill>
                        <a:srgbClr val="1D3557"/>
                      </a:solidFill>
                      <a:prstDash val="solid"/>
                      <a:round/>
                      <a:headEnd type="none" w="med" len="med"/>
                      <a:tailEnd type="none" w="med" len="med"/>
                    </a:lnT>
                    <a:lnB w="12700" cap="flat" cmpd="sng" algn="ctr">
                      <a:solidFill>
                        <a:srgbClr val="1D3557"/>
                      </a:solidFill>
                      <a:prstDash val="solid"/>
                      <a:round/>
                      <a:headEnd type="none" w="med" len="med"/>
                      <a:tailEnd type="none" w="med" len="med"/>
                    </a:lnB>
                    <a:solidFill>
                      <a:srgbClr val="0D1B2A"/>
                    </a:solidFill>
                  </a:tcPr>
                </a:tc>
                <a:extLst>
                  <a:ext uri="{0D108BD9-81ED-4DB2-BD59-A6C34878D82A}">
                    <a16:rowId xmlns:a16="http://schemas.microsoft.com/office/drawing/2014/main" val="10004"/>
                  </a:ext>
                </a:extLst>
              </a:tr>
            </a:tbl>
          </a:graphicData>
        </a:graphic>
      </p:graphicFrame>
      <p:sp>
        <p:nvSpPr>
          <p:cNvPr id="8" name="Text 5"/>
          <p:cNvSpPr/>
          <p:nvPr/>
        </p:nvSpPr>
        <p:spPr>
          <a:xfrm>
            <a:off x="384048" y="4069080"/>
            <a:ext cx="8229600" cy="274320"/>
          </a:xfrm>
          <a:prstGeom prst="rect">
            <a:avLst/>
          </a:prstGeom>
          <a:noFill/>
          <a:ln/>
        </p:spPr>
        <p:txBody>
          <a:bodyPr wrap="square" lIns="0" tIns="0" rIns="0" bIns="0" rtlCol="0" anchor="ctr"/>
          <a:lstStyle/>
          <a:p>
            <a:pPr marL="0" indent="0">
              <a:buNone/>
            </a:pPr>
            <a:r>
              <a:rPr lang="en-US" sz="1300" b="1" dirty="0">
                <a:solidFill>
                  <a:srgbClr val="C8EEF2"/>
                </a:solidFill>
                <a:latin typeface="Calibri" pitchFamily="34" charset="0"/>
                <a:ea typeface="Calibri" pitchFamily="34" charset="-122"/>
                <a:cs typeface="Calibri" pitchFamily="34" charset="-120"/>
              </a:rPr>
              <a:t>Why This Matters</a:t>
            </a:r>
            <a:endParaRPr lang="en-US" sz="1300" dirty="0"/>
          </a:p>
        </p:txBody>
      </p:sp>
      <p:sp>
        <p:nvSpPr>
          <p:cNvPr id="9" name="Text 6"/>
          <p:cNvSpPr/>
          <p:nvPr/>
        </p:nvSpPr>
        <p:spPr>
          <a:xfrm>
            <a:off x="384048" y="4370832"/>
            <a:ext cx="8375904" cy="502920"/>
          </a:xfrm>
          <a:prstGeom prst="rect">
            <a:avLst/>
          </a:prstGeom>
          <a:noFill/>
          <a:ln/>
        </p:spPr>
        <p:txBody>
          <a:bodyPr wrap="square" lIns="0" tIns="0" rIns="0" bIns="0" rtlCol="0" anchor="ctr"/>
          <a:lstStyle/>
          <a:p>
            <a:pPr marL="0" indent="0">
              <a:buNone/>
            </a:pPr>
            <a:r>
              <a:rPr lang="en-US" sz="1200" dirty="0">
                <a:solidFill>
                  <a:srgbClr val="E2EBF0"/>
                </a:solidFill>
                <a:latin typeface="Calibri" pitchFamily="34" charset="0"/>
                <a:ea typeface="Calibri" pitchFamily="34" charset="-122"/>
                <a:cs typeface="Calibri" pitchFamily="34" charset="-120"/>
              </a:rPr>
              <a:t>Relying on a single post-hoc explainability framework in regulated healthcare settings is insufficient and potentially misleading. Dual deployment of SHAP + LIME is necessary to detect proxy-boundary overfitting and ensure audit-grade transparency.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CONTRIBUTIONS</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1A2E3B"/>
                </a:solidFill>
                <a:latin typeface="Calibri" pitchFamily="34" charset="0"/>
                <a:ea typeface="Calibri" pitchFamily="34" charset="-122"/>
                <a:cs typeface="Calibri" pitchFamily="34" charset="-120"/>
              </a:rPr>
              <a:t>Research Contributions</a:t>
            </a:r>
            <a:endParaRPr lang="en-US" sz="2800" dirty="0"/>
          </a:p>
        </p:txBody>
      </p:sp>
      <p:sp>
        <p:nvSpPr>
          <p:cNvPr id="5" name="Shape 3"/>
          <p:cNvSpPr/>
          <p:nvPr/>
        </p:nvSpPr>
        <p:spPr>
          <a:xfrm>
            <a:off x="384048" y="1005840"/>
            <a:ext cx="4023360" cy="1828800"/>
          </a:xfrm>
          <a:prstGeom prst="rect">
            <a:avLst/>
          </a:prstGeom>
          <a:solidFill>
            <a:srgbClr val="FFFFFF"/>
          </a:solidFill>
          <a:ln w="12700">
            <a:solidFill>
              <a:srgbClr val="E2EBF0"/>
            </a:solidFill>
            <a:prstDash val="solid"/>
          </a:ln>
          <a:effectLst>
            <a:outerShdw blurRad="63500" dist="25400" dir="8100000" algn="bl" rotWithShape="0">
              <a:srgbClr val="000000">
                <a:alpha val="8000"/>
              </a:srgbClr>
            </a:outerShdw>
          </a:effectLst>
        </p:spPr>
        <p:txBody>
          <a:bodyPr/>
          <a:lstStyle/>
          <a:p>
            <a:endParaRPr lang="en-ZA"/>
          </a:p>
        </p:txBody>
      </p:sp>
      <p:sp>
        <p:nvSpPr>
          <p:cNvPr id="6" name="Shape 4"/>
          <p:cNvSpPr/>
          <p:nvPr/>
        </p:nvSpPr>
        <p:spPr>
          <a:xfrm>
            <a:off x="384048" y="1005840"/>
            <a:ext cx="4023360" cy="54864"/>
          </a:xfrm>
          <a:prstGeom prst="rect">
            <a:avLst/>
          </a:prstGeom>
          <a:solidFill>
            <a:srgbClr val="0E9AA7"/>
          </a:solidFill>
          <a:ln w="12700">
            <a:solidFill>
              <a:srgbClr val="0E9AA7"/>
            </a:solidFill>
            <a:prstDash val="solid"/>
          </a:ln>
        </p:spPr>
        <p:txBody>
          <a:bodyPr/>
          <a:lstStyle/>
          <a:p>
            <a:endParaRPr lang="en-ZA"/>
          </a:p>
        </p:txBody>
      </p:sp>
      <p:sp>
        <p:nvSpPr>
          <p:cNvPr id="7" name="Text 5"/>
          <p:cNvSpPr/>
          <p:nvPr/>
        </p:nvSpPr>
        <p:spPr>
          <a:xfrm>
            <a:off x="521208" y="1143000"/>
            <a:ext cx="640080" cy="365760"/>
          </a:xfrm>
          <a:prstGeom prst="rect">
            <a:avLst/>
          </a:prstGeom>
          <a:noFill/>
          <a:ln/>
        </p:spPr>
        <p:txBody>
          <a:bodyPr wrap="square" lIns="0" tIns="0" rIns="0" bIns="0" rtlCol="0" anchor="ctr"/>
          <a:lstStyle/>
          <a:p>
            <a:pPr marL="0" indent="0">
              <a:buNone/>
            </a:pPr>
            <a:r>
              <a:rPr lang="en-US" sz="2200" b="1" dirty="0">
                <a:solidFill>
                  <a:srgbClr val="C8EEF2"/>
                </a:solidFill>
                <a:latin typeface="Calibri" pitchFamily="34" charset="0"/>
                <a:ea typeface="Calibri" pitchFamily="34" charset="-122"/>
                <a:cs typeface="Calibri" pitchFamily="34" charset="-120"/>
              </a:rPr>
              <a:t>01</a:t>
            </a:r>
            <a:endParaRPr lang="en-US" sz="2200" dirty="0"/>
          </a:p>
        </p:txBody>
      </p:sp>
      <p:sp>
        <p:nvSpPr>
          <p:cNvPr id="8" name="Text 6"/>
          <p:cNvSpPr/>
          <p:nvPr/>
        </p:nvSpPr>
        <p:spPr>
          <a:xfrm>
            <a:off x="1207008" y="1143000"/>
            <a:ext cx="3063240" cy="365760"/>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Unified Framework</a:t>
            </a:r>
            <a:endParaRPr lang="en-US" sz="1300" dirty="0"/>
          </a:p>
        </p:txBody>
      </p:sp>
      <p:sp>
        <p:nvSpPr>
          <p:cNvPr id="9" name="Text 7"/>
          <p:cNvSpPr/>
          <p:nvPr/>
        </p:nvSpPr>
        <p:spPr>
          <a:xfrm>
            <a:off x="521208" y="1572768"/>
            <a:ext cx="3749040" cy="1170432"/>
          </a:xfrm>
          <a:prstGeom prst="rect">
            <a:avLst/>
          </a:prstGeom>
          <a:noFill/>
          <a:ln/>
        </p:spPr>
        <p:txBody>
          <a:bodyPr wrap="square" lIns="0" tIns="0" rIns="0" bIns="0" rtlCol="0" anchor="t"/>
          <a:lstStyle/>
          <a:p>
            <a:pPr marL="0" indent="0">
              <a:buNone/>
            </a:pPr>
            <a:r>
              <a:rPr lang="en-US" sz="1200" dirty="0">
                <a:solidFill>
                  <a:srgbClr val="1A2E3B"/>
                </a:solidFill>
                <a:latin typeface="Calibri" pitchFamily="34" charset="0"/>
                <a:ea typeface="Calibri" pitchFamily="34" charset="-122"/>
                <a:cs typeface="Calibri" pitchFamily="34" charset="-120"/>
              </a:rPr>
              <a:t>First system to simultaneously address class imbalance (via TabDDPM) and model interpretability (via TabNet + SHAP/LIME) in a single pipeline, bridging the gap left by prior works like Aparna et al. (2025).</a:t>
            </a:r>
            <a:endParaRPr lang="en-US" sz="1200" dirty="0"/>
          </a:p>
        </p:txBody>
      </p:sp>
      <p:sp>
        <p:nvSpPr>
          <p:cNvPr id="10" name="Shape 8"/>
          <p:cNvSpPr/>
          <p:nvPr/>
        </p:nvSpPr>
        <p:spPr>
          <a:xfrm>
            <a:off x="4727448" y="1005840"/>
            <a:ext cx="4023360" cy="1828800"/>
          </a:xfrm>
          <a:prstGeom prst="rect">
            <a:avLst/>
          </a:prstGeom>
          <a:solidFill>
            <a:srgbClr val="FFFFFF"/>
          </a:solidFill>
          <a:ln w="12700">
            <a:solidFill>
              <a:srgbClr val="E2EBF0"/>
            </a:solidFill>
            <a:prstDash val="solid"/>
          </a:ln>
          <a:effectLst>
            <a:outerShdw blurRad="63500" dist="25400" dir="8100000" algn="bl" rotWithShape="0">
              <a:srgbClr val="000000">
                <a:alpha val="8000"/>
              </a:srgbClr>
            </a:outerShdw>
          </a:effectLst>
        </p:spPr>
        <p:txBody>
          <a:bodyPr/>
          <a:lstStyle/>
          <a:p>
            <a:endParaRPr lang="en-ZA"/>
          </a:p>
        </p:txBody>
      </p:sp>
      <p:sp>
        <p:nvSpPr>
          <p:cNvPr id="11" name="Shape 9"/>
          <p:cNvSpPr/>
          <p:nvPr/>
        </p:nvSpPr>
        <p:spPr>
          <a:xfrm>
            <a:off x="4727448" y="1005840"/>
            <a:ext cx="4023360" cy="54864"/>
          </a:xfrm>
          <a:prstGeom prst="rect">
            <a:avLst/>
          </a:prstGeom>
          <a:solidFill>
            <a:srgbClr val="0E9AA7"/>
          </a:solidFill>
          <a:ln w="12700">
            <a:solidFill>
              <a:srgbClr val="0E9AA7"/>
            </a:solidFill>
            <a:prstDash val="solid"/>
          </a:ln>
        </p:spPr>
        <p:txBody>
          <a:bodyPr/>
          <a:lstStyle/>
          <a:p>
            <a:endParaRPr lang="en-ZA"/>
          </a:p>
        </p:txBody>
      </p:sp>
      <p:sp>
        <p:nvSpPr>
          <p:cNvPr id="12" name="Text 10"/>
          <p:cNvSpPr/>
          <p:nvPr/>
        </p:nvSpPr>
        <p:spPr>
          <a:xfrm>
            <a:off x="4864608" y="1143000"/>
            <a:ext cx="640080" cy="365760"/>
          </a:xfrm>
          <a:prstGeom prst="rect">
            <a:avLst/>
          </a:prstGeom>
          <a:noFill/>
          <a:ln/>
        </p:spPr>
        <p:txBody>
          <a:bodyPr wrap="square" lIns="0" tIns="0" rIns="0" bIns="0" rtlCol="0" anchor="ctr"/>
          <a:lstStyle/>
          <a:p>
            <a:pPr marL="0" indent="0">
              <a:buNone/>
            </a:pPr>
            <a:r>
              <a:rPr lang="en-US" sz="2200" b="1" dirty="0">
                <a:solidFill>
                  <a:srgbClr val="C8EEF2"/>
                </a:solidFill>
                <a:latin typeface="Calibri" pitchFamily="34" charset="0"/>
                <a:ea typeface="Calibri" pitchFamily="34" charset="-122"/>
                <a:cs typeface="Calibri" pitchFamily="34" charset="-120"/>
              </a:rPr>
              <a:t>02</a:t>
            </a:r>
            <a:endParaRPr lang="en-US" sz="2200" dirty="0"/>
          </a:p>
        </p:txBody>
      </p:sp>
      <p:sp>
        <p:nvSpPr>
          <p:cNvPr id="13" name="Text 11"/>
          <p:cNvSpPr/>
          <p:nvPr/>
        </p:nvSpPr>
        <p:spPr>
          <a:xfrm>
            <a:off x="5550408" y="1143000"/>
            <a:ext cx="3063240" cy="365760"/>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Privacy-Preserving Oversampling</a:t>
            </a:r>
            <a:endParaRPr lang="en-US" sz="1300" dirty="0"/>
          </a:p>
        </p:txBody>
      </p:sp>
      <p:sp>
        <p:nvSpPr>
          <p:cNvPr id="14" name="Text 12"/>
          <p:cNvSpPr/>
          <p:nvPr/>
        </p:nvSpPr>
        <p:spPr>
          <a:xfrm>
            <a:off x="4864608" y="1572768"/>
            <a:ext cx="3749040" cy="1170432"/>
          </a:xfrm>
          <a:prstGeom prst="rect">
            <a:avLst/>
          </a:prstGeom>
          <a:noFill/>
          <a:ln/>
        </p:spPr>
        <p:txBody>
          <a:bodyPr wrap="square" lIns="0" tIns="0" rIns="0" bIns="0" rtlCol="0" anchor="t"/>
          <a:lstStyle/>
          <a:p>
            <a:pPr marL="0" indent="0">
              <a:buNone/>
            </a:pPr>
            <a:r>
              <a:rPr lang="en-US" sz="1200" dirty="0">
                <a:solidFill>
                  <a:srgbClr val="1A2E3B"/>
                </a:solidFill>
                <a:latin typeface="Calibri" pitchFamily="34" charset="0"/>
                <a:ea typeface="Calibri" pitchFamily="34" charset="-122"/>
                <a:cs typeface="Calibri" pitchFamily="34" charset="-120"/>
              </a:rPr>
              <a:t>Demonstrates that diffusion-based synthetic data generation outperforms SMOTE in both ML performance and privacy preservation (higher DCR), directly addressing GDPR/HIPAA constraints.</a:t>
            </a:r>
            <a:endParaRPr lang="en-US" sz="1200" dirty="0"/>
          </a:p>
        </p:txBody>
      </p:sp>
      <p:sp>
        <p:nvSpPr>
          <p:cNvPr id="15" name="Shape 13"/>
          <p:cNvSpPr/>
          <p:nvPr/>
        </p:nvSpPr>
        <p:spPr>
          <a:xfrm>
            <a:off x="384048" y="2999232"/>
            <a:ext cx="4023360" cy="1828800"/>
          </a:xfrm>
          <a:prstGeom prst="rect">
            <a:avLst/>
          </a:prstGeom>
          <a:solidFill>
            <a:srgbClr val="FFFFFF"/>
          </a:solidFill>
          <a:ln w="12700">
            <a:solidFill>
              <a:srgbClr val="E2EBF0"/>
            </a:solidFill>
            <a:prstDash val="solid"/>
          </a:ln>
          <a:effectLst>
            <a:outerShdw blurRad="63500" dist="25400" dir="8100000" algn="bl" rotWithShape="0">
              <a:srgbClr val="000000">
                <a:alpha val="8000"/>
              </a:srgbClr>
            </a:outerShdw>
          </a:effectLst>
        </p:spPr>
        <p:txBody>
          <a:bodyPr/>
          <a:lstStyle/>
          <a:p>
            <a:endParaRPr lang="en-ZA"/>
          </a:p>
        </p:txBody>
      </p:sp>
      <p:sp>
        <p:nvSpPr>
          <p:cNvPr id="16" name="Shape 14"/>
          <p:cNvSpPr/>
          <p:nvPr/>
        </p:nvSpPr>
        <p:spPr>
          <a:xfrm>
            <a:off x="384048" y="2999232"/>
            <a:ext cx="4023360" cy="54864"/>
          </a:xfrm>
          <a:prstGeom prst="rect">
            <a:avLst/>
          </a:prstGeom>
          <a:solidFill>
            <a:srgbClr val="0E9AA7"/>
          </a:solidFill>
          <a:ln w="12700">
            <a:solidFill>
              <a:srgbClr val="0E9AA7"/>
            </a:solidFill>
            <a:prstDash val="solid"/>
          </a:ln>
        </p:spPr>
        <p:txBody>
          <a:bodyPr/>
          <a:lstStyle/>
          <a:p>
            <a:endParaRPr lang="en-ZA"/>
          </a:p>
        </p:txBody>
      </p:sp>
      <p:sp>
        <p:nvSpPr>
          <p:cNvPr id="17" name="Text 15"/>
          <p:cNvSpPr/>
          <p:nvPr/>
        </p:nvSpPr>
        <p:spPr>
          <a:xfrm>
            <a:off x="521208" y="3136392"/>
            <a:ext cx="640080" cy="365760"/>
          </a:xfrm>
          <a:prstGeom prst="rect">
            <a:avLst/>
          </a:prstGeom>
          <a:noFill/>
          <a:ln/>
        </p:spPr>
        <p:txBody>
          <a:bodyPr wrap="square" lIns="0" tIns="0" rIns="0" bIns="0" rtlCol="0" anchor="ctr"/>
          <a:lstStyle/>
          <a:p>
            <a:pPr marL="0" indent="0">
              <a:buNone/>
            </a:pPr>
            <a:r>
              <a:rPr lang="en-US" sz="2200" b="1" dirty="0">
                <a:solidFill>
                  <a:srgbClr val="C8EEF2"/>
                </a:solidFill>
                <a:latin typeface="Calibri" pitchFamily="34" charset="0"/>
                <a:ea typeface="Calibri" pitchFamily="34" charset="-122"/>
                <a:cs typeface="Calibri" pitchFamily="34" charset="-120"/>
              </a:rPr>
              <a:t>03</a:t>
            </a:r>
            <a:endParaRPr lang="en-US" sz="2200" dirty="0"/>
          </a:p>
        </p:txBody>
      </p:sp>
      <p:sp>
        <p:nvSpPr>
          <p:cNvPr id="18" name="Text 16"/>
          <p:cNvSpPr/>
          <p:nvPr/>
        </p:nvSpPr>
        <p:spPr>
          <a:xfrm>
            <a:off x="1207008" y="3136392"/>
            <a:ext cx="3063240" cy="365760"/>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Explainable Fraud Perspective</a:t>
            </a:r>
            <a:endParaRPr lang="en-US" sz="1300" dirty="0"/>
          </a:p>
        </p:txBody>
      </p:sp>
      <p:sp>
        <p:nvSpPr>
          <p:cNvPr id="19" name="Text 17"/>
          <p:cNvSpPr/>
          <p:nvPr/>
        </p:nvSpPr>
        <p:spPr>
          <a:xfrm>
            <a:off x="521208" y="3566160"/>
            <a:ext cx="3749040" cy="1170432"/>
          </a:xfrm>
          <a:prstGeom prst="rect">
            <a:avLst/>
          </a:prstGeom>
          <a:noFill/>
          <a:ln/>
        </p:spPr>
        <p:txBody>
          <a:bodyPr wrap="square" lIns="0" tIns="0" rIns="0" bIns="0" rtlCol="0" anchor="t"/>
          <a:lstStyle/>
          <a:p>
            <a:pPr marL="0" indent="0">
              <a:buNone/>
            </a:pPr>
            <a:r>
              <a:rPr lang="en-US" sz="1200" dirty="0">
                <a:solidFill>
                  <a:srgbClr val="1A2E3B"/>
                </a:solidFill>
                <a:latin typeface="Calibri" pitchFamily="34" charset="0"/>
                <a:ea typeface="Calibri" pitchFamily="34" charset="-122"/>
                <a:cs typeface="Calibri" pitchFamily="34" charset="-120"/>
              </a:rPr>
              <a:t>Establishes transparent links between billing anomalies, encounter timing, and fraud risk while producing human-readable audit reports to support legally defensible claim denials.</a:t>
            </a:r>
            <a:endParaRPr lang="en-US" sz="1200" dirty="0"/>
          </a:p>
        </p:txBody>
      </p:sp>
      <p:sp>
        <p:nvSpPr>
          <p:cNvPr id="20" name="Shape 18"/>
          <p:cNvSpPr/>
          <p:nvPr/>
        </p:nvSpPr>
        <p:spPr>
          <a:xfrm>
            <a:off x="4727448" y="2999232"/>
            <a:ext cx="4023360" cy="1828800"/>
          </a:xfrm>
          <a:prstGeom prst="rect">
            <a:avLst/>
          </a:prstGeom>
          <a:solidFill>
            <a:srgbClr val="FFFFFF"/>
          </a:solidFill>
          <a:ln w="12700">
            <a:solidFill>
              <a:srgbClr val="E2EBF0"/>
            </a:solidFill>
            <a:prstDash val="solid"/>
          </a:ln>
          <a:effectLst>
            <a:outerShdw blurRad="63500" dist="25400" dir="8100000" algn="bl" rotWithShape="0">
              <a:srgbClr val="000000">
                <a:alpha val="8000"/>
              </a:srgbClr>
            </a:outerShdw>
          </a:effectLst>
        </p:spPr>
        <p:txBody>
          <a:bodyPr/>
          <a:lstStyle/>
          <a:p>
            <a:endParaRPr lang="en-ZA"/>
          </a:p>
        </p:txBody>
      </p:sp>
      <p:sp>
        <p:nvSpPr>
          <p:cNvPr id="21" name="Shape 19"/>
          <p:cNvSpPr/>
          <p:nvPr/>
        </p:nvSpPr>
        <p:spPr>
          <a:xfrm>
            <a:off x="4727448" y="2999232"/>
            <a:ext cx="4023360" cy="54864"/>
          </a:xfrm>
          <a:prstGeom prst="rect">
            <a:avLst/>
          </a:prstGeom>
          <a:solidFill>
            <a:srgbClr val="0E9AA7"/>
          </a:solidFill>
          <a:ln w="12700">
            <a:solidFill>
              <a:srgbClr val="0E9AA7"/>
            </a:solidFill>
            <a:prstDash val="solid"/>
          </a:ln>
        </p:spPr>
        <p:txBody>
          <a:bodyPr/>
          <a:lstStyle/>
          <a:p>
            <a:endParaRPr lang="en-ZA"/>
          </a:p>
        </p:txBody>
      </p:sp>
      <p:sp>
        <p:nvSpPr>
          <p:cNvPr id="22" name="Text 20"/>
          <p:cNvSpPr/>
          <p:nvPr/>
        </p:nvSpPr>
        <p:spPr>
          <a:xfrm>
            <a:off x="4864608" y="3136392"/>
            <a:ext cx="640080" cy="365760"/>
          </a:xfrm>
          <a:prstGeom prst="rect">
            <a:avLst/>
          </a:prstGeom>
          <a:noFill/>
          <a:ln/>
        </p:spPr>
        <p:txBody>
          <a:bodyPr wrap="square" lIns="0" tIns="0" rIns="0" bIns="0" rtlCol="0" anchor="ctr"/>
          <a:lstStyle/>
          <a:p>
            <a:pPr marL="0" indent="0">
              <a:buNone/>
            </a:pPr>
            <a:r>
              <a:rPr lang="en-US" sz="2200" b="1" dirty="0">
                <a:solidFill>
                  <a:srgbClr val="C8EEF2"/>
                </a:solidFill>
                <a:latin typeface="Calibri" pitchFamily="34" charset="0"/>
                <a:ea typeface="Calibri" pitchFamily="34" charset="-122"/>
                <a:cs typeface="Calibri" pitchFamily="34" charset="-120"/>
              </a:rPr>
              <a:t>04</a:t>
            </a:r>
            <a:endParaRPr lang="en-US" sz="2200" dirty="0"/>
          </a:p>
        </p:txBody>
      </p:sp>
      <p:sp>
        <p:nvSpPr>
          <p:cNvPr id="23" name="Text 21"/>
          <p:cNvSpPr/>
          <p:nvPr/>
        </p:nvSpPr>
        <p:spPr>
          <a:xfrm>
            <a:off x="5550408" y="3136392"/>
            <a:ext cx="3063240" cy="365760"/>
          </a:xfrm>
          <a:prstGeom prst="rect">
            <a:avLst/>
          </a:prstGeom>
          <a:noFill/>
          <a:ln/>
        </p:spPr>
        <p:txBody>
          <a:bodyPr wrap="square" lIns="0" tIns="0" rIns="0" bIns="0" rtlCol="0" anchor="ctr"/>
          <a:lstStyle/>
          <a:p>
            <a:pPr marL="0" indent="0">
              <a:buNone/>
            </a:pPr>
            <a:r>
              <a:rPr lang="en-US" sz="1300" b="1" dirty="0">
                <a:solidFill>
                  <a:srgbClr val="0A7581"/>
                </a:solidFill>
                <a:latin typeface="Calibri" pitchFamily="34" charset="0"/>
                <a:ea typeface="Calibri" pitchFamily="34" charset="-122"/>
                <a:cs typeface="Calibri" pitchFamily="34" charset="-120"/>
              </a:rPr>
              <a:t>SHAP–LIME Disagreement Analysis</a:t>
            </a:r>
            <a:endParaRPr lang="en-US" sz="1300" dirty="0"/>
          </a:p>
        </p:txBody>
      </p:sp>
      <p:sp>
        <p:nvSpPr>
          <p:cNvPr id="24" name="Text 22"/>
          <p:cNvSpPr/>
          <p:nvPr/>
        </p:nvSpPr>
        <p:spPr>
          <a:xfrm>
            <a:off x="4864608" y="3566160"/>
            <a:ext cx="3749040" cy="1170432"/>
          </a:xfrm>
          <a:prstGeom prst="rect">
            <a:avLst/>
          </a:prstGeom>
          <a:noFill/>
          <a:ln/>
        </p:spPr>
        <p:txBody>
          <a:bodyPr wrap="square" lIns="0" tIns="0" rIns="0" bIns="0" rtlCol="0" anchor="t"/>
          <a:lstStyle/>
          <a:p>
            <a:pPr marL="0" indent="0">
              <a:buNone/>
            </a:pPr>
            <a:r>
              <a:rPr lang="en-US" sz="1200" dirty="0">
                <a:solidFill>
                  <a:srgbClr val="1A2E3B"/>
                </a:solidFill>
                <a:latin typeface="Calibri" pitchFamily="34" charset="0"/>
                <a:ea typeface="Calibri" pitchFamily="34" charset="-122"/>
                <a:cs typeface="Calibri" pitchFamily="34" charset="-120"/>
              </a:rPr>
              <a:t>Demonstrated that LIME's surrogate model overfits to proxy boundary features (Patient ID) in healthcare fraud thus proving dual post-hoc explainability is mandatory in regulated settings.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LIMITATIONS</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1A2E3B"/>
                </a:solidFill>
                <a:latin typeface="Calibri" pitchFamily="34" charset="0"/>
                <a:ea typeface="Calibri" pitchFamily="34" charset="-122"/>
                <a:cs typeface="Calibri" pitchFamily="34" charset="-120"/>
              </a:rPr>
              <a:t>Limitations &amp; Critical Reflection</a:t>
            </a:r>
            <a:endParaRPr lang="en-US" sz="2800" dirty="0"/>
          </a:p>
        </p:txBody>
      </p:sp>
      <p:sp>
        <p:nvSpPr>
          <p:cNvPr id="5" name="Shape 3"/>
          <p:cNvSpPr/>
          <p:nvPr/>
        </p:nvSpPr>
        <p:spPr>
          <a:xfrm>
            <a:off x="384048" y="1005840"/>
            <a:ext cx="4023360" cy="1207008"/>
          </a:xfrm>
          <a:prstGeom prst="rect">
            <a:avLst/>
          </a:prstGeom>
          <a:solidFill>
            <a:srgbClr val="FFFFFF"/>
          </a:solidFill>
          <a:ln w="12700">
            <a:solidFill>
              <a:srgbClr val="E2EBF0"/>
            </a:solidFill>
            <a:prstDash val="solid"/>
          </a:ln>
          <a:effectLst>
            <a:outerShdw blurRad="50800" dist="25400" dir="8100000" algn="bl" rotWithShape="0">
              <a:srgbClr val="000000">
                <a:alpha val="7000"/>
              </a:srgbClr>
            </a:outerShdw>
          </a:effectLst>
        </p:spPr>
        <p:txBody>
          <a:bodyPr/>
          <a:lstStyle/>
          <a:p>
            <a:endParaRPr lang="en-ZA"/>
          </a:p>
        </p:txBody>
      </p:sp>
      <p:sp>
        <p:nvSpPr>
          <p:cNvPr id="6" name="Shape 4"/>
          <p:cNvSpPr/>
          <p:nvPr/>
        </p:nvSpPr>
        <p:spPr>
          <a:xfrm>
            <a:off x="384048" y="1005840"/>
            <a:ext cx="54864" cy="1207008"/>
          </a:xfrm>
          <a:prstGeom prst="rect">
            <a:avLst/>
          </a:prstGeom>
          <a:solidFill>
            <a:srgbClr val="E05A5A"/>
          </a:solidFill>
          <a:ln w="12700">
            <a:solidFill>
              <a:srgbClr val="E05A5A"/>
            </a:solidFill>
            <a:prstDash val="solid"/>
          </a:ln>
        </p:spPr>
        <p:txBody>
          <a:bodyPr/>
          <a:lstStyle/>
          <a:p>
            <a:endParaRPr lang="en-ZA"/>
          </a:p>
        </p:txBody>
      </p:sp>
      <p:sp>
        <p:nvSpPr>
          <p:cNvPr id="7" name="Text 5"/>
          <p:cNvSpPr/>
          <p:nvPr/>
        </p:nvSpPr>
        <p:spPr>
          <a:xfrm>
            <a:off x="521208" y="1097280"/>
            <a:ext cx="3794760" cy="256032"/>
          </a:xfrm>
          <a:prstGeom prst="rect">
            <a:avLst/>
          </a:prstGeom>
          <a:noFill/>
          <a:ln/>
        </p:spPr>
        <p:txBody>
          <a:bodyPr wrap="square" lIns="0" tIns="0" rIns="0" bIns="0" rtlCol="0" anchor="ctr"/>
          <a:lstStyle/>
          <a:p>
            <a:pPr marL="0" indent="0">
              <a:buNone/>
            </a:pPr>
            <a:r>
              <a:rPr lang="en-US" sz="1250" b="1" dirty="0">
                <a:solidFill>
                  <a:srgbClr val="E05A5A"/>
                </a:solidFill>
                <a:latin typeface="Calibri" pitchFamily="34" charset="0"/>
                <a:ea typeface="Calibri" pitchFamily="34" charset="-122"/>
                <a:cs typeface="Calibri" pitchFamily="34" charset="-120"/>
              </a:rPr>
              <a:t>Balanced Test Distribution</a:t>
            </a:r>
            <a:endParaRPr lang="en-US" sz="1250" dirty="0"/>
          </a:p>
        </p:txBody>
      </p:sp>
      <p:sp>
        <p:nvSpPr>
          <p:cNvPr id="8" name="Text 6"/>
          <p:cNvSpPr/>
          <p:nvPr/>
        </p:nvSpPr>
        <p:spPr>
          <a:xfrm>
            <a:off x="521208" y="1371600"/>
            <a:ext cx="3794760" cy="777240"/>
          </a:xfrm>
          <a:prstGeom prst="rect">
            <a:avLst/>
          </a:prstGeom>
          <a:noFill/>
          <a:ln/>
        </p:spPr>
        <p:txBody>
          <a:bodyPr wrap="square" lIns="0" tIns="0" rIns="0" bIns="0" rtlCol="0" anchor="t"/>
          <a:lstStyle/>
          <a:p>
            <a:pPr marL="0" indent="0">
              <a:buNone/>
            </a:pPr>
            <a:r>
              <a:rPr lang="en-US" sz="1150" dirty="0">
                <a:solidFill>
                  <a:srgbClr val="1A2E3B"/>
                </a:solidFill>
                <a:latin typeface="Calibri" pitchFamily="34" charset="0"/>
                <a:ea typeface="Calibri" pitchFamily="34" charset="-122"/>
                <a:cs typeface="Calibri" pitchFamily="34" charset="-120"/>
              </a:rPr>
              <a:t>Model evaluated on synthetically balanced data. Real-world fraud rates are typically below 1–5%, meaning performance could degrade significantly in production environments.</a:t>
            </a:r>
            <a:endParaRPr lang="en-US" sz="1150" dirty="0"/>
          </a:p>
        </p:txBody>
      </p:sp>
      <p:sp>
        <p:nvSpPr>
          <p:cNvPr id="9" name="Shape 7"/>
          <p:cNvSpPr/>
          <p:nvPr/>
        </p:nvSpPr>
        <p:spPr>
          <a:xfrm>
            <a:off x="4727448" y="1005840"/>
            <a:ext cx="4023360" cy="1207008"/>
          </a:xfrm>
          <a:prstGeom prst="rect">
            <a:avLst/>
          </a:prstGeom>
          <a:solidFill>
            <a:srgbClr val="FFFFFF"/>
          </a:solidFill>
          <a:ln w="12700">
            <a:solidFill>
              <a:srgbClr val="E2EBF0"/>
            </a:solidFill>
            <a:prstDash val="solid"/>
          </a:ln>
          <a:effectLst>
            <a:outerShdw blurRad="50800" dist="25400" dir="8100000" algn="bl" rotWithShape="0">
              <a:srgbClr val="000000">
                <a:alpha val="7000"/>
              </a:srgbClr>
            </a:outerShdw>
          </a:effectLst>
        </p:spPr>
        <p:txBody>
          <a:bodyPr/>
          <a:lstStyle/>
          <a:p>
            <a:endParaRPr lang="en-ZA"/>
          </a:p>
        </p:txBody>
      </p:sp>
      <p:sp>
        <p:nvSpPr>
          <p:cNvPr id="10" name="Shape 8"/>
          <p:cNvSpPr/>
          <p:nvPr/>
        </p:nvSpPr>
        <p:spPr>
          <a:xfrm>
            <a:off x="4727448" y="1005840"/>
            <a:ext cx="54864" cy="1207008"/>
          </a:xfrm>
          <a:prstGeom prst="rect">
            <a:avLst/>
          </a:prstGeom>
          <a:solidFill>
            <a:srgbClr val="E05A5A"/>
          </a:solidFill>
          <a:ln w="12700">
            <a:solidFill>
              <a:srgbClr val="E05A5A"/>
            </a:solidFill>
            <a:prstDash val="solid"/>
          </a:ln>
        </p:spPr>
        <p:txBody>
          <a:bodyPr/>
          <a:lstStyle/>
          <a:p>
            <a:endParaRPr lang="en-ZA"/>
          </a:p>
        </p:txBody>
      </p:sp>
      <p:sp>
        <p:nvSpPr>
          <p:cNvPr id="11" name="Text 9"/>
          <p:cNvSpPr/>
          <p:nvPr/>
        </p:nvSpPr>
        <p:spPr>
          <a:xfrm>
            <a:off x="4864608" y="1097280"/>
            <a:ext cx="3794760" cy="256032"/>
          </a:xfrm>
          <a:prstGeom prst="rect">
            <a:avLst/>
          </a:prstGeom>
          <a:noFill/>
          <a:ln/>
        </p:spPr>
        <p:txBody>
          <a:bodyPr wrap="square" lIns="0" tIns="0" rIns="0" bIns="0" rtlCol="0" anchor="ctr"/>
          <a:lstStyle/>
          <a:p>
            <a:pPr marL="0" indent="0">
              <a:buNone/>
            </a:pPr>
            <a:r>
              <a:rPr lang="en-US" sz="1250" b="1" dirty="0">
                <a:solidFill>
                  <a:srgbClr val="E05A5A"/>
                </a:solidFill>
                <a:latin typeface="Calibri" pitchFamily="34" charset="0"/>
                <a:ea typeface="Calibri" pitchFamily="34" charset="-122"/>
                <a:cs typeface="Calibri" pitchFamily="34" charset="-120"/>
              </a:rPr>
              <a:t>10 False Negatives</a:t>
            </a:r>
            <a:endParaRPr lang="en-US" sz="1250" dirty="0"/>
          </a:p>
        </p:txBody>
      </p:sp>
      <p:sp>
        <p:nvSpPr>
          <p:cNvPr id="12" name="Text 10"/>
          <p:cNvSpPr/>
          <p:nvPr/>
        </p:nvSpPr>
        <p:spPr>
          <a:xfrm>
            <a:off x="4864608" y="1371600"/>
            <a:ext cx="3794760" cy="777240"/>
          </a:xfrm>
          <a:prstGeom prst="rect">
            <a:avLst/>
          </a:prstGeom>
          <a:noFill/>
          <a:ln/>
        </p:spPr>
        <p:txBody>
          <a:bodyPr wrap="square" lIns="0" tIns="0" rIns="0" bIns="0" rtlCol="0" anchor="t"/>
          <a:lstStyle/>
          <a:p>
            <a:pPr marL="0" indent="0">
              <a:buNone/>
            </a:pPr>
            <a:r>
              <a:rPr lang="en-US" sz="1150" dirty="0">
                <a:solidFill>
                  <a:srgbClr val="1A2E3B"/>
                </a:solidFill>
                <a:latin typeface="Calibri" pitchFamily="34" charset="0"/>
                <a:ea typeface="Calibri" pitchFamily="34" charset="-122"/>
                <a:cs typeface="Calibri" pitchFamily="34" charset="-120"/>
              </a:rPr>
              <a:t>Missed fraud cases carry direct financial risk. In a live insurance system, each false negative represents undetected fraudulent claims passing through undetected.</a:t>
            </a:r>
            <a:endParaRPr lang="en-US" sz="1150" dirty="0"/>
          </a:p>
        </p:txBody>
      </p:sp>
      <p:sp>
        <p:nvSpPr>
          <p:cNvPr id="13" name="Shape 11"/>
          <p:cNvSpPr/>
          <p:nvPr/>
        </p:nvSpPr>
        <p:spPr>
          <a:xfrm>
            <a:off x="384048" y="2359152"/>
            <a:ext cx="4023360" cy="1207008"/>
          </a:xfrm>
          <a:prstGeom prst="rect">
            <a:avLst/>
          </a:prstGeom>
          <a:solidFill>
            <a:srgbClr val="FFFFFF"/>
          </a:solidFill>
          <a:ln w="12700">
            <a:solidFill>
              <a:srgbClr val="E2EBF0"/>
            </a:solidFill>
            <a:prstDash val="solid"/>
          </a:ln>
          <a:effectLst>
            <a:outerShdw blurRad="50800" dist="25400" dir="8100000" algn="bl" rotWithShape="0">
              <a:srgbClr val="000000">
                <a:alpha val="7000"/>
              </a:srgbClr>
            </a:outerShdw>
          </a:effectLst>
        </p:spPr>
        <p:txBody>
          <a:bodyPr/>
          <a:lstStyle/>
          <a:p>
            <a:endParaRPr lang="en-ZA"/>
          </a:p>
        </p:txBody>
      </p:sp>
      <p:sp>
        <p:nvSpPr>
          <p:cNvPr id="14" name="Shape 12"/>
          <p:cNvSpPr/>
          <p:nvPr/>
        </p:nvSpPr>
        <p:spPr>
          <a:xfrm>
            <a:off x="384048" y="2359152"/>
            <a:ext cx="54864" cy="1207008"/>
          </a:xfrm>
          <a:prstGeom prst="rect">
            <a:avLst/>
          </a:prstGeom>
          <a:solidFill>
            <a:srgbClr val="E05A5A"/>
          </a:solidFill>
          <a:ln w="12700">
            <a:solidFill>
              <a:srgbClr val="E05A5A"/>
            </a:solidFill>
            <a:prstDash val="solid"/>
          </a:ln>
        </p:spPr>
        <p:txBody>
          <a:bodyPr/>
          <a:lstStyle/>
          <a:p>
            <a:endParaRPr lang="en-ZA"/>
          </a:p>
        </p:txBody>
      </p:sp>
      <p:sp>
        <p:nvSpPr>
          <p:cNvPr id="15" name="Text 13"/>
          <p:cNvSpPr/>
          <p:nvPr/>
        </p:nvSpPr>
        <p:spPr>
          <a:xfrm>
            <a:off x="521208" y="2450592"/>
            <a:ext cx="3794760" cy="256032"/>
          </a:xfrm>
          <a:prstGeom prst="rect">
            <a:avLst/>
          </a:prstGeom>
          <a:noFill/>
          <a:ln/>
        </p:spPr>
        <p:txBody>
          <a:bodyPr wrap="square" lIns="0" tIns="0" rIns="0" bIns="0" rtlCol="0" anchor="ctr"/>
          <a:lstStyle/>
          <a:p>
            <a:pPr marL="0" indent="0">
              <a:buNone/>
            </a:pPr>
            <a:r>
              <a:rPr lang="en-US" sz="1250" b="1" dirty="0">
                <a:solidFill>
                  <a:srgbClr val="E05A5A"/>
                </a:solidFill>
                <a:latin typeface="Calibri" pitchFamily="34" charset="0"/>
                <a:ea typeface="Calibri" pitchFamily="34" charset="-122"/>
                <a:cs typeface="Calibri" pitchFamily="34" charset="-120"/>
              </a:rPr>
              <a:t>Overfitting Risk</a:t>
            </a:r>
            <a:endParaRPr lang="en-US" sz="1250" dirty="0"/>
          </a:p>
        </p:txBody>
      </p:sp>
      <p:sp>
        <p:nvSpPr>
          <p:cNvPr id="16" name="Text 14"/>
          <p:cNvSpPr/>
          <p:nvPr/>
        </p:nvSpPr>
        <p:spPr>
          <a:xfrm>
            <a:off x="521208" y="2724912"/>
            <a:ext cx="3794760" cy="777240"/>
          </a:xfrm>
          <a:prstGeom prst="rect">
            <a:avLst/>
          </a:prstGeom>
          <a:noFill/>
          <a:ln/>
        </p:spPr>
        <p:txBody>
          <a:bodyPr wrap="square" lIns="0" tIns="0" rIns="0" bIns="0" rtlCol="0" anchor="t"/>
          <a:lstStyle/>
          <a:p>
            <a:pPr marL="0" indent="0">
              <a:buNone/>
            </a:pPr>
            <a:r>
              <a:rPr lang="en-US" sz="1150" dirty="0">
                <a:solidFill>
                  <a:srgbClr val="1A2E3B"/>
                </a:solidFill>
                <a:latin typeface="Calibri" pitchFamily="34" charset="0"/>
                <a:ea typeface="Calibri" pitchFamily="34" charset="-122"/>
                <a:cs typeface="Calibri" pitchFamily="34" charset="-120"/>
              </a:rPr>
              <a:t>Near-perfect metrics may reflect overfitting to test set distribution arising from synthetically balanced data which is not true real-world generalisation.</a:t>
            </a:r>
            <a:endParaRPr lang="en-US" sz="1150" dirty="0"/>
          </a:p>
        </p:txBody>
      </p:sp>
      <p:sp>
        <p:nvSpPr>
          <p:cNvPr id="17" name="Shape 15"/>
          <p:cNvSpPr/>
          <p:nvPr/>
        </p:nvSpPr>
        <p:spPr>
          <a:xfrm>
            <a:off x="4727448" y="2359152"/>
            <a:ext cx="4023360" cy="1207008"/>
          </a:xfrm>
          <a:prstGeom prst="rect">
            <a:avLst/>
          </a:prstGeom>
          <a:solidFill>
            <a:srgbClr val="FFFFFF"/>
          </a:solidFill>
          <a:ln w="12700">
            <a:solidFill>
              <a:srgbClr val="E2EBF0"/>
            </a:solidFill>
            <a:prstDash val="solid"/>
          </a:ln>
          <a:effectLst>
            <a:outerShdw blurRad="50800" dist="25400" dir="8100000" algn="bl" rotWithShape="0">
              <a:srgbClr val="000000">
                <a:alpha val="7000"/>
              </a:srgbClr>
            </a:outerShdw>
          </a:effectLst>
        </p:spPr>
        <p:txBody>
          <a:bodyPr/>
          <a:lstStyle/>
          <a:p>
            <a:endParaRPr lang="en-ZA"/>
          </a:p>
        </p:txBody>
      </p:sp>
      <p:sp>
        <p:nvSpPr>
          <p:cNvPr id="18" name="Shape 16"/>
          <p:cNvSpPr/>
          <p:nvPr/>
        </p:nvSpPr>
        <p:spPr>
          <a:xfrm>
            <a:off x="4727448" y="2359152"/>
            <a:ext cx="54864" cy="1207008"/>
          </a:xfrm>
          <a:prstGeom prst="rect">
            <a:avLst/>
          </a:prstGeom>
          <a:solidFill>
            <a:srgbClr val="E05A5A"/>
          </a:solidFill>
          <a:ln w="12700">
            <a:solidFill>
              <a:srgbClr val="E05A5A"/>
            </a:solidFill>
            <a:prstDash val="solid"/>
          </a:ln>
        </p:spPr>
        <p:txBody>
          <a:bodyPr/>
          <a:lstStyle/>
          <a:p>
            <a:endParaRPr lang="en-ZA"/>
          </a:p>
        </p:txBody>
      </p:sp>
      <p:sp>
        <p:nvSpPr>
          <p:cNvPr id="19" name="Text 17"/>
          <p:cNvSpPr/>
          <p:nvPr/>
        </p:nvSpPr>
        <p:spPr>
          <a:xfrm>
            <a:off x="4864608" y="2450592"/>
            <a:ext cx="3794760" cy="256032"/>
          </a:xfrm>
          <a:prstGeom prst="rect">
            <a:avLst/>
          </a:prstGeom>
          <a:noFill/>
          <a:ln/>
        </p:spPr>
        <p:txBody>
          <a:bodyPr wrap="square" lIns="0" tIns="0" rIns="0" bIns="0" rtlCol="0" anchor="ctr"/>
          <a:lstStyle/>
          <a:p>
            <a:pPr marL="0" indent="0">
              <a:buNone/>
            </a:pPr>
            <a:r>
              <a:rPr lang="en-US" sz="1250" b="1" dirty="0">
                <a:solidFill>
                  <a:srgbClr val="E05A5A"/>
                </a:solidFill>
                <a:latin typeface="Calibri" pitchFamily="34" charset="0"/>
                <a:ea typeface="Calibri" pitchFamily="34" charset="-122"/>
                <a:cs typeface="Calibri" pitchFamily="34" charset="-120"/>
              </a:rPr>
              <a:t>No Cross-Validation</a:t>
            </a:r>
            <a:endParaRPr lang="en-US" sz="1250" dirty="0"/>
          </a:p>
        </p:txBody>
      </p:sp>
      <p:sp>
        <p:nvSpPr>
          <p:cNvPr id="20" name="Text 18"/>
          <p:cNvSpPr/>
          <p:nvPr/>
        </p:nvSpPr>
        <p:spPr>
          <a:xfrm>
            <a:off x="4864608" y="2724912"/>
            <a:ext cx="3794760" cy="777240"/>
          </a:xfrm>
          <a:prstGeom prst="rect">
            <a:avLst/>
          </a:prstGeom>
          <a:noFill/>
          <a:ln/>
        </p:spPr>
        <p:txBody>
          <a:bodyPr wrap="square" lIns="0" tIns="0" rIns="0" bIns="0" rtlCol="0" anchor="t"/>
          <a:lstStyle/>
          <a:p>
            <a:pPr marL="0" indent="0">
              <a:buNone/>
            </a:pPr>
            <a:r>
              <a:rPr lang="en-US" sz="1150" dirty="0">
                <a:solidFill>
                  <a:srgbClr val="1A2E3B"/>
                </a:solidFill>
                <a:latin typeface="Calibri" pitchFamily="34" charset="0"/>
                <a:ea typeface="Calibri" pitchFamily="34" charset="-122"/>
                <a:cs typeface="Calibri" pitchFamily="34" charset="-120"/>
              </a:rPr>
              <a:t>Evaluation uses a single static test set. Lack of k-fold cross-validation and temporal validation raises questions about generalisation to evolving fraud patterns.</a:t>
            </a:r>
            <a:endParaRPr lang="en-US" sz="1150" dirty="0"/>
          </a:p>
        </p:txBody>
      </p:sp>
      <p:sp>
        <p:nvSpPr>
          <p:cNvPr id="21" name="Shape 19"/>
          <p:cNvSpPr/>
          <p:nvPr/>
        </p:nvSpPr>
        <p:spPr>
          <a:xfrm>
            <a:off x="384048" y="3712464"/>
            <a:ext cx="4023360" cy="1207008"/>
          </a:xfrm>
          <a:prstGeom prst="rect">
            <a:avLst/>
          </a:prstGeom>
          <a:solidFill>
            <a:srgbClr val="FFFFFF"/>
          </a:solidFill>
          <a:ln w="12700">
            <a:solidFill>
              <a:srgbClr val="E2EBF0"/>
            </a:solidFill>
            <a:prstDash val="solid"/>
          </a:ln>
          <a:effectLst>
            <a:outerShdw blurRad="50800" dist="25400" dir="8100000" algn="bl" rotWithShape="0">
              <a:srgbClr val="000000">
                <a:alpha val="7000"/>
              </a:srgbClr>
            </a:outerShdw>
          </a:effectLst>
        </p:spPr>
        <p:txBody>
          <a:bodyPr/>
          <a:lstStyle/>
          <a:p>
            <a:endParaRPr lang="en-ZA" dirty="0"/>
          </a:p>
        </p:txBody>
      </p:sp>
      <p:sp>
        <p:nvSpPr>
          <p:cNvPr id="22" name="Shape 20"/>
          <p:cNvSpPr/>
          <p:nvPr/>
        </p:nvSpPr>
        <p:spPr>
          <a:xfrm>
            <a:off x="384048" y="3712464"/>
            <a:ext cx="54864" cy="1207008"/>
          </a:xfrm>
          <a:prstGeom prst="rect">
            <a:avLst/>
          </a:prstGeom>
          <a:solidFill>
            <a:srgbClr val="E05A5A"/>
          </a:solidFill>
          <a:ln w="12700">
            <a:solidFill>
              <a:srgbClr val="E05A5A"/>
            </a:solidFill>
            <a:prstDash val="solid"/>
          </a:ln>
        </p:spPr>
        <p:txBody>
          <a:bodyPr/>
          <a:lstStyle/>
          <a:p>
            <a:endParaRPr lang="en-ZA"/>
          </a:p>
        </p:txBody>
      </p:sp>
      <p:sp>
        <p:nvSpPr>
          <p:cNvPr id="23" name="Text 21"/>
          <p:cNvSpPr/>
          <p:nvPr/>
        </p:nvSpPr>
        <p:spPr>
          <a:xfrm>
            <a:off x="521208" y="3803904"/>
            <a:ext cx="3794760" cy="256032"/>
          </a:xfrm>
          <a:prstGeom prst="rect">
            <a:avLst/>
          </a:prstGeom>
          <a:noFill/>
          <a:ln/>
        </p:spPr>
        <p:txBody>
          <a:bodyPr wrap="square" lIns="0" tIns="0" rIns="0" bIns="0" rtlCol="0" anchor="ctr"/>
          <a:lstStyle/>
          <a:p>
            <a:pPr marL="0" indent="0">
              <a:buNone/>
            </a:pPr>
            <a:r>
              <a:rPr lang="en-US" sz="1250" b="1" dirty="0">
                <a:solidFill>
                  <a:srgbClr val="E05A5A"/>
                </a:solidFill>
                <a:latin typeface="Calibri" pitchFamily="34" charset="0"/>
                <a:ea typeface="Calibri" pitchFamily="34" charset="-122"/>
                <a:cs typeface="Calibri" pitchFamily="34" charset="-120"/>
              </a:rPr>
              <a:t>Small Dataset</a:t>
            </a:r>
            <a:endParaRPr lang="en-US" sz="1250" dirty="0"/>
          </a:p>
        </p:txBody>
      </p:sp>
      <p:sp>
        <p:nvSpPr>
          <p:cNvPr id="24" name="Text 22"/>
          <p:cNvSpPr/>
          <p:nvPr/>
        </p:nvSpPr>
        <p:spPr>
          <a:xfrm>
            <a:off x="521208" y="4078224"/>
            <a:ext cx="3794760" cy="777240"/>
          </a:xfrm>
          <a:prstGeom prst="rect">
            <a:avLst/>
          </a:prstGeom>
          <a:noFill/>
          <a:ln/>
        </p:spPr>
        <p:txBody>
          <a:bodyPr wrap="square" lIns="0" tIns="0" rIns="0" bIns="0" rtlCol="0" anchor="t"/>
          <a:lstStyle/>
          <a:p>
            <a:pPr marL="0" indent="0">
              <a:buNone/>
            </a:pPr>
            <a:r>
              <a:rPr lang="en-US" sz="1150" dirty="0">
                <a:solidFill>
                  <a:srgbClr val="1A2E3B"/>
                </a:solidFill>
                <a:latin typeface="Calibri" pitchFamily="34" charset="0"/>
                <a:ea typeface="Calibri" pitchFamily="34" charset="-122"/>
                <a:cs typeface="Calibri" pitchFamily="34" charset="-120"/>
              </a:rPr>
              <a:t>4,390 records with 7 informative features is sufficient for proof-of-concept but insufficient to validate generalisation to real-world healthcare fraud complexity.</a:t>
            </a:r>
            <a:endParaRPr lang="en-US" sz="1150" dirty="0"/>
          </a:p>
        </p:txBody>
      </p:sp>
      <p:sp>
        <p:nvSpPr>
          <p:cNvPr id="25" name="Shape 23"/>
          <p:cNvSpPr/>
          <p:nvPr/>
        </p:nvSpPr>
        <p:spPr>
          <a:xfrm>
            <a:off x="4727448" y="3712464"/>
            <a:ext cx="4023360" cy="1207008"/>
          </a:xfrm>
          <a:prstGeom prst="rect">
            <a:avLst/>
          </a:prstGeom>
          <a:solidFill>
            <a:srgbClr val="FFFFFF"/>
          </a:solidFill>
          <a:ln w="12700">
            <a:solidFill>
              <a:srgbClr val="E2EBF0"/>
            </a:solidFill>
            <a:prstDash val="solid"/>
          </a:ln>
          <a:effectLst>
            <a:outerShdw blurRad="50800" dist="25400" dir="8100000" algn="bl" rotWithShape="0">
              <a:srgbClr val="000000">
                <a:alpha val="7000"/>
              </a:srgbClr>
            </a:outerShdw>
          </a:effectLst>
        </p:spPr>
        <p:txBody>
          <a:bodyPr/>
          <a:lstStyle/>
          <a:p>
            <a:endParaRPr lang="en-ZA"/>
          </a:p>
        </p:txBody>
      </p:sp>
      <p:sp>
        <p:nvSpPr>
          <p:cNvPr id="26" name="Shape 24"/>
          <p:cNvSpPr/>
          <p:nvPr/>
        </p:nvSpPr>
        <p:spPr>
          <a:xfrm>
            <a:off x="4727448" y="3712464"/>
            <a:ext cx="54864" cy="1207008"/>
          </a:xfrm>
          <a:prstGeom prst="rect">
            <a:avLst/>
          </a:prstGeom>
          <a:solidFill>
            <a:srgbClr val="E05A5A"/>
          </a:solidFill>
          <a:ln w="12700">
            <a:solidFill>
              <a:srgbClr val="E05A5A"/>
            </a:solidFill>
            <a:prstDash val="solid"/>
          </a:ln>
        </p:spPr>
        <p:txBody>
          <a:bodyPr/>
          <a:lstStyle/>
          <a:p>
            <a:endParaRPr lang="en-ZA"/>
          </a:p>
        </p:txBody>
      </p:sp>
      <p:sp>
        <p:nvSpPr>
          <p:cNvPr id="27" name="Text 25"/>
          <p:cNvSpPr/>
          <p:nvPr/>
        </p:nvSpPr>
        <p:spPr>
          <a:xfrm>
            <a:off x="4864608" y="3803904"/>
            <a:ext cx="3794760" cy="256032"/>
          </a:xfrm>
          <a:prstGeom prst="rect">
            <a:avLst/>
          </a:prstGeom>
          <a:noFill/>
          <a:ln/>
        </p:spPr>
        <p:txBody>
          <a:bodyPr wrap="square" lIns="0" tIns="0" rIns="0" bIns="0" rtlCol="0" anchor="ctr"/>
          <a:lstStyle/>
          <a:p>
            <a:pPr marL="0" indent="0">
              <a:buNone/>
            </a:pPr>
            <a:r>
              <a:rPr lang="en-US" sz="1250" b="1" dirty="0">
                <a:solidFill>
                  <a:srgbClr val="E05A5A"/>
                </a:solidFill>
                <a:latin typeface="Calibri" pitchFamily="34" charset="0"/>
                <a:ea typeface="Calibri" pitchFamily="34" charset="-122"/>
                <a:cs typeface="Calibri" pitchFamily="34" charset="-120"/>
              </a:rPr>
              <a:t>No Synthetic Quality Metrics</a:t>
            </a:r>
            <a:endParaRPr lang="en-US" sz="1250" dirty="0"/>
          </a:p>
        </p:txBody>
      </p:sp>
      <p:sp>
        <p:nvSpPr>
          <p:cNvPr id="28" name="Text 26"/>
          <p:cNvSpPr/>
          <p:nvPr/>
        </p:nvSpPr>
        <p:spPr>
          <a:xfrm>
            <a:off x="4864608" y="4078224"/>
            <a:ext cx="3794760" cy="777240"/>
          </a:xfrm>
          <a:prstGeom prst="rect">
            <a:avLst/>
          </a:prstGeom>
          <a:noFill/>
          <a:ln/>
        </p:spPr>
        <p:txBody>
          <a:bodyPr wrap="square" lIns="0" tIns="0" rIns="0" bIns="0" rtlCol="0" anchor="t"/>
          <a:lstStyle/>
          <a:p>
            <a:pPr marL="0" indent="0">
              <a:buNone/>
            </a:pPr>
            <a:r>
              <a:rPr lang="en-US" sz="1150" dirty="0">
                <a:solidFill>
                  <a:srgbClr val="1A2E3B"/>
                </a:solidFill>
                <a:latin typeface="Calibri" pitchFamily="34" charset="0"/>
                <a:ea typeface="Calibri" pitchFamily="34" charset="-122"/>
                <a:cs typeface="Calibri" pitchFamily="34" charset="-120"/>
              </a:rPr>
              <a:t>KS statistic, Coverage, α-Precision and β-Recall metrics were not computed for TabDDPM samples therefore we cannot rule out mode collapse or sample duplication.</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FUTURE WORK</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Directions for Future Research</a:t>
            </a:r>
            <a:endParaRPr lang="en-US" sz="2800" dirty="0"/>
          </a:p>
        </p:txBody>
      </p:sp>
      <p:sp>
        <p:nvSpPr>
          <p:cNvPr id="5" name="Shape 3"/>
          <p:cNvSpPr/>
          <p:nvPr/>
        </p:nvSpPr>
        <p:spPr>
          <a:xfrm>
            <a:off x="384048" y="1024128"/>
            <a:ext cx="4023360" cy="1207008"/>
          </a:xfrm>
          <a:prstGeom prst="rect">
            <a:avLst/>
          </a:prstGeom>
          <a:solidFill>
            <a:srgbClr val="0A2540"/>
          </a:solidFill>
          <a:ln w="12700">
            <a:solidFill>
              <a:srgbClr val="0E9AA7"/>
            </a:solidFill>
            <a:prstDash val="solid"/>
          </a:ln>
          <a:effectLst>
            <a:outerShdw blurRad="63500" dist="25400" dir="8100000" algn="bl" rotWithShape="0">
              <a:srgbClr val="000000">
                <a:alpha val="20000"/>
              </a:srgbClr>
            </a:outerShdw>
          </a:effectLst>
        </p:spPr>
        <p:txBody>
          <a:bodyPr/>
          <a:lstStyle/>
          <a:p>
            <a:endParaRPr lang="en-ZA"/>
          </a:p>
        </p:txBody>
      </p:sp>
      <p:sp>
        <p:nvSpPr>
          <p:cNvPr id="6" name="Text 4"/>
          <p:cNvSpPr/>
          <p:nvPr/>
        </p:nvSpPr>
        <p:spPr>
          <a:xfrm>
            <a:off x="521208" y="1115568"/>
            <a:ext cx="3749040" cy="256032"/>
          </a:xfrm>
          <a:prstGeom prst="rect">
            <a:avLst/>
          </a:prstGeom>
          <a:noFill/>
          <a:ln/>
        </p:spPr>
        <p:txBody>
          <a:bodyPr wrap="square" lIns="0" tIns="0" rIns="0" bIns="0" rtlCol="0" anchor="ctr"/>
          <a:lstStyle/>
          <a:p>
            <a:pPr marL="0" indent="0">
              <a:buNone/>
            </a:pPr>
            <a:r>
              <a:rPr lang="en-US" sz="1250" b="1" dirty="0">
                <a:solidFill>
                  <a:srgbClr val="0E9AA7"/>
                </a:solidFill>
                <a:latin typeface="Calibri" pitchFamily="34" charset="0"/>
                <a:ea typeface="Calibri" pitchFamily="34" charset="-122"/>
                <a:cs typeface="Calibri" pitchFamily="34" charset="-120"/>
              </a:rPr>
              <a:t>Larger &amp; Diverse Datasets</a:t>
            </a:r>
            <a:endParaRPr lang="en-US" sz="1250" dirty="0"/>
          </a:p>
        </p:txBody>
      </p:sp>
      <p:sp>
        <p:nvSpPr>
          <p:cNvPr id="7" name="Text 5"/>
          <p:cNvSpPr/>
          <p:nvPr/>
        </p:nvSpPr>
        <p:spPr>
          <a:xfrm>
            <a:off x="521208" y="1389888"/>
            <a:ext cx="3749040" cy="777240"/>
          </a:xfrm>
          <a:prstGeom prst="rect">
            <a:avLst/>
          </a:prstGeom>
          <a:noFill/>
          <a:ln/>
        </p:spPr>
        <p:txBody>
          <a:bodyPr wrap="square" lIns="0" tIns="0" rIns="0" bIns="0" rtlCol="0" anchor="t"/>
          <a:lstStyle/>
          <a:p>
            <a:pPr marL="0" indent="0">
              <a:buNone/>
            </a:pPr>
            <a:r>
              <a:rPr lang="en-US" sz="1150" dirty="0">
                <a:solidFill>
                  <a:srgbClr val="E2EBF0"/>
                </a:solidFill>
                <a:latin typeface="Calibri" pitchFamily="34" charset="0"/>
                <a:ea typeface="Calibri" pitchFamily="34" charset="-122"/>
                <a:cs typeface="Calibri" pitchFamily="34" charset="-120"/>
              </a:rPr>
              <a:t>Replicate and validate on substantially larger real-world healthcare insurance datasets with more diverse feature sets to confirm generalisation.</a:t>
            </a:r>
            <a:endParaRPr lang="en-US" sz="1150" dirty="0"/>
          </a:p>
        </p:txBody>
      </p:sp>
      <p:sp>
        <p:nvSpPr>
          <p:cNvPr id="8" name="Shape 6"/>
          <p:cNvSpPr/>
          <p:nvPr/>
        </p:nvSpPr>
        <p:spPr>
          <a:xfrm>
            <a:off x="4727448" y="1024128"/>
            <a:ext cx="4023360" cy="1207008"/>
          </a:xfrm>
          <a:prstGeom prst="rect">
            <a:avLst/>
          </a:prstGeom>
          <a:solidFill>
            <a:srgbClr val="0A2540"/>
          </a:solidFill>
          <a:ln w="12700">
            <a:solidFill>
              <a:srgbClr val="0E9AA7"/>
            </a:solidFill>
            <a:prstDash val="solid"/>
          </a:ln>
          <a:effectLst>
            <a:outerShdw blurRad="63500" dist="25400" dir="8100000" algn="bl" rotWithShape="0">
              <a:srgbClr val="000000">
                <a:alpha val="20000"/>
              </a:srgbClr>
            </a:outerShdw>
          </a:effectLst>
        </p:spPr>
        <p:txBody>
          <a:bodyPr/>
          <a:lstStyle/>
          <a:p>
            <a:endParaRPr lang="en-ZA"/>
          </a:p>
        </p:txBody>
      </p:sp>
      <p:sp>
        <p:nvSpPr>
          <p:cNvPr id="9" name="Text 7"/>
          <p:cNvSpPr/>
          <p:nvPr/>
        </p:nvSpPr>
        <p:spPr>
          <a:xfrm>
            <a:off x="4864608" y="1115568"/>
            <a:ext cx="3749040" cy="256032"/>
          </a:xfrm>
          <a:prstGeom prst="rect">
            <a:avLst/>
          </a:prstGeom>
          <a:noFill/>
          <a:ln/>
        </p:spPr>
        <p:txBody>
          <a:bodyPr wrap="square" lIns="0" tIns="0" rIns="0" bIns="0" rtlCol="0" anchor="ctr"/>
          <a:lstStyle/>
          <a:p>
            <a:pPr marL="0" indent="0">
              <a:buNone/>
            </a:pPr>
            <a:r>
              <a:rPr lang="en-US" sz="1250" b="1" dirty="0">
                <a:solidFill>
                  <a:srgbClr val="0E9AA7"/>
                </a:solidFill>
                <a:latin typeface="Calibri" pitchFamily="34" charset="0"/>
                <a:ea typeface="Calibri" pitchFamily="34" charset="-122"/>
                <a:cs typeface="Calibri" pitchFamily="34" charset="-120"/>
              </a:rPr>
              <a:t>Synthetic Data Quality Metrics</a:t>
            </a:r>
            <a:endParaRPr lang="en-US" sz="1250" dirty="0"/>
          </a:p>
        </p:txBody>
      </p:sp>
      <p:sp>
        <p:nvSpPr>
          <p:cNvPr id="10" name="Text 8"/>
          <p:cNvSpPr/>
          <p:nvPr/>
        </p:nvSpPr>
        <p:spPr>
          <a:xfrm>
            <a:off x="4864608" y="1389888"/>
            <a:ext cx="3749040" cy="777240"/>
          </a:xfrm>
          <a:prstGeom prst="rect">
            <a:avLst/>
          </a:prstGeom>
          <a:noFill/>
          <a:ln/>
        </p:spPr>
        <p:txBody>
          <a:bodyPr wrap="square" lIns="0" tIns="0" rIns="0" bIns="0" rtlCol="0" anchor="t"/>
          <a:lstStyle/>
          <a:p>
            <a:pPr marL="0" indent="0">
              <a:buNone/>
            </a:pPr>
            <a:r>
              <a:rPr lang="en-US" sz="1150" dirty="0">
                <a:solidFill>
                  <a:srgbClr val="E2EBF0"/>
                </a:solidFill>
                <a:latin typeface="Calibri" pitchFamily="34" charset="0"/>
                <a:ea typeface="Calibri" pitchFamily="34" charset="-122"/>
                <a:cs typeface="Calibri" pitchFamily="34" charset="-120"/>
              </a:rPr>
              <a:t>Compute KS statistic, Coverage, α-Precision and β-Recall for TabDDPM samples to rigorously assess fidelity and rule out mode collapse.</a:t>
            </a:r>
            <a:endParaRPr lang="en-US" sz="1150" dirty="0"/>
          </a:p>
        </p:txBody>
      </p:sp>
      <p:sp>
        <p:nvSpPr>
          <p:cNvPr id="11" name="Shape 9"/>
          <p:cNvSpPr/>
          <p:nvPr/>
        </p:nvSpPr>
        <p:spPr>
          <a:xfrm>
            <a:off x="384048" y="2377440"/>
            <a:ext cx="4023360" cy="1207008"/>
          </a:xfrm>
          <a:prstGeom prst="rect">
            <a:avLst/>
          </a:prstGeom>
          <a:solidFill>
            <a:srgbClr val="0A2540"/>
          </a:solidFill>
          <a:ln w="12700">
            <a:solidFill>
              <a:srgbClr val="0E9AA7"/>
            </a:solidFill>
            <a:prstDash val="solid"/>
          </a:ln>
          <a:effectLst>
            <a:outerShdw blurRad="63500" dist="25400" dir="8100000" algn="bl" rotWithShape="0">
              <a:srgbClr val="000000">
                <a:alpha val="20000"/>
              </a:srgbClr>
            </a:outerShdw>
          </a:effectLst>
        </p:spPr>
        <p:txBody>
          <a:bodyPr/>
          <a:lstStyle/>
          <a:p>
            <a:endParaRPr lang="en-ZA"/>
          </a:p>
        </p:txBody>
      </p:sp>
      <p:sp>
        <p:nvSpPr>
          <p:cNvPr id="12" name="Text 10"/>
          <p:cNvSpPr/>
          <p:nvPr/>
        </p:nvSpPr>
        <p:spPr>
          <a:xfrm>
            <a:off x="521208" y="2468880"/>
            <a:ext cx="3749040" cy="256032"/>
          </a:xfrm>
          <a:prstGeom prst="rect">
            <a:avLst/>
          </a:prstGeom>
          <a:noFill/>
          <a:ln/>
        </p:spPr>
        <p:txBody>
          <a:bodyPr wrap="square" lIns="0" tIns="0" rIns="0" bIns="0" rtlCol="0" anchor="ctr"/>
          <a:lstStyle/>
          <a:p>
            <a:pPr marL="0" indent="0">
              <a:buNone/>
            </a:pPr>
            <a:r>
              <a:rPr lang="en-US" sz="1250" b="1" dirty="0">
                <a:solidFill>
                  <a:srgbClr val="0E9AA7"/>
                </a:solidFill>
                <a:latin typeface="Calibri" pitchFamily="34" charset="0"/>
                <a:ea typeface="Calibri" pitchFamily="34" charset="-122"/>
                <a:cs typeface="Calibri" pitchFamily="34" charset="-120"/>
              </a:rPr>
              <a:t>Temporal &amp; Cross-Validation</a:t>
            </a:r>
            <a:endParaRPr lang="en-US" sz="1250" dirty="0"/>
          </a:p>
        </p:txBody>
      </p:sp>
      <p:sp>
        <p:nvSpPr>
          <p:cNvPr id="13" name="Text 11"/>
          <p:cNvSpPr/>
          <p:nvPr/>
        </p:nvSpPr>
        <p:spPr>
          <a:xfrm>
            <a:off x="521208" y="2743200"/>
            <a:ext cx="3749040" cy="777240"/>
          </a:xfrm>
          <a:prstGeom prst="rect">
            <a:avLst/>
          </a:prstGeom>
          <a:noFill/>
          <a:ln/>
        </p:spPr>
        <p:txBody>
          <a:bodyPr wrap="square" lIns="0" tIns="0" rIns="0" bIns="0" rtlCol="0" anchor="t"/>
          <a:lstStyle/>
          <a:p>
            <a:pPr marL="0" indent="0">
              <a:buNone/>
            </a:pPr>
            <a:r>
              <a:rPr lang="en-US" sz="1150" dirty="0">
                <a:solidFill>
                  <a:srgbClr val="E2EBF0"/>
                </a:solidFill>
                <a:latin typeface="Calibri" pitchFamily="34" charset="0"/>
                <a:ea typeface="Calibri" pitchFamily="34" charset="-122"/>
                <a:cs typeface="Calibri" pitchFamily="34" charset="-120"/>
              </a:rPr>
              <a:t>Implement k-fold cross-validation and temporal holdout validation to measure robustness to evolving and previously unseen fraud patterns.</a:t>
            </a:r>
            <a:endParaRPr lang="en-US" sz="1150" dirty="0"/>
          </a:p>
        </p:txBody>
      </p:sp>
      <p:sp>
        <p:nvSpPr>
          <p:cNvPr id="14" name="Shape 12"/>
          <p:cNvSpPr/>
          <p:nvPr/>
        </p:nvSpPr>
        <p:spPr>
          <a:xfrm>
            <a:off x="4727448" y="2377440"/>
            <a:ext cx="4023360" cy="1207008"/>
          </a:xfrm>
          <a:prstGeom prst="rect">
            <a:avLst/>
          </a:prstGeom>
          <a:solidFill>
            <a:srgbClr val="0A2540"/>
          </a:solidFill>
          <a:ln w="12700">
            <a:solidFill>
              <a:srgbClr val="0E9AA7"/>
            </a:solidFill>
            <a:prstDash val="solid"/>
          </a:ln>
          <a:effectLst>
            <a:outerShdw blurRad="63500" dist="25400" dir="8100000" algn="bl" rotWithShape="0">
              <a:srgbClr val="000000">
                <a:alpha val="20000"/>
              </a:srgbClr>
            </a:outerShdw>
          </a:effectLst>
        </p:spPr>
        <p:txBody>
          <a:bodyPr/>
          <a:lstStyle/>
          <a:p>
            <a:endParaRPr lang="en-ZA"/>
          </a:p>
        </p:txBody>
      </p:sp>
      <p:sp>
        <p:nvSpPr>
          <p:cNvPr id="15" name="Text 13"/>
          <p:cNvSpPr/>
          <p:nvPr/>
        </p:nvSpPr>
        <p:spPr>
          <a:xfrm>
            <a:off x="4864608" y="2468880"/>
            <a:ext cx="3749040" cy="256032"/>
          </a:xfrm>
          <a:prstGeom prst="rect">
            <a:avLst/>
          </a:prstGeom>
          <a:noFill/>
          <a:ln/>
        </p:spPr>
        <p:txBody>
          <a:bodyPr wrap="square" lIns="0" tIns="0" rIns="0" bIns="0" rtlCol="0" anchor="ctr"/>
          <a:lstStyle/>
          <a:p>
            <a:pPr marL="0" indent="0">
              <a:buNone/>
            </a:pPr>
            <a:r>
              <a:rPr lang="en-US" sz="1250" b="1" dirty="0">
                <a:solidFill>
                  <a:srgbClr val="0E9AA7"/>
                </a:solidFill>
                <a:latin typeface="Calibri" pitchFamily="34" charset="0"/>
                <a:ea typeface="Calibri" pitchFamily="34" charset="-122"/>
                <a:cs typeface="Calibri" pitchFamily="34" charset="-120"/>
              </a:rPr>
              <a:t>Federated Learning Integration</a:t>
            </a:r>
            <a:endParaRPr lang="en-US" sz="1250" dirty="0"/>
          </a:p>
        </p:txBody>
      </p:sp>
      <p:sp>
        <p:nvSpPr>
          <p:cNvPr id="16" name="Text 14"/>
          <p:cNvSpPr/>
          <p:nvPr/>
        </p:nvSpPr>
        <p:spPr>
          <a:xfrm>
            <a:off x="4864608" y="2743200"/>
            <a:ext cx="3749040" cy="777240"/>
          </a:xfrm>
          <a:prstGeom prst="rect">
            <a:avLst/>
          </a:prstGeom>
          <a:noFill/>
          <a:ln/>
        </p:spPr>
        <p:txBody>
          <a:bodyPr wrap="square" lIns="0" tIns="0" rIns="0" bIns="0" rtlCol="0" anchor="t"/>
          <a:lstStyle/>
          <a:p>
            <a:pPr marL="0" indent="0">
              <a:buNone/>
            </a:pPr>
            <a:r>
              <a:rPr lang="en-US" sz="1150" dirty="0">
                <a:solidFill>
                  <a:srgbClr val="E2EBF0"/>
                </a:solidFill>
                <a:latin typeface="Calibri" pitchFamily="34" charset="0"/>
                <a:ea typeface="Calibri" pitchFamily="34" charset="-122"/>
                <a:cs typeface="Calibri" pitchFamily="34" charset="-120"/>
              </a:rPr>
              <a:t>Explore federated TabDDPM synthesis across hospital networks to train without centralising sensitive data thus resolving the data silo problem.</a:t>
            </a:r>
            <a:endParaRPr lang="en-US" sz="1150" dirty="0"/>
          </a:p>
        </p:txBody>
      </p:sp>
      <p:sp>
        <p:nvSpPr>
          <p:cNvPr id="17" name="Shape 15"/>
          <p:cNvSpPr/>
          <p:nvPr/>
        </p:nvSpPr>
        <p:spPr>
          <a:xfrm>
            <a:off x="384048" y="3730752"/>
            <a:ext cx="4023360" cy="1207008"/>
          </a:xfrm>
          <a:prstGeom prst="rect">
            <a:avLst/>
          </a:prstGeom>
          <a:solidFill>
            <a:srgbClr val="0A2540"/>
          </a:solidFill>
          <a:ln w="12700">
            <a:solidFill>
              <a:srgbClr val="0E9AA7"/>
            </a:solidFill>
            <a:prstDash val="solid"/>
          </a:ln>
          <a:effectLst>
            <a:outerShdw blurRad="63500" dist="25400" dir="8100000" algn="bl" rotWithShape="0">
              <a:srgbClr val="000000">
                <a:alpha val="20000"/>
              </a:srgbClr>
            </a:outerShdw>
          </a:effectLst>
        </p:spPr>
        <p:txBody>
          <a:bodyPr/>
          <a:lstStyle/>
          <a:p>
            <a:endParaRPr lang="en-ZA"/>
          </a:p>
        </p:txBody>
      </p:sp>
      <p:sp>
        <p:nvSpPr>
          <p:cNvPr id="18" name="Text 16"/>
          <p:cNvSpPr/>
          <p:nvPr/>
        </p:nvSpPr>
        <p:spPr>
          <a:xfrm>
            <a:off x="521208" y="3822192"/>
            <a:ext cx="3749040" cy="256032"/>
          </a:xfrm>
          <a:prstGeom prst="rect">
            <a:avLst/>
          </a:prstGeom>
          <a:noFill/>
          <a:ln/>
        </p:spPr>
        <p:txBody>
          <a:bodyPr wrap="square" lIns="0" tIns="0" rIns="0" bIns="0" rtlCol="0" anchor="ctr"/>
          <a:lstStyle/>
          <a:p>
            <a:pPr marL="0" indent="0">
              <a:buNone/>
            </a:pPr>
            <a:r>
              <a:rPr lang="en-US" sz="1250" b="1" dirty="0">
                <a:solidFill>
                  <a:srgbClr val="0E9AA7"/>
                </a:solidFill>
                <a:latin typeface="Calibri" pitchFamily="34" charset="0"/>
                <a:ea typeface="Calibri" pitchFamily="34" charset="-122"/>
                <a:cs typeface="Calibri" pitchFamily="34" charset="-120"/>
              </a:rPr>
              <a:t>Blockchain Auditability</a:t>
            </a:r>
            <a:endParaRPr lang="en-US" sz="1250" dirty="0"/>
          </a:p>
        </p:txBody>
      </p:sp>
      <p:sp>
        <p:nvSpPr>
          <p:cNvPr id="19" name="Text 17"/>
          <p:cNvSpPr/>
          <p:nvPr/>
        </p:nvSpPr>
        <p:spPr>
          <a:xfrm>
            <a:off x="521208" y="4096512"/>
            <a:ext cx="3749040" cy="777240"/>
          </a:xfrm>
          <a:prstGeom prst="rect">
            <a:avLst/>
          </a:prstGeom>
          <a:noFill/>
          <a:ln/>
        </p:spPr>
        <p:txBody>
          <a:bodyPr wrap="square" lIns="0" tIns="0" rIns="0" bIns="0" rtlCol="0" anchor="t"/>
          <a:lstStyle/>
          <a:p>
            <a:pPr marL="0" indent="0">
              <a:buNone/>
            </a:pPr>
            <a:r>
              <a:rPr lang="en-US" sz="1150" dirty="0">
                <a:solidFill>
                  <a:srgbClr val="E2EBF0"/>
                </a:solidFill>
                <a:latin typeface="Calibri" pitchFamily="34" charset="0"/>
                <a:ea typeface="Calibri" pitchFamily="34" charset="-122"/>
                <a:cs typeface="Calibri" pitchFamily="34" charset="-120"/>
              </a:rPr>
              <a:t>Investigate blockchain-based immutable audit logging of SHAP/LIME decisions to satisfy HIPAA/GDPR accountability whilst maintaining explainability.</a:t>
            </a:r>
            <a:endParaRPr lang="en-US" sz="1150" dirty="0"/>
          </a:p>
        </p:txBody>
      </p:sp>
      <p:sp>
        <p:nvSpPr>
          <p:cNvPr id="20" name="Shape 18"/>
          <p:cNvSpPr/>
          <p:nvPr/>
        </p:nvSpPr>
        <p:spPr>
          <a:xfrm>
            <a:off x="4727448" y="3730752"/>
            <a:ext cx="4023360" cy="1207008"/>
          </a:xfrm>
          <a:prstGeom prst="rect">
            <a:avLst/>
          </a:prstGeom>
          <a:solidFill>
            <a:srgbClr val="0A2540"/>
          </a:solidFill>
          <a:ln w="12700">
            <a:solidFill>
              <a:srgbClr val="0E9AA7"/>
            </a:solidFill>
            <a:prstDash val="solid"/>
          </a:ln>
          <a:effectLst>
            <a:outerShdw blurRad="63500" dist="25400" dir="8100000" algn="bl" rotWithShape="0">
              <a:srgbClr val="000000">
                <a:alpha val="20000"/>
              </a:srgbClr>
            </a:outerShdw>
          </a:effectLst>
        </p:spPr>
        <p:txBody>
          <a:bodyPr/>
          <a:lstStyle/>
          <a:p>
            <a:endParaRPr lang="en-ZA"/>
          </a:p>
        </p:txBody>
      </p:sp>
      <p:sp>
        <p:nvSpPr>
          <p:cNvPr id="21" name="Text 19"/>
          <p:cNvSpPr/>
          <p:nvPr/>
        </p:nvSpPr>
        <p:spPr>
          <a:xfrm>
            <a:off x="4864608" y="3822192"/>
            <a:ext cx="3749040" cy="256032"/>
          </a:xfrm>
          <a:prstGeom prst="rect">
            <a:avLst/>
          </a:prstGeom>
          <a:noFill/>
          <a:ln/>
        </p:spPr>
        <p:txBody>
          <a:bodyPr wrap="square" lIns="0" tIns="0" rIns="0" bIns="0" rtlCol="0" anchor="ctr"/>
          <a:lstStyle/>
          <a:p>
            <a:pPr marL="0" indent="0">
              <a:buNone/>
            </a:pPr>
            <a:r>
              <a:rPr lang="en-US" sz="1250" b="1" dirty="0">
                <a:solidFill>
                  <a:srgbClr val="0E9AA7"/>
                </a:solidFill>
                <a:latin typeface="Calibri" pitchFamily="34" charset="0"/>
                <a:ea typeface="Calibri" pitchFamily="34" charset="-122"/>
                <a:cs typeface="Calibri" pitchFamily="34" charset="-120"/>
              </a:rPr>
              <a:t>Production Deployment Testing</a:t>
            </a:r>
            <a:endParaRPr lang="en-US" sz="1250" dirty="0"/>
          </a:p>
        </p:txBody>
      </p:sp>
      <p:sp>
        <p:nvSpPr>
          <p:cNvPr id="22" name="Text 20"/>
          <p:cNvSpPr/>
          <p:nvPr/>
        </p:nvSpPr>
        <p:spPr>
          <a:xfrm>
            <a:off x="4864608" y="4096512"/>
            <a:ext cx="3749040" cy="777240"/>
          </a:xfrm>
          <a:prstGeom prst="rect">
            <a:avLst/>
          </a:prstGeom>
          <a:noFill/>
          <a:ln/>
        </p:spPr>
        <p:txBody>
          <a:bodyPr wrap="square" lIns="0" tIns="0" rIns="0" bIns="0" rtlCol="0" anchor="t"/>
          <a:lstStyle/>
          <a:p>
            <a:pPr marL="0" indent="0">
              <a:buNone/>
            </a:pPr>
            <a:r>
              <a:rPr lang="en-US" sz="1150" dirty="0">
                <a:solidFill>
                  <a:srgbClr val="E2EBF0"/>
                </a:solidFill>
                <a:latin typeface="Calibri" pitchFamily="34" charset="0"/>
                <a:ea typeface="Calibri" pitchFamily="34" charset="-122"/>
                <a:cs typeface="Calibri" pitchFamily="34" charset="-120"/>
              </a:rPr>
              <a:t>Evaluate system performance under real-world imbalanced conditions (1% fraud rate) with dynamic threshold adjustment to optimise precision-recall trade-off.</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CONCLUSIONS</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1A2E3B"/>
                </a:solidFill>
                <a:latin typeface="Calibri" pitchFamily="34" charset="0"/>
                <a:ea typeface="Calibri" pitchFamily="34" charset="-122"/>
                <a:cs typeface="Calibri" pitchFamily="34" charset="-120"/>
              </a:rPr>
              <a:t>Conclusions</a:t>
            </a:r>
            <a:endParaRPr lang="en-US" sz="2800" dirty="0"/>
          </a:p>
        </p:txBody>
      </p:sp>
      <p:sp>
        <p:nvSpPr>
          <p:cNvPr id="5" name="Text 3"/>
          <p:cNvSpPr/>
          <p:nvPr/>
        </p:nvSpPr>
        <p:spPr>
          <a:xfrm>
            <a:off x="384048" y="1005840"/>
            <a:ext cx="5029200" cy="274320"/>
          </a:xfrm>
          <a:prstGeom prst="rect">
            <a:avLst/>
          </a:prstGeom>
          <a:noFill/>
          <a:ln/>
        </p:spPr>
        <p:txBody>
          <a:bodyPr wrap="square" lIns="0" tIns="0" rIns="0" bIns="0" rtlCol="0" anchor="ctr"/>
          <a:lstStyle/>
          <a:p>
            <a:pPr marL="0" indent="0">
              <a:buNone/>
            </a:pPr>
            <a:r>
              <a:rPr lang="en-US" sz="1400" b="1" dirty="0">
                <a:solidFill>
                  <a:srgbClr val="0A7581"/>
                </a:solidFill>
                <a:latin typeface="Calibri" pitchFamily="34" charset="0"/>
                <a:ea typeface="Calibri" pitchFamily="34" charset="-122"/>
                <a:cs typeface="Calibri" pitchFamily="34" charset="-120"/>
              </a:rPr>
              <a:t>Key Takeaways</a:t>
            </a:r>
            <a:endParaRPr lang="en-US" sz="1400" dirty="0"/>
          </a:p>
        </p:txBody>
      </p:sp>
      <p:sp>
        <p:nvSpPr>
          <p:cNvPr id="6" name="Text 4"/>
          <p:cNvSpPr/>
          <p:nvPr/>
        </p:nvSpPr>
        <p:spPr>
          <a:xfrm>
            <a:off x="384048" y="1371600"/>
            <a:ext cx="5029200" cy="347472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A2E3B"/>
                </a:solidFill>
                <a:latin typeface="Calibri" pitchFamily="34" charset="0"/>
                <a:ea typeface="Calibri" pitchFamily="34" charset="-122"/>
                <a:cs typeface="Calibri" pitchFamily="34" charset="-120"/>
              </a:rPr>
              <a:t>RQ1 ✓  TabDDPM outperforms SMOTE by producing 4,066 synthetic samples raised fraud ratio from 1% to 48.4% while preserving privacy (higher DCR)</a:t>
            </a:r>
            <a:endParaRPr lang="en-US" sz="1250" dirty="0"/>
          </a:p>
          <a:p>
            <a:pPr marL="342900" indent="-342900">
              <a:spcAft>
                <a:spcPts val="1000"/>
              </a:spcAft>
              <a:buSzPct val="100000"/>
              <a:buChar char="•"/>
            </a:pPr>
            <a:r>
              <a:rPr lang="en-US" sz="1250" dirty="0">
                <a:solidFill>
                  <a:srgbClr val="1A2E3B"/>
                </a:solidFill>
                <a:latin typeface="Calibri" pitchFamily="34" charset="0"/>
                <a:ea typeface="Calibri" pitchFamily="34" charset="-122"/>
                <a:cs typeface="Calibri" pitchFamily="34" charset="-120"/>
              </a:rPr>
              <a:t>RQ2 ✓  TabNet outperforms all baselines with an AUC-ROC 0.99 vs 0.95 for XGBoost+SMOTE, with +16% F1-Score improvement</a:t>
            </a:r>
            <a:endParaRPr lang="en-US" sz="1250" dirty="0"/>
          </a:p>
          <a:p>
            <a:pPr marL="342900" indent="-342900">
              <a:spcAft>
                <a:spcPts val="1000"/>
              </a:spcAft>
              <a:buSzPct val="100000"/>
              <a:buChar char="•"/>
            </a:pPr>
            <a:r>
              <a:rPr lang="en-US" sz="1250" dirty="0">
                <a:solidFill>
                  <a:srgbClr val="1A2E3B"/>
                </a:solidFill>
                <a:latin typeface="Calibri" pitchFamily="34" charset="0"/>
                <a:ea typeface="Calibri" pitchFamily="34" charset="-122"/>
                <a:cs typeface="Calibri" pitchFamily="34" charset="-120"/>
              </a:rPr>
              <a:t>Amount Billed and Date of Encounter are the dominant fraud predictors which is clinically coherent and statistically grounded</a:t>
            </a:r>
            <a:endParaRPr lang="en-US" sz="1250" dirty="0"/>
          </a:p>
          <a:p>
            <a:pPr marL="342900" indent="-342900">
              <a:spcAft>
                <a:spcPts val="1000"/>
              </a:spcAft>
              <a:buSzPct val="100000"/>
              <a:buChar char="•"/>
            </a:pPr>
            <a:r>
              <a:rPr lang="en-US" sz="1250" dirty="0">
                <a:solidFill>
                  <a:srgbClr val="1A2E3B"/>
                </a:solidFill>
                <a:latin typeface="Calibri" pitchFamily="34" charset="0"/>
                <a:ea typeface="Calibri" pitchFamily="34" charset="-122"/>
                <a:cs typeface="Calibri" pitchFamily="34" charset="-120"/>
              </a:rPr>
              <a:t>SHAP–LIME disagreement is itself a finding that single post-hoc explainability frameworks are insufficient in regulated healthcare contexts</a:t>
            </a:r>
            <a:endParaRPr lang="en-US" sz="1250" dirty="0"/>
          </a:p>
        </p:txBody>
      </p:sp>
      <p:sp>
        <p:nvSpPr>
          <p:cNvPr id="7" name="Shape 5"/>
          <p:cNvSpPr/>
          <p:nvPr/>
        </p:nvSpPr>
        <p:spPr>
          <a:xfrm>
            <a:off x="5669280" y="1005840"/>
            <a:ext cx="3090672" cy="3767328"/>
          </a:xfrm>
          <a:prstGeom prst="rect">
            <a:avLst/>
          </a:prstGeom>
          <a:solidFill>
            <a:srgbClr val="0D1B2A"/>
          </a:solidFill>
          <a:ln w="12700">
            <a:solidFill>
              <a:srgbClr val="0E9AA7"/>
            </a:solidFill>
            <a:prstDash val="solid"/>
          </a:ln>
          <a:effectLst>
            <a:outerShdw blurRad="63500" dist="25400" dir="8100000" algn="bl" rotWithShape="0">
              <a:srgbClr val="000000">
                <a:alpha val="15000"/>
              </a:srgbClr>
            </a:outerShdw>
          </a:effectLst>
        </p:spPr>
        <p:txBody>
          <a:bodyPr/>
          <a:lstStyle/>
          <a:p>
            <a:endParaRPr lang="en-ZA"/>
          </a:p>
        </p:txBody>
      </p:sp>
      <p:sp>
        <p:nvSpPr>
          <p:cNvPr id="8" name="Text 6"/>
          <p:cNvSpPr/>
          <p:nvPr/>
        </p:nvSpPr>
        <p:spPr>
          <a:xfrm>
            <a:off x="5669280" y="1078992"/>
            <a:ext cx="3090672" cy="320040"/>
          </a:xfrm>
          <a:prstGeom prst="rect">
            <a:avLst/>
          </a:prstGeom>
          <a:noFill/>
          <a:ln/>
        </p:spPr>
        <p:txBody>
          <a:bodyPr wrap="square" lIns="0" tIns="0" rIns="0" bIns="0" rtlCol="0" anchor="ctr"/>
          <a:lstStyle/>
          <a:p>
            <a:pPr marL="0" indent="0" algn="ctr">
              <a:buNone/>
            </a:pPr>
            <a:r>
              <a:rPr lang="en-US" sz="1300" b="1" dirty="0">
                <a:solidFill>
                  <a:srgbClr val="0E9AA7"/>
                </a:solidFill>
                <a:latin typeface="Calibri" pitchFamily="34" charset="0"/>
                <a:ea typeface="Calibri" pitchFamily="34" charset="-122"/>
                <a:cs typeface="Calibri" pitchFamily="34" charset="-120"/>
              </a:rPr>
              <a:t>System Impact</a:t>
            </a:r>
            <a:endParaRPr lang="en-US" sz="1300" dirty="0"/>
          </a:p>
        </p:txBody>
      </p:sp>
      <p:sp>
        <p:nvSpPr>
          <p:cNvPr id="9" name="Text 7"/>
          <p:cNvSpPr/>
          <p:nvPr/>
        </p:nvSpPr>
        <p:spPr>
          <a:xfrm>
            <a:off x="5760720" y="1508760"/>
            <a:ext cx="2834640" cy="228600"/>
          </a:xfrm>
          <a:prstGeom prst="rect">
            <a:avLst/>
          </a:prstGeom>
          <a:noFill/>
          <a:ln/>
        </p:spPr>
        <p:txBody>
          <a:bodyPr wrap="square" lIns="0" tIns="0" rIns="0" bIns="0" rtlCol="0" anchor="ctr"/>
          <a:lstStyle/>
          <a:p>
            <a:pPr marL="0" indent="0">
              <a:buNone/>
            </a:pPr>
            <a:r>
              <a:rPr lang="en-US" sz="1100" b="1" dirty="0">
                <a:solidFill>
                  <a:srgbClr val="C8EEF2"/>
                </a:solidFill>
                <a:latin typeface="Calibri" pitchFamily="34" charset="0"/>
                <a:ea typeface="Calibri" pitchFamily="34" charset="-122"/>
                <a:cs typeface="Calibri" pitchFamily="34" charset="-120"/>
              </a:rPr>
              <a:t>Operational</a:t>
            </a:r>
            <a:endParaRPr lang="en-US" sz="1100" dirty="0"/>
          </a:p>
        </p:txBody>
      </p:sp>
      <p:sp>
        <p:nvSpPr>
          <p:cNvPr id="10" name="Text 8"/>
          <p:cNvSpPr/>
          <p:nvPr/>
        </p:nvSpPr>
        <p:spPr>
          <a:xfrm>
            <a:off x="5760720" y="1737360"/>
            <a:ext cx="2834640" cy="502920"/>
          </a:xfrm>
          <a:prstGeom prst="rect">
            <a:avLst/>
          </a:prstGeom>
          <a:noFill/>
          <a:ln/>
        </p:spPr>
        <p:txBody>
          <a:bodyPr wrap="square" lIns="0" tIns="0" rIns="0" bIns="0" rtlCol="0" anchor="t"/>
          <a:lstStyle/>
          <a:p>
            <a:pPr marL="0" indent="0">
              <a:buNone/>
            </a:pPr>
            <a:r>
              <a:rPr lang="en-US" sz="1100" dirty="0">
                <a:solidFill>
                  <a:srgbClr val="E2EBF0"/>
                </a:solidFill>
                <a:latin typeface="Calibri" pitchFamily="34" charset="0"/>
                <a:ea typeface="Calibri" pitchFamily="34" charset="-122"/>
                <a:cs typeface="Calibri" pitchFamily="34" charset="-120"/>
              </a:rPr>
              <a:t>Automated, auditable fraud detection reducing $600–850B annual loss</a:t>
            </a:r>
            <a:endParaRPr lang="en-US" sz="1100" dirty="0"/>
          </a:p>
        </p:txBody>
      </p:sp>
      <p:sp>
        <p:nvSpPr>
          <p:cNvPr id="11" name="Text 9"/>
          <p:cNvSpPr/>
          <p:nvPr/>
        </p:nvSpPr>
        <p:spPr>
          <a:xfrm>
            <a:off x="5760720" y="2313432"/>
            <a:ext cx="2834640" cy="228600"/>
          </a:xfrm>
          <a:prstGeom prst="rect">
            <a:avLst/>
          </a:prstGeom>
          <a:noFill/>
          <a:ln/>
        </p:spPr>
        <p:txBody>
          <a:bodyPr wrap="square" lIns="0" tIns="0" rIns="0" bIns="0" rtlCol="0" anchor="ctr"/>
          <a:lstStyle/>
          <a:p>
            <a:pPr marL="0" indent="0">
              <a:buNone/>
            </a:pPr>
            <a:r>
              <a:rPr lang="en-US" sz="1100" b="1" dirty="0">
                <a:solidFill>
                  <a:srgbClr val="C8EEF2"/>
                </a:solidFill>
                <a:latin typeface="Calibri" pitchFamily="34" charset="0"/>
                <a:ea typeface="Calibri" pitchFamily="34" charset="-122"/>
                <a:cs typeface="Calibri" pitchFamily="34" charset="-120"/>
              </a:rPr>
              <a:t>Legal</a:t>
            </a:r>
            <a:endParaRPr lang="en-US" sz="1100" dirty="0"/>
          </a:p>
        </p:txBody>
      </p:sp>
      <p:sp>
        <p:nvSpPr>
          <p:cNvPr id="12" name="Text 10"/>
          <p:cNvSpPr/>
          <p:nvPr/>
        </p:nvSpPr>
        <p:spPr>
          <a:xfrm>
            <a:off x="5760720" y="2542032"/>
            <a:ext cx="2834640" cy="502920"/>
          </a:xfrm>
          <a:prstGeom prst="rect">
            <a:avLst/>
          </a:prstGeom>
          <a:noFill/>
          <a:ln/>
        </p:spPr>
        <p:txBody>
          <a:bodyPr wrap="square" lIns="0" tIns="0" rIns="0" bIns="0" rtlCol="0" anchor="t"/>
          <a:lstStyle/>
          <a:p>
            <a:pPr marL="0" indent="0">
              <a:buNone/>
            </a:pPr>
            <a:r>
              <a:rPr lang="en-US" sz="1100" dirty="0">
                <a:solidFill>
                  <a:srgbClr val="E2EBF0"/>
                </a:solidFill>
                <a:latin typeface="Calibri" pitchFamily="34" charset="0"/>
                <a:ea typeface="Calibri" pitchFamily="34" charset="-122"/>
                <a:cs typeface="Calibri" pitchFamily="34" charset="-120"/>
              </a:rPr>
              <a:t>SHAP+LIME dual framework enables defensible claim denials under HIPAA/GDPR</a:t>
            </a:r>
            <a:endParaRPr lang="en-US" sz="1100" dirty="0"/>
          </a:p>
        </p:txBody>
      </p:sp>
      <p:sp>
        <p:nvSpPr>
          <p:cNvPr id="13" name="Text 11"/>
          <p:cNvSpPr/>
          <p:nvPr/>
        </p:nvSpPr>
        <p:spPr>
          <a:xfrm>
            <a:off x="5760720" y="3118104"/>
            <a:ext cx="2834640" cy="228600"/>
          </a:xfrm>
          <a:prstGeom prst="rect">
            <a:avLst/>
          </a:prstGeom>
          <a:noFill/>
          <a:ln/>
        </p:spPr>
        <p:txBody>
          <a:bodyPr wrap="square" lIns="0" tIns="0" rIns="0" bIns="0" rtlCol="0" anchor="ctr"/>
          <a:lstStyle/>
          <a:p>
            <a:pPr marL="0" indent="0">
              <a:buNone/>
            </a:pPr>
            <a:r>
              <a:rPr lang="en-US" sz="1100" b="1" dirty="0">
                <a:solidFill>
                  <a:srgbClr val="C8EEF2"/>
                </a:solidFill>
                <a:latin typeface="Calibri" pitchFamily="34" charset="0"/>
                <a:ea typeface="Calibri" pitchFamily="34" charset="-122"/>
                <a:cs typeface="Calibri" pitchFamily="34" charset="-120"/>
              </a:rPr>
              <a:t>Technical</a:t>
            </a:r>
            <a:endParaRPr lang="en-US" sz="1100" dirty="0"/>
          </a:p>
        </p:txBody>
      </p:sp>
      <p:sp>
        <p:nvSpPr>
          <p:cNvPr id="14" name="Text 12"/>
          <p:cNvSpPr/>
          <p:nvPr/>
        </p:nvSpPr>
        <p:spPr>
          <a:xfrm>
            <a:off x="5760720" y="3346704"/>
            <a:ext cx="2834640" cy="502920"/>
          </a:xfrm>
          <a:prstGeom prst="rect">
            <a:avLst/>
          </a:prstGeom>
          <a:noFill/>
          <a:ln/>
        </p:spPr>
        <p:txBody>
          <a:bodyPr wrap="square" lIns="0" tIns="0" rIns="0" bIns="0" rtlCol="0" anchor="t"/>
          <a:lstStyle/>
          <a:p>
            <a:pPr marL="0" indent="0">
              <a:buNone/>
            </a:pPr>
            <a:r>
              <a:rPr lang="en-US" sz="1100" dirty="0">
                <a:solidFill>
                  <a:srgbClr val="E2EBF0"/>
                </a:solidFill>
                <a:latin typeface="Calibri" pitchFamily="34" charset="0"/>
                <a:ea typeface="Calibri" pitchFamily="34" charset="-122"/>
                <a:cs typeface="Calibri" pitchFamily="34" charset="-120"/>
              </a:rPr>
              <a:t>First unified TabDDPM+TabNet pipeline resolving all three bottlenecks</a:t>
            </a:r>
            <a:endParaRPr lang="en-US" sz="1100" dirty="0"/>
          </a:p>
        </p:txBody>
      </p:sp>
      <p:sp>
        <p:nvSpPr>
          <p:cNvPr id="15" name="Text 13"/>
          <p:cNvSpPr/>
          <p:nvPr/>
        </p:nvSpPr>
        <p:spPr>
          <a:xfrm>
            <a:off x="5760720" y="3922776"/>
            <a:ext cx="2834640" cy="228600"/>
          </a:xfrm>
          <a:prstGeom prst="rect">
            <a:avLst/>
          </a:prstGeom>
          <a:noFill/>
          <a:ln/>
        </p:spPr>
        <p:txBody>
          <a:bodyPr wrap="square" lIns="0" tIns="0" rIns="0" bIns="0" rtlCol="0" anchor="ctr"/>
          <a:lstStyle/>
          <a:p>
            <a:pPr marL="0" indent="0">
              <a:buNone/>
            </a:pPr>
            <a:r>
              <a:rPr lang="en-US" sz="1100" b="1" dirty="0">
                <a:solidFill>
                  <a:srgbClr val="C8EEF2"/>
                </a:solidFill>
                <a:latin typeface="Calibri" pitchFamily="34" charset="0"/>
                <a:ea typeface="Calibri" pitchFamily="34" charset="-122"/>
                <a:cs typeface="Calibri" pitchFamily="34" charset="-120"/>
              </a:rPr>
              <a:t>Academic</a:t>
            </a:r>
            <a:endParaRPr lang="en-US" sz="1100" dirty="0"/>
          </a:p>
        </p:txBody>
      </p:sp>
      <p:sp>
        <p:nvSpPr>
          <p:cNvPr id="16" name="Text 14"/>
          <p:cNvSpPr/>
          <p:nvPr/>
        </p:nvSpPr>
        <p:spPr>
          <a:xfrm>
            <a:off x="5760720" y="4151376"/>
            <a:ext cx="2834640" cy="502920"/>
          </a:xfrm>
          <a:prstGeom prst="rect">
            <a:avLst/>
          </a:prstGeom>
          <a:noFill/>
          <a:ln/>
        </p:spPr>
        <p:txBody>
          <a:bodyPr wrap="square" lIns="0" tIns="0" rIns="0" bIns="0" rtlCol="0" anchor="t"/>
          <a:lstStyle/>
          <a:p>
            <a:pPr marL="0" indent="0">
              <a:buNone/>
            </a:pPr>
            <a:r>
              <a:rPr lang="en-US" sz="1100" dirty="0">
                <a:solidFill>
                  <a:srgbClr val="E2EBF0"/>
                </a:solidFill>
                <a:latin typeface="Calibri" pitchFamily="34" charset="0"/>
                <a:ea typeface="Calibri" pitchFamily="34" charset="-122"/>
                <a:cs typeface="Calibri" pitchFamily="34" charset="-120"/>
              </a:rPr>
              <a:t>SHAP–LIME disagreement finding contributes to XAI literature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457200" y="164592"/>
            <a:ext cx="1463040" cy="256032"/>
          </a:xfrm>
          <a:prstGeom prst="rect">
            <a:avLst/>
          </a:prstGeom>
          <a:solidFill>
            <a:srgbClr val="0E9AA7"/>
          </a:solidFill>
          <a:ln w="12700">
            <a:solidFill>
              <a:srgbClr val="0E9AA7"/>
            </a:solidFill>
            <a:prstDash val="solid"/>
          </a:ln>
        </p:spPr>
        <p:txBody>
          <a:bodyPr/>
          <a:lstStyle/>
          <a:p>
            <a:endParaRPr lang="en-ZA"/>
          </a:p>
        </p:txBody>
      </p:sp>
      <p:sp>
        <p:nvSpPr>
          <p:cNvPr id="3" name="Text 1"/>
          <p:cNvSpPr/>
          <p:nvPr/>
        </p:nvSpPr>
        <p:spPr>
          <a:xfrm>
            <a:off x="457200" y="164592"/>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REFERENCES</a:t>
            </a:r>
            <a:endParaRPr lang="en-US" sz="900" dirty="0"/>
          </a:p>
        </p:txBody>
      </p:sp>
      <p:sp>
        <p:nvSpPr>
          <p:cNvPr id="4" name="Text 2"/>
          <p:cNvSpPr/>
          <p:nvPr/>
        </p:nvSpPr>
        <p:spPr>
          <a:xfrm>
            <a:off x="457200" y="292608"/>
            <a:ext cx="8229600" cy="594360"/>
          </a:xfrm>
          <a:prstGeom prst="rect">
            <a:avLst/>
          </a:prstGeom>
          <a:noFill/>
          <a:ln/>
        </p:spPr>
        <p:txBody>
          <a:bodyPr wrap="square" lIns="0" tIns="0" rIns="0" bIns="0" rtlCol="0" anchor="ctr"/>
          <a:lstStyle/>
          <a:p>
            <a:pPr marL="0" indent="0" algn="l">
              <a:buNone/>
            </a:pPr>
            <a:r>
              <a:rPr lang="en-US" sz="2800" b="1" dirty="0">
                <a:solidFill>
                  <a:srgbClr val="1A2E3B"/>
                </a:solidFill>
                <a:latin typeface="Calibri" pitchFamily="34" charset="0"/>
                <a:ea typeface="Calibri" pitchFamily="34" charset="-122"/>
                <a:cs typeface="Calibri" pitchFamily="34" charset="-120"/>
              </a:rPr>
              <a:t>Key References</a:t>
            </a:r>
            <a:endParaRPr lang="en-US" sz="2800" dirty="0"/>
          </a:p>
        </p:txBody>
      </p:sp>
      <p:sp>
        <p:nvSpPr>
          <p:cNvPr id="5" name="Text 3"/>
          <p:cNvSpPr/>
          <p:nvPr/>
        </p:nvSpPr>
        <p:spPr>
          <a:xfrm>
            <a:off x="384048" y="1005840"/>
            <a:ext cx="8375904" cy="393192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150" dirty="0">
                <a:solidFill>
                  <a:srgbClr val="1A2E3B"/>
                </a:solidFill>
                <a:latin typeface="Calibri" pitchFamily="34" charset="0"/>
                <a:ea typeface="Calibri" pitchFamily="34" charset="-122"/>
                <a:cs typeface="Calibri" pitchFamily="34" charset="-120"/>
              </a:rPr>
              <a:t>Arik, S.O. &amp; Pfister, T. (2020). TabNet: Attentive interpretable tabular learning. arXiv:1908.07442</a:t>
            </a:r>
            <a:endParaRPr lang="en-US" sz="1150" dirty="0"/>
          </a:p>
          <a:p>
            <a:pPr marL="342900" indent="-342900">
              <a:spcAft>
                <a:spcPts val="500"/>
              </a:spcAft>
              <a:buSzPct val="100000"/>
              <a:buFont typeface="+mj-lt"/>
              <a:buAutoNum type="arabicPeriod"/>
            </a:pPr>
            <a:r>
              <a:rPr lang="en-US" sz="1150" dirty="0">
                <a:solidFill>
                  <a:srgbClr val="1A2E3B"/>
                </a:solidFill>
                <a:latin typeface="Calibri" pitchFamily="34" charset="0"/>
                <a:ea typeface="Calibri" pitchFamily="34" charset="-122"/>
                <a:cs typeface="Calibri" pitchFamily="34" charset="-120"/>
              </a:rPr>
              <a:t>Kotelnikov, A. et al. (2023). TabDDPM: Modelling tabular data with diffusion models. ICML, pp. 17564–17579</a:t>
            </a:r>
            <a:endParaRPr lang="en-US" sz="1150" dirty="0"/>
          </a:p>
          <a:p>
            <a:pPr marL="342900" indent="-342900">
              <a:spcAft>
                <a:spcPts val="500"/>
              </a:spcAft>
              <a:buSzPct val="100000"/>
              <a:buFont typeface="+mj-lt"/>
              <a:buAutoNum type="arabicPeriod"/>
            </a:pPr>
            <a:r>
              <a:rPr lang="en-US" sz="1150" dirty="0">
                <a:solidFill>
                  <a:srgbClr val="1A2E3B"/>
                </a:solidFill>
                <a:latin typeface="Calibri" pitchFamily="34" charset="0"/>
                <a:ea typeface="Calibri" pitchFamily="34" charset="-122"/>
                <a:cs typeface="Calibri" pitchFamily="34" charset="-120"/>
              </a:rPr>
              <a:t>Villaizán-Vallelado, M. et al. (2025). Diffusion models for tabular data imputation and synthetic data generation. ACM TKDD</a:t>
            </a:r>
            <a:endParaRPr lang="en-US" sz="1150" dirty="0"/>
          </a:p>
          <a:p>
            <a:pPr marL="342900" indent="-342900">
              <a:spcAft>
                <a:spcPts val="500"/>
              </a:spcAft>
              <a:buSzPct val="100000"/>
              <a:buFont typeface="+mj-lt"/>
              <a:buAutoNum type="arabicPeriod"/>
            </a:pPr>
            <a:r>
              <a:rPr lang="en-US" sz="1150" dirty="0">
                <a:solidFill>
                  <a:srgbClr val="1A2E3B"/>
                </a:solidFill>
                <a:latin typeface="Calibri" pitchFamily="34" charset="0"/>
                <a:ea typeface="Calibri" pitchFamily="34" charset="-122"/>
                <a:cs typeface="Calibri" pitchFamily="34" charset="-120"/>
              </a:rPr>
              <a:t>Aparna A, John, R.M. &amp; Dhanya, R. (2025). Transformer model for fraud detection in medical insurance claims. ACCESS 2025</a:t>
            </a:r>
            <a:endParaRPr lang="en-US" sz="1150" dirty="0"/>
          </a:p>
          <a:p>
            <a:pPr marL="342900" indent="-342900">
              <a:spcAft>
                <a:spcPts val="500"/>
              </a:spcAft>
              <a:buSzPct val="100000"/>
              <a:buFont typeface="+mj-lt"/>
              <a:buAutoNum type="arabicPeriod"/>
            </a:pPr>
            <a:r>
              <a:rPr lang="en-US" sz="1150" dirty="0">
                <a:solidFill>
                  <a:srgbClr val="1A2E3B"/>
                </a:solidFill>
                <a:latin typeface="Calibri" pitchFamily="34" charset="0"/>
                <a:ea typeface="Calibri" pitchFamily="34" charset="-122"/>
                <a:cs typeface="Calibri" pitchFamily="34" charset="-120"/>
              </a:rPr>
              <a:t>Gorishniy, Y. et al. (2021). Revisiting deep learning models for tabular data. NeurIPS, vol. 34</a:t>
            </a:r>
            <a:endParaRPr lang="en-US" sz="1150" dirty="0"/>
          </a:p>
          <a:p>
            <a:pPr marL="342900" indent="-342900">
              <a:spcAft>
                <a:spcPts val="500"/>
              </a:spcAft>
              <a:buSzPct val="100000"/>
              <a:buFont typeface="+mj-lt"/>
              <a:buAutoNum type="arabicPeriod"/>
            </a:pPr>
            <a:r>
              <a:rPr lang="en-US" sz="1150" dirty="0">
                <a:solidFill>
                  <a:srgbClr val="1A2E3B"/>
                </a:solidFill>
                <a:latin typeface="Calibri" pitchFamily="34" charset="0"/>
                <a:ea typeface="Calibri" pitchFamily="34" charset="-122"/>
                <a:cs typeface="Calibri" pitchFamily="34" charset="-120"/>
              </a:rPr>
              <a:t>Reynaud, S. &amp; Roxin, A. (2025). Review of eXplainable AI for cybersecurity systems. Discover AI, vol. 5(1)</a:t>
            </a:r>
            <a:endParaRPr lang="en-US" sz="1150" dirty="0"/>
          </a:p>
          <a:p>
            <a:pPr marL="342900" indent="-342900">
              <a:spcAft>
                <a:spcPts val="500"/>
              </a:spcAft>
              <a:buSzPct val="100000"/>
              <a:buFont typeface="+mj-lt"/>
              <a:buAutoNum type="arabicPeriod"/>
            </a:pPr>
            <a:r>
              <a:rPr lang="en-US" sz="1150" dirty="0">
                <a:solidFill>
                  <a:srgbClr val="1A2E3B"/>
                </a:solidFill>
                <a:latin typeface="Calibri" pitchFamily="34" charset="0"/>
                <a:ea typeface="Calibri" pitchFamily="34" charset="-122"/>
                <a:cs typeface="Calibri" pitchFamily="34" charset="-120"/>
              </a:rPr>
              <a:t>Islam, M.M. et al. (2025). Fraud detection in privacy-preserving health insurance using blockchain. Engineering Reports</a:t>
            </a:r>
            <a:endParaRPr lang="en-US" sz="1150" dirty="0"/>
          </a:p>
          <a:p>
            <a:pPr marL="342900" indent="-342900">
              <a:spcAft>
                <a:spcPts val="500"/>
              </a:spcAft>
              <a:buSzPct val="100000"/>
              <a:buFont typeface="+mj-lt"/>
              <a:buAutoNum type="arabicPeriod"/>
            </a:pPr>
            <a:r>
              <a:rPr lang="en-US" sz="1150" dirty="0">
                <a:solidFill>
                  <a:srgbClr val="1A2E3B"/>
                </a:solidFill>
                <a:latin typeface="Calibri" pitchFamily="34" charset="0"/>
                <a:ea typeface="Calibri" pitchFamily="34" charset="-122"/>
                <a:cs typeface="Calibri" pitchFamily="34" charset="-120"/>
              </a:rPr>
              <a:t>Bekkaye, C. et al. (2025). Generative hybrid models for fraud detection in auto insurance. Discover AI, vol. 5, art. 313</a:t>
            </a:r>
            <a:endParaRPr lang="en-US" sz="1150" dirty="0"/>
          </a:p>
          <a:p>
            <a:pPr marL="342900" indent="-342900">
              <a:spcAft>
                <a:spcPts val="500"/>
              </a:spcAft>
              <a:buSzPct val="100000"/>
              <a:buFont typeface="+mj-lt"/>
              <a:buAutoNum type="arabicPeriod"/>
            </a:pPr>
            <a:r>
              <a:rPr lang="en-US" sz="1150" dirty="0">
                <a:solidFill>
                  <a:srgbClr val="1A2E3B"/>
                </a:solidFill>
                <a:latin typeface="Calibri" pitchFamily="34" charset="0"/>
                <a:ea typeface="Calibri" pitchFamily="34" charset="-122"/>
                <a:cs typeface="Calibri" pitchFamily="34" charset="-120"/>
              </a:rPr>
              <a:t>Chosen, B. (2024). NHIS Healthcare Claims and Fraud Dataset. Kaggle</a:t>
            </a:r>
            <a:endParaRPr lang="en-US" sz="1150" dirty="0"/>
          </a:p>
          <a:p>
            <a:pPr marL="342900" indent="-342900">
              <a:spcAft>
                <a:spcPts val="500"/>
              </a:spcAft>
              <a:buSzPct val="100000"/>
              <a:buFont typeface="+mj-lt"/>
              <a:buAutoNum type="arabicPeriod"/>
            </a:pPr>
            <a:r>
              <a:rPr lang="en-US" sz="1150" dirty="0">
                <a:solidFill>
                  <a:srgbClr val="1A2E3B"/>
                </a:solidFill>
                <a:latin typeface="Calibri" pitchFamily="34" charset="0"/>
                <a:ea typeface="Calibri" pitchFamily="34" charset="-122"/>
                <a:cs typeface="Calibri" pitchFamily="34" charset="-120"/>
              </a:rPr>
              <a:t>Zabërgja, G. et al. (2024). Is deep learning finally better than decision trees on tabular data? arXiv:2402.03970</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w="12700">
            <a:solidFill>
              <a:srgbClr val="0E9AA7"/>
            </a:solidFill>
            <a:prstDash val="solid"/>
          </a:ln>
        </p:spPr>
        <p:txBody>
          <a:bodyPr/>
          <a:lstStyle/>
          <a:p>
            <a:endParaRPr lang="en-ZA"/>
          </a:p>
        </p:txBody>
      </p:sp>
      <p:sp>
        <p:nvSpPr>
          <p:cNvPr id="3" name="Shape 1"/>
          <p:cNvSpPr/>
          <p:nvPr/>
        </p:nvSpPr>
        <p:spPr>
          <a:xfrm>
            <a:off x="8979408" y="0"/>
            <a:ext cx="164592" cy="5143500"/>
          </a:xfrm>
          <a:prstGeom prst="rect">
            <a:avLst/>
          </a:prstGeom>
          <a:solidFill>
            <a:srgbClr val="0E9AA7"/>
          </a:solidFill>
          <a:ln w="12700">
            <a:solidFill>
              <a:srgbClr val="0E9AA7"/>
            </a:solidFill>
            <a:prstDash val="solid"/>
          </a:ln>
        </p:spPr>
        <p:txBody>
          <a:bodyPr/>
          <a:lstStyle/>
          <a:p>
            <a:endParaRPr lang="en-ZA"/>
          </a:p>
        </p:txBody>
      </p:sp>
      <p:sp>
        <p:nvSpPr>
          <p:cNvPr id="4" name="Text 2"/>
          <p:cNvSpPr/>
          <p:nvPr/>
        </p:nvSpPr>
        <p:spPr>
          <a:xfrm>
            <a:off x="305733" y="1131804"/>
            <a:ext cx="8321040"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5" name="Text 3"/>
          <p:cNvSpPr/>
          <p:nvPr/>
        </p:nvSpPr>
        <p:spPr>
          <a:xfrm>
            <a:off x="305733" y="2046204"/>
            <a:ext cx="8321040" cy="411480"/>
          </a:xfrm>
          <a:prstGeom prst="rect">
            <a:avLst/>
          </a:prstGeom>
          <a:noFill/>
          <a:ln/>
        </p:spPr>
        <p:txBody>
          <a:bodyPr wrap="square" lIns="0" tIns="0" rIns="0" bIns="0" rtlCol="0" anchor="ctr"/>
          <a:lstStyle/>
          <a:p>
            <a:pPr marL="0" indent="0" algn="ctr">
              <a:buNone/>
            </a:pPr>
            <a:r>
              <a:rPr lang="en-US" sz="2000" dirty="0">
                <a:solidFill>
                  <a:srgbClr val="0E9AA7"/>
                </a:solidFill>
                <a:latin typeface="Calibri" pitchFamily="34" charset="0"/>
                <a:ea typeface="Calibri" pitchFamily="34" charset="-122"/>
                <a:cs typeface="Calibri" pitchFamily="34" charset="-120"/>
              </a:rPr>
              <a:t>Questions &amp; Discussion</a:t>
            </a:r>
            <a:endParaRPr lang="en-US" sz="2000" dirty="0"/>
          </a:p>
        </p:txBody>
      </p:sp>
      <p:sp>
        <p:nvSpPr>
          <p:cNvPr id="6" name="Shape 4"/>
          <p:cNvSpPr/>
          <p:nvPr/>
        </p:nvSpPr>
        <p:spPr>
          <a:xfrm>
            <a:off x="2180253" y="2658852"/>
            <a:ext cx="4572000" cy="36576"/>
          </a:xfrm>
          <a:prstGeom prst="rect">
            <a:avLst/>
          </a:prstGeom>
          <a:solidFill>
            <a:srgbClr val="0E9AA7"/>
          </a:solidFill>
          <a:ln w="12700">
            <a:solidFill>
              <a:srgbClr val="0E9AA7"/>
            </a:solidFill>
            <a:prstDash val="solid"/>
          </a:ln>
        </p:spPr>
        <p:txBody>
          <a:bodyPr/>
          <a:lstStyle/>
          <a:p>
            <a:endParaRPr lang="en-ZA"/>
          </a:p>
        </p:txBody>
      </p:sp>
      <p:sp>
        <p:nvSpPr>
          <p:cNvPr id="7" name="Text 5"/>
          <p:cNvSpPr/>
          <p:nvPr/>
        </p:nvSpPr>
        <p:spPr>
          <a:xfrm>
            <a:off x="305733" y="2823444"/>
            <a:ext cx="8321040" cy="822960"/>
          </a:xfrm>
          <a:prstGeom prst="rect">
            <a:avLst/>
          </a:prstGeom>
          <a:noFill/>
          <a:ln/>
        </p:spPr>
        <p:txBody>
          <a:bodyPr wrap="square" lIns="0" tIns="0" rIns="0" bIns="0" rtlCol="0" anchor="ctr"/>
          <a:lstStyle/>
          <a:p>
            <a:pPr marL="0" indent="0" algn="ctr">
              <a:buNone/>
            </a:pPr>
            <a:r>
              <a:rPr lang="en-US" sz="1500" b="1" dirty="0">
                <a:solidFill>
                  <a:srgbClr val="E2EBF0"/>
                </a:solidFill>
                <a:latin typeface="Calibri" pitchFamily="34" charset="0"/>
                <a:ea typeface="Calibri" pitchFamily="34" charset="-122"/>
                <a:cs typeface="Calibri" pitchFamily="34" charset="-120"/>
              </a:rPr>
              <a:t>Kumbirai Shonhiwa</a:t>
            </a:r>
            <a:endParaRPr lang="en-US" sz="1500" dirty="0"/>
          </a:p>
          <a:p>
            <a:pPr marL="0" indent="0" algn="ctr">
              <a:buNone/>
            </a:pPr>
            <a:r>
              <a:rPr lang="en-US" sz="1500" dirty="0">
                <a:solidFill>
                  <a:srgbClr val="E2EBF0"/>
                </a:solidFill>
                <a:latin typeface="Calibri" pitchFamily="34" charset="0"/>
                <a:ea typeface="Calibri" pitchFamily="34" charset="-122"/>
                <a:cs typeface="Calibri" pitchFamily="34" charset="-120"/>
              </a:rPr>
              <a:t>BSc (Hons) Computer Systems Engineering</a:t>
            </a:r>
            <a:endParaRPr lang="en-US" sz="1500" dirty="0"/>
          </a:p>
          <a:p>
            <a:pPr marL="0" indent="0" algn="ctr">
              <a:buNone/>
            </a:pPr>
            <a:r>
              <a:rPr lang="en-US" sz="1500" dirty="0">
                <a:solidFill>
                  <a:srgbClr val="E2EBF0"/>
                </a:solidFill>
                <a:latin typeface="Calibri" pitchFamily="34" charset="0"/>
                <a:ea typeface="Calibri" pitchFamily="34" charset="-122"/>
                <a:cs typeface="Calibri" pitchFamily="34" charset="-120"/>
              </a:rPr>
              <a:t>University of Sunderland  |  CET3006</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624</TotalTime>
  <Words>2383</Words>
  <Application>Microsoft Office PowerPoint</Application>
  <PresentationFormat>On-screen Show (16:9)</PresentationFormat>
  <Paragraphs>393</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Fraud Detection in Healthcare Claims</dc:title>
  <dc:subject>PptxGenJS Presentation</dc:subject>
  <dc:creator>PptxGenJS</dc:creator>
  <cp:lastModifiedBy>Kumbi Shonhiwa (Student)</cp:lastModifiedBy>
  <cp:revision>4</cp:revision>
  <dcterms:created xsi:type="dcterms:W3CDTF">2026-05-22T15:11:54Z</dcterms:created>
  <dcterms:modified xsi:type="dcterms:W3CDTF">2026-05-23T20:23:51Z</dcterms:modified>
</cp:coreProperties>
</file>